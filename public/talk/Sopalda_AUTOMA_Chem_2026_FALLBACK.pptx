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7333"/>
                </a:solidFill>
                <a:latin typeface="Calibri"/>
              </a:rPr>
              <a:t>AUTOMA Chem 2026  ·  Berlin  ·  Opening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Georgia"/>
              </a:rPr>
              <a:t>Digitalisation, Sustainability &amp; the Future of Chemicals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B87333"/>
                </a:solidFill>
                <a:latin typeface="Georgia"/>
              </a:rPr>
              <a:t>From Brasília to the Plant Floor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348"/>
                </a:solidFill>
                <a:latin typeface="Calibri"/>
              </a:rPr>
              <a:t>People, Data and AI in Sustainable Digital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Eduardo Sopalda  ·  D&amp;T Global Data Governance Lead  ·  dsm-firmenich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7333"/>
                </a:solidFill>
                <a:latin typeface="Calibri"/>
              </a:rPr>
              <a:t>ACT 01  ·  THE ARCHITECT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Georgia"/>
              </a:rPr>
              <a:t>I am an architect. Not as a metaphor.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87333"/>
                </a:solidFill>
                <a:latin typeface="Georgia"/>
              </a:rPr>
              <a:t>We design from above, not for the person who has to live with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7333"/>
                </a:solidFill>
                <a:latin typeface="Calibri"/>
              </a:rPr>
              <a:t>ACT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Georgia"/>
              </a:rPr>
              <a:t>I am not here to sell you a framework this morning.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C5348"/>
                </a:solidFill>
                <a:latin typeface="Calibri"/>
              </a:rPr>
              <a:t>I work inside a chemical company, like many of you, and I have got plenty of these things wrong myself.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7333"/>
                </a:solidFill>
                <a:latin typeface="Calibri"/>
              </a:rPr>
              <a:t>ACT 02  ·  BRASÍLIA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Georgia"/>
              </a:rPr>
              <a:t>Beautiful from above.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C5348"/>
                </a:solidFill>
                <a:latin typeface="Calibri"/>
              </a:rPr>
              <a:t>A city can make perfect sense from a helicopter and feel completely different when you walk through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7333"/>
                </a:solidFill>
                <a:latin typeface="Calibri"/>
              </a:rPr>
              <a:t>ACT 02  ·  STREET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Georgia"/>
              </a:rPr>
              <a:t>The city was finished.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87333"/>
                </a:solidFill>
                <a:latin typeface="Georgia"/>
              </a:rPr>
              <a:t>It just was not designed around the people who had to live and work in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7333"/>
                </a:solidFill>
                <a:latin typeface="Calibri"/>
              </a:rPr>
              <a:t>ACT 03  ·  WHEN THE DRAWING MEETS THE 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Georgia"/>
              </a:rPr>
              <a:t>Seen from above, everything looks complete.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87333"/>
                </a:solidFill>
                <a:latin typeface="Georgia"/>
              </a:rPr>
              <a:t>Then the framework reaches the plant.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7333"/>
                </a:solidFill>
                <a:latin typeface="Calibri"/>
              </a:rPr>
              <a:t>ACT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Georgia"/>
              </a:rPr>
              <a:t>I had built them a plaza nobody wanted to stand 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7333"/>
                </a:solidFill>
                <a:latin typeface="Calibri"/>
              </a:rPr>
              <a:t>ACT 04  ·  SUSTAINABILITY HAS THE SAME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Georgia"/>
              </a:rPr>
              <a:t>People. Planet. Progress.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7333"/>
                </a:solidFill>
                <a:latin typeface="Calibri"/>
              </a:rPr>
              <a:t>Designed from above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Ambitions
Targets
Roadmaps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7333"/>
                </a:solidFill>
                <a:latin typeface="Calibri"/>
              </a:rPr>
              <a:t>Has to become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3832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Where did it come from?
Who owns it?
What definition sits behind it?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7333"/>
                </a:solidFill>
                <a:latin typeface="Calibri"/>
              </a:rPr>
              <a:t>ACT 05  ·  THE CARBON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B87333"/>
                </a:solidFill>
                <a:latin typeface="Georgia"/>
              </a:rPr>
              <a:t>CO₂e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A carbon number looks like chemistry. It is not. It is a data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You cannot report what you cannot trace.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7333"/>
                </a:solidFill>
                <a:latin typeface="Calibri"/>
              </a:rPr>
              <a:t>ACT 06  ·  THEN SOMEONE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Georgia"/>
              </a:rPr>
              <a:t>Why don’t we just use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7333"/>
                </a:solidFill>
                <a:latin typeface="Calibri"/>
              </a:rPr>
              <a:t>batch   lot   campaign   shift   tank   order   recipe  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C5348"/>
                </a:solidFill>
                <a:latin typeface="Calibri"/>
              </a:rPr>
              <a:t>Putting an AI agent on top of that ambiguity does not remove the problem. It can simply scale it 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7333"/>
                </a:solidFill>
                <a:latin typeface="Calibri"/>
              </a:rPr>
              <a:t>ACT 06  ·  ONE AGENT PROJECT I SAW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Georgia"/>
              </a:rPr>
              <a:t>10 000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348"/>
                </a:solidFill>
                <a:latin typeface="Calibri"/>
              </a:rPr>
              <a:t>documents went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6B8F3C"/>
                </a:solidFill>
                <a:latin typeface="Georgia"/>
              </a:rPr>
              <a:t>2 000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348"/>
                </a:solidFill>
                <a:latin typeface="Calibri"/>
              </a:rPr>
              <a:t>actually relevant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All of it was embedded. All of it was consuming tokens and energy.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7333"/>
                </a:solidFill>
                <a:latin typeface="Calibri"/>
              </a:rPr>
              <a:t>ACT 07  ·  THE ROAD TO THE SHINY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Georgia"/>
              </a:rPr>
              <a:t>We do not get there by teleportation.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87333"/>
                </a:solidFill>
                <a:latin typeface="Calibri"/>
              </a:rPr>
              <a:t>Definitions   ·   Ownership   ·   Lineage   ·   Quality   ·   Context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7333"/>
                </a:solidFill>
                <a:latin typeface="Calibri"/>
              </a:rPr>
              <a:t>ACT 08  ·  BACK AT GROUND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Georgia"/>
              </a:rPr>
              <a:t>A digital twin is still a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C5348"/>
                </a:solidFill>
                <a:latin typeface="Calibri"/>
              </a:rPr>
              <a:t>It only becomes sustainable, in both senses, when the operator on the night shift trusts what it tells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B87333"/>
                </a:solidFill>
                <a:latin typeface="Georgia"/>
              </a:rPr>
              <a:t>Agents do not own risk. Humans do. Always.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7333"/>
                </a:solidFill>
                <a:latin typeface="Calibri"/>
              </a:rPr>
              <a:t>ACT 09  ·  ASK IT AT LUNCH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Georgia"/>
              </a:rPr>
              <a:t>What is one word in your organisation that means something different depending on which floor you are standing on?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7333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Georgia"/>
              </a:rPr>
              <a:t>Eduardo Sopalda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</a:rPr>
              <a:t>D&amp;T Global Data Governance Lead  ·  dsm-firmenich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7333"/>
                </a:solidFill>
                <a:latin typeface="Calibri"/>
              </a:rPr>
              <a:t>eduardosopalda.com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