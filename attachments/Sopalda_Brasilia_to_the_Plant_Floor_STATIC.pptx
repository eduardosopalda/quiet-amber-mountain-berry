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  Hold this slide while the chair finishes the introduction.
Do not read the title. Walk on, let it sit, then open with the first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0:05 to 1:15  ·  Section 01, The Architect
I studied architecture. I drew buildings. Then twenty years designing something else.
Two job titles, both true: Global Data Governance Lead, and the dedicated lead for sustainability.
The figure on the elevation is deliberately small. You do not need to point at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  This is the thesis. Let the room have it in silence for a beat.
I work inside a chemical company, like many of you, and I have got plenty of these things wrong myself.
What I want to explore is the distance between the beautiful plan and what actually happens at ground level.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 to 2:30  ·  Section 02, Brasília
Lúcio Costa made the urban plan, Oscar Niemeyer many of the buildings. From the air it is monumental,
precise, unforgettable. Gehl called this helicopter urbanism.
This drawing is a schematic, not Brasília itself. Say 'something like this' if you point at it.
The next slide is the whole argument, so do not rush off this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1:55  ·  The point is scale, and spaces without human level encounters.
I am not saying Brasília is a bad city. The city was finished. It just was not necessarily
designed around the people who had to live and work in it.
Land on: 'That is the bridge I want to build this morning.' Then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2:30 to 3:30  ·  Section 03
Policies, controls, committees, operating models and occasionally a beautiful RACI that makes
everyone feel civilisation has finally arrived. From the auditor's seat, the regulator's seat,
the steering committee chair, it all looks complete.
THE DESCENT HAPPENS HERE. Slow down. The room goes dark with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3:05  ·  I have been the person with the beautiful drawing. I presented the framework,
watched people nod, and then watched them carry on exactly as before.
They were not being difficult.
Beat before the last line. This is the most honest moment in the talk. Do not hurry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3:30 to 4:30  ·  Section 04
At dsm-firmenich sustainability is expressed through People, Planet and Progress. That matters to me
because it puts the human element inside the story rather than outside it.
Reporting is not only about producing a number. It is about being able to explain the number.
That is where sustainability and governance stop being two separate conversations.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4:30 to 5:45  ·  Section 05
Much of this comes from systems never designed to be added together, and suppliers may use their own
definitions for the same words.
The challenge is not calculating the number. It is being able to explain the number.
Someone has to know which source is right. Someone has to be able to explain the result to a person
who was not in the room when the original decision was made.
Last line is the one they will quote. Say it slowly.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5:45 to 6:30  ·  Section 06, first half
I am optimistic about AI, so this is not the usual speech about being frightened of it.
But we sometimes ask AI to solve problems that existed long before AI arrived.
Optimism in the voice here. You are not the governance person saying 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6:30 to 7:00  ·  Section 06, second half
All of it was embedded. All of it was consuming tokens and energy.
This is your own observed number, not an industry statistic. Say 'one project I saw'.
It lands harder precisely because it is small and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7:00 to 8:00  ·  Section 07
Everyone wants the shiny city: the autonomous plant, the perfect digital twin, real time sustainability
intelligence, agents that help us make informed decisions at speed. It is an exciting destination.
The road is paved with definitions, ownership, lineage, quality and context. And with people who know
what a number actually means and are willing to use the systems that depend on it.
Read the paving words up the slide, from the front of the room toward the 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8:00 to 8:45  ·  Section 08
I say the twin line with affection, not sarcasm.
A framework can be elegant. A twin can be technically impressive. An AI system can be extraordinarily
capable. But if the person using it does not understand it, trust it, or know what to do when it is
wrong, we have not transformed the process. We have added technology 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8:45  ·  The principle. This is the line the panel will pick up afterwards.
Say it, then stop. Do not explain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9:00 to 9:30  ·  Section 09
Frameworks are necessary. They are just not sufficient.
A number is only as sustainable as the people who can explain where it came from.
MORPH: this is slide 04 in the dark. The drawing moves and reassembles itself on screen.
Let the animation finish before you speak.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9:30 to 10:00  ·  Section 10
Ask the question. Point at the QR once. Then: 'Thank you.'
ACTION NEEDED: the QR currently points at eduardosopalda.com. Send me the Slido or Mentimeter
link and I will regenerate it so the words land in a live cloud you can use during the panel.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10:00  ·  Leave this up for the panel. Your name and the site stay on screen while you sit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9128455" y="1892808"/>
            <a:ext cx="0" cy="3072384"/>
          </a:xfrm>
          <a:prstGeom prst="line">
            <a:avLst/>
          </a:prstGeom>
          <a:noFill/>
          <a:ln w="6350">
            <a:solidFill>
              <a:srgbClr val="E2DED6"/>
            </a:solidFill>
            <a:prstDash val="solid"/>
          </a:ln>
        </p:spPr>
      </p:sp>
      <p:sp>
        <p:nvSpPr>
          <p:cNvPr id="3" name="Shape 1"/>
          <p:cNvSpPr/>
          <p:nvPr/>
        </p:nvSpPr>
        <p:spPr>
          <a:xfrm>
            <a:off x="6568135" y="3306105"/>
            <a:ext cx="5120640" cy="0"/>
          </a:xfrm>
          <a:prstGeom prst="line">
            <a:avLst/>
          </a:prstGeom>
          <a:noFill/>
          <a:ln w="6350">
            <a:solidFill>
              <a:srgbClr val="E2DED6"/>
            </a:solidFill>
            <a:prstDash val="solid"/>
          </a:ln>
        </p:spPr>
      </p:sp>
      <p:sp>
        <p:nvSpPr>
          <p:cNvPr id="4" name="Shape 2"/>
          <p:cNvSpPr/>
          <p:nvPr/>
        </p:nvSpPr>
        <p:spPr>
          <a:xfrm>
            <a:off x="8544702" y="2783799"/>
            <a:ext cx="266273" cy="384048"/>
          </a:xfrm>
          <a:prstGeom prst="rect">
            <a:avLst/>
          </a:prstGeom>
          <a:ln w="6350">
            <a:solidFill>
              <a:srgbClr val="E2DED6"/>
            </a:solidFill>
            <a:prstDash val="solid"/>
          </a:ln>
        </p:spPr>
      </p:sp>
      <p:sp>
        <p:nvSpPr>
          <p:cNvPr id="5" name="Shape 3"/>
          <p:cNvSpPr/>
          <p:nvPr/>
        </p:nvSpPr>
        <p:spPr>
          <a:xfrm>
            <a:off x="8544702" y="3444362"/>
            <a:ext cx="266273" cy="384048"/>
          </a:xfrm>
          <a:prstGeom prst="rect">
            <a:avLst/>
          </a:prstGeom>
          <a:ln w="6350">
            <a:solidFill>
              <a:srgbClr val="E2DED6"/>
            </a:solidFill>
            <a:prstDash val="solid"/>
          </a:ln>
        </p:spPr>
      </p:sp>
      <p:sp>
        <p:nvSpPr>
          <p:cNvPr id="6" name="Shape 4"/>
          <p:cNvSpPr/>
          <p:nvPr/>
        </p:nvSpPr>
        <p:spPr>
          <a:xfrm>
            <a:off x="9445935" y="2783799"/>
            <a:ext cx="266273" cy="384048"/>
          </a:xfrm>
          <a:prstGeom prst="rect">
            <a:avLst/>
          </a:prstGeom>
          <a:ln w="6350">
            <a:solidFill>
              <a:srgbClr val="E2DED6"/>
            </a:solidFill>
            <a:prstDash val="solid"/>
          </a:ln>
        </p:spPr>
      </p:sp>
      <p:sp>
        <p:nvSpPr>
          <p:cNvPr id="7" name="Shape 5"/>
          <p:cNvSpPr/>
          <p:nvPr/>
        </p:nvSpPr>
        <p:spPr>
          <a:xfrm>
            <a:off x="9445935" y="3444362"/>
            <a:ext cx="266273" cy="384048"/>
          </a:xfrm>
          <a:prstGeom prst="rect">
            <a:avLst/>
          </a:prstGeom>
          <a:ln w="6350">
            <a:solidFill>
              <a:srgbClr val="E2DED6"/>
            </a:solidFill>
            <a:prstDash val="solid"/>
          </a:ln>
        </p:spPr>
      </p:sp>
      <p:sp>
        <p:nvSpPr>
          <p:cNvPr id="8" name="Shape 6"/>
          <p:cNvSpPr/>
          <p:nvPr/>
        </p:nvSpPr>
        <p:spPr>
          <a:xfrm>
            <a:off x="8094086" y="2783799"/>
            <a:ext cx="266273" cy="384048"/>
          </a:xfrm>
          <a:prstGeom prst="rect">
            <a:avLst/>
          </a:prstGeom>
          <a:ln w="6350">
            <a:solidFill>
              <a:srgbClr val="E2DED6"/>
            </a:solidFill>
            <a:prstDash val="solid"/>
          </a:ln>
        </p:spPr>
      </p:sp>
      <p:sp>
        <p:nvSpPr>
          <p:cNvPr id="9" name="Shape 7"/>
          <p:cNvSpPr/>
          <p:nvPr/>
        </p:nvSpPr>
        <p:spPr>
          <a:xfrm>
            <a:off x="8094086" y="3444362"/>
            <a:ext cx="266273" cy="384048"/>
          </a:xfrm>
          <a:prstGeom prst="rect">
            <a:avLst/>
          </a:prstGeom>
          <a:ln w="6350">
            <a:solidFill>
              <a:srgbClr val="E2DED6"/>
            </a:solidFill>
            <a:prstDash val="solid"/>
          </a:ln>
        </p:spPr>
      </p:sp>
      <p:sp>
        <p:nvSpPr>
          <p:cNvPr id="10" name="Shape 8"/>
          <p:cNvSpPr/>
          <p:nvPr/>
        </p:nvSpPr>
        <p:spPr>
          <a:xfrm>
            <a:off x="9896551" y="2783799"/>
            <a:ext cx="266273" cy="384048"/>
          </a:xfrm>
          <a:prstGeom prst="rect">
            <a:avLst/>
          </a:prstGeom>
          <a:ln w="6350">
            <a:solidFill>
              <a:srgbClr val="E2DED6"/>
            </a:solidFill>
            <a:prstDash val="solid"/>
          </a:ln>
        </p:spPr>
      </p:sp>
      <p:sp>
        <p:nvSpPr>
          <p:cNvPr id="11" name="Shape 9"/>
          <p:cNvSpPr/>
          <p:nvPr/>
        </p:nvSpPr>
        <p:spPr>
          <a:xfrm>
            <a:off x="9896551" y="3444362"/>
            <a:ext cx="266273" cy="384048"/>
          </a:xfrm>
          <a:prstGeom prst="rect">
            <a:avLst/>
          </a:prstGeom>
          <a:ln w="6350">
            <a:solidFill>
              <a:srgbClr val="E2DED6"/>
            </a:solidFill>
            <a:prstDash val="solid"/>
          </a:ln>
        </p:spPr>
      </p:sp>
      <p:sp>
        <p:nvSpPr>
          <p:cNvPr id="12" name="Shape 10"/>
          <p:cNvSpPr/>
          <p:nvPr/>
        </p:nvSpPr>
        <p:spPr>
          <a:xfrm>
            <a:off x="7643470" y="2783799"/>
            <a:ext cx="266273" cy="384048"/>
          </a:xfrm>
          <a:prstGeom prst="rect">
            <a:avLst/>
          </a:prstGeom>
          <a:ln w="6350">
            <a:solidFill>
              <a:srgbClr val="E2DED6"/>
            </a:solidFill>
            <a:prstDash val="solid"/>
          </a:ln>
        </p:spPr>
      </p:sp>
      <p:sp>
        <p:nvSpPr>
          <p:cNvPr id="13" name="Shape 11"/>
          <p:cNvSpPr/>
          <p:nvPr/>
        </p:nvSpPr>
        <p:spPr>
          <a:xfrm>
            <a:off x="7643470" y="3444362"/>
            <a:ext cx="266273" cy="384048"/>
          </a:xfrm>
          <a:prstGeom prst="rect">
            <a:avLst/>
          </a:prstGeom>
          <a:ln w="6350">
            <a:solidFill>
              <a:srgbClr val="E2DED6"/>
            </a:solidFill>
            <a:prstDash val="solid"/>
          </a:ln>
        </p:spPr>
      </p:sp>
      <p:sp>
        <p:nvSpPr>
          <p:cNvPr id="14" name="Shape 12"/>
          <p:cNvSpPr/>
          <p:nvPr/>
        </p:nvSpPr>
        <p:spPr>
          <a:xfrm>
            <a:off x="10347168" y="2783799"/>
            <a:ext cx="266273" cy="384048"/>
          </a:xfrm>
          <a:prstGeom prst="rect">
            <a:avLst/>
          </a:prstGeom>
          <a:ln w="6350">
            <a:solidFill>
              <a:srgbClr val="E2DED6"/>
            </a:solidFill>
            <a:prstDash val="solid"/>
          </a:ln>
        </p:spPr>
      </p:sp>
      <p:sp>
        <p:nvSpPr>
          <p:cNvPr id="15" name="Shape 13"/>
          <p:cNvSpPr/>
          <p:nvPr/>
        </p:nvSpPr>
        <p:spPr>
          <a:xfrm>
            <a:off x="10347168" y="3444362"/>
            <a:ext cx="266273" cy="384048"/>
          </a:xfrm>
          <a:prstGeom prst="rect">
            <a:avLst/>
          </a:prstGeom>
          <a:ln w="6350">
            <a:solidFill>
              <a:srgbClr val="E2DED6"/>
            </a:solidFill>
            <a:prstDash val="solid"/>
          </a:ln>
        </p:spPr>
      </p:sp>
      <p:sp>
        <p:nvSpPr>
          <p:cNvPr id="16" name="Shape 14"/>
          <p:cNvSpPr/>
          <p:nvPr/>
        </p:nvSpPr>
        <p:spPr>
          <a:xfrm>
            <a:off x="7192853" y="2783799"/>
            <a:ext cx="266273" cy="384048"/>
          </a:xfrm>
          <a:prstGeom prst="rect">
            <a:avLst/>
          </a:prstGeom>
          <a:ln w="6350">
            <a:solidFill>
              <a:srgbClr val="E2DED6"/>
            </a:solidFill>
            <a:prstDash val="solid"/>
          </a:ln>
        </p:spPr>
      </p:sp>
      <p:sp>
        <p:nvSpPr>
          <p:cNvPr id="17" name="Shape 15"/>
          <p:cNvSpPr/>
          <p:nvPr/>
        </p:nvSpPr>
        <p:spPr>
          <a:xfrm>
            <a:off x="7192853" y="3444362"/>
            <a:ext cx="266273" cy="384048"/>
          </a:xfrm>
          <a:prstGeom prst="rect">
            <a:avLst/>
          </a:prstGeom>
          <a:ln w="6350">
            <a:solidFill>
              <a:srgbClr val="E2DED6"/>
            </a:solidFill>
            <a:prstDash val="solid"/>
          </a:ln>
        </p:spPr>
      </p:sp>
      <p:sp>
        <p:nvSpPr>
          <p:cNvPr id="18" name="Shape 16"/>
          <p:cNvSpPr/>
          <p:nvPr/>
        </p:nvSpPr>
        <p:spPr>
          <a:xfrm>
            <a:off x="10797784" y="2783799"/>
            <a:ext cx="266273" cy="384048"/>
          </a:xfrm>
          <a:prstGeom prst="rect">
            <a:avLst/>
          </a:prstGeom>
          <a:ln w="6350">
            <a:solidFill>
              <a:srgbClr val="E2DED6"/>
            </a:solidFill>
            <a:prstDash val="solid"/>
          </a:ln>
        </p:spPr>
      </p:sp>
      <p:sp>
        <p:nvSpPr>
          <p:cNvPr id="19" name="Shape 17"/>
          <p:cNvSpPr/>
          <p:nvPr/>
        </p:nvSpPr>
        <p:spPr>
          <a:xfrm>
            <a:off x="10797784" y="3444362"/>
            <a:ext cx="266273" cy="384048"/>
          </a:xfrm>
          <a:prstGeom prst="rect">
            <a:avLst/>
          </a:prstGeom>
          <a:ln w="6350">
            <a:solidFill>
              <a:srgbClr val="E2DED6"/>
            </a:solidFill>
            <a:prstDash val="solid"/>
          </a:ln>
        </p:spPr>
      </p:sp>
      <p:sp>
        <p:nvSpPr>
          <p:cNvPr id="20" name="Shape 18"/>
          <p:cNvSpPr/>
          <p:nvPr/>
        </p:nvSpPr>
        <p:spPr>
          <a:xfrm>
            <a:off x="6742237" y="2783799"/>
            <a:ext cx="266273" cy="384048"/>
          </a:xfrm>
          <a:prstGeom prst="rect">
            <a:avLst/>
          </a:prstGeom>
          <a:ln w="6350">
            <a:solidFill>
              <a:srgbClr val="E2DED6"/>
            </a:solidFill>
            <a:prstDash val="solid"/>
          </a:ln>
        </p:spPr>
      </p:sp>
      <p:sp>
        <p:nvSpPr>
          <p:cNvPr id="21" name="Shape 19"/>
          <p:cNvSpPr/>
          <p:nvPr/>
        </p:nvSpPr>
        <p:spPr>
          <a:xfrm>
            <a:off x="6742237" y="3444362"/>
            <a:ext cx="266273" cy="384048"/>
          </a:xfrm>
          <a:prstGeom prst="rect">
            <a:avLst/>
          </a:prstGeom>
          <a:ln w="6350">
            <a:solidFill>
              <a:srgbClr val="E2DED6"/>
            </a:solidFill>
            <a:prstDash val="solid"/>
          </a:ln>
        </p:spPr>
      </p:sp>
      <p:sp>
        <p:nvSpPr>
          <p:cNvPr id="22" name="Shape 20"/>
          <p:cNvSpPr/>
          <p:nvPr/>
        </p:nvSpPr>
        <p:spPr>
          <a:xfrm>
            <a:off x="11248400" y="2783799"/>
            <a:ext cx="266273" cy="384048"/>
          </a:xfrm>
          <a:prstGeom prst="rect">
            <a:avLst/>
          </a:prstGeom>
          <a:ln w="6350">
            <a:solidFill>
              <a:srgbClr val="E2DED6"/>
            </a:solidFill>
            <a:prstDash val="solid"/>
          </a:ln>
        </p:spPr>
      </p:sp>
      <p:sp>
        <p:nvSpPr>
          <p:cNvPr id="23" name="Shape 21"/>
          <p:cNvSpPr/>
          <p:nvPr/>
        </p:nvSpPr>
        <p:spPr>
          <a:xfrm>
            <a:off x="11248400" y="3444362"/>
            <a:ext cx="266273" cy="384048"/>
          </a:xfrm>
          <a:prstGeom prst="rect">
            <a:avLst/>
          </a:prstGeom>
          <a:ln w="6350">
            <a:solidFill>
              <a:srgbClr val="E2DED6"/>
            </a:solidFill>
            <a:prstDash val="solid"/>
          </a:ln>
        </p:spPr>
      </p:sp>
      <p:sp>
        <p:nvSpPr>
          <p:cNvPr id="24" name="Shape 22"/>
          <p:cNvSpPr/>
          <p:nvPr/>
        </p:nvSpPr>
        <p:spPr>
          <a:xfrm>
            <a:off x="8462772" y="4166372"/>
            <a:ext cx="1331366" cy="92172"/>
          </a:xfrm>
          <a:prstGeom prst="rect">
            <a:avLst/>
          </a:prstGeom>
          <a:ln w="6350">
            <a:solidFill>
              <a:srgbClr val="E2DED6"/>
            </a:solidFill>
            <a:prstDash val="solid"/>
          </a:ln>
        </p:spPr>
      </p:sp>
      <p:sp>
        <p:nvSpPr>
          <p:cNvPr id="25" name="Shape 23"/>
          <p:cNvSpPr/>
          <p:nvPr/>
        </p:nvSpPr>
        <p:spPr>
          <a:xfrm>
            <a:off x="8462772" y="4396801"/>
            <a:ext cx="1331366" cy="92172"/>
          </a:xfrm>
          <a:prstGeom prst="rect">
            <a:avLst/>
          </a:prstGeom>
          <a:ln w="6350">
            <a:solidFill>
              <a:srgbClr val="E2DED6"/>
            </a:solidFill>
            <a:prstDash val="solid"/>
          </a:ln>
        </p:spPr>
      </p:sp>
      <p:sp>
        <p:nvSpPr>
          <p:cNvPr id="26" name="Shape 24"/>
          <p:cNvSpPr/>
          <p:nvPr/>
        </p:nvSpPr>
        <p:spPr>
          <a:xfrm>
            <a:off x="8462772" y="4627230"/>
            <a:ext cx="1331366" cy="92172"/>
          </a:xfrm>
          <a:prstGeom prst="rect">
            <a:avLst/>
          </a:prstGeom>
          <a:ln w="6350">
            <a:solidFill>
              <a:srgbClr val="E2DED6"/>
            </a:solidFill>
            <a:prstDash val="solid"/>
          </a:ln>
        </p:spPr>
      </p:sp>
      <p:sp>
        <p:nvSpPr>
          <p:cNvPr id="27" name="Shape 25"/>
          <p:cNvSpPr/>
          <p:nvPr/>
        </p:nvSpPr>
        <p:spPr>
          <a:xfrm>
            <a:off x="8770010" y="1892808"/>
            <a:ext cx="716890" cy="522305"/>
          </a:xfrm>
          <a:prstGeom prst="rect">
            <a:avLst/>
          </a:prstGeom>
          <a:ln w="6350">
            <a:solidFill>
              <a:srgbClr val="E2DED6"/>
            </a:solidFill>
            <a:prstDash val="solid"/>
          </a:ln>
        </p:spPr>
      </p:sp>
      <p:sp>
        <p:nvSpPr>
          <p:cNvPr id="28" name="Text 26"/>
          <p:cNvSpPr txBox="1"/>
          <p:nvPr/>
        </p:nvSpPr>
        <p:spPr>
          <a:xfrm>
            <a:off x="822960" y="713232"/>
            <a:ext cx="8229600" cy="219456"/>
          </a:xfrm>
          <a:prstGeom prst="rect">
            <a:avLst/>
          </a:prstGeom>
          <a:noFill/>
          <a:ln/>
        </p:spPr>
        <p:txBody>
          <a:bodyPr wrap="square" lIns="0" tIns="0" rIns="0" bIns="0" rtlCol="0" anchor="ctr"/>
          <a:lstStyle/>
          <a:p>
            <a:pPr algn="l" indent="0" marL="0">
              <a:buNone/>
            </a:pPr>
            <a:r>
              <a:rPr lang="en-US" sz="900" spc="160" kern="0" dirty="0">
                <a:solidFill>
                  <a:srgbClr val="6F6E6A"/>
                </a:solidFill>
                <a:latin typeface="Courier New" pitchFamily="34" charset="0"/>
                <a:ea typeface="Courier New" pitchFamily="34" charset="-122"/>
                <a:cs typeface="Courier New" pitchFamily="34" charset="-120"/>
              </a:rPr>
              <a:t>AUTOMA CHEM 2026   ·   BERLIN   ·   26 OCTOBER   ·   OPENING PANEL</a:t>
            </a:r>
            <a:endParaRPr lang="en-US" sz="900" dirty="0"/>
          </a:p>
        </p:txBody>
      </p:sp>
      <p:sp>
        <p:nvSpPr>
          <p:cNvPr id="29" name="Shape 27"/>
          <p:cNvSpPr/>
          <p:nvPr/>
        </p:nvSpPr>
        <p:spPr>
          <a:xfrm>
            <a:off x="822960" y="1060704"/>
            <a:ext cx="4480560" cy="0"/>
          </a:xfrm>
          <a:prstGeom prst="line">
            <a:avLst/>
          </a:prstGeom>
          <a:noFill/>
          <a:ln w="9525">
            <a:solidFill>
              <a:srgbClr val="D6D2C9"/>
            </a:solidFill>
            <a:prstDash val="solid"/>
          </a:ln>
        </p:spPr>
      </p:sp>
      <p:sp>
        <p:nvSpPr>
          <p:cNvPr id="30" name="Text 28"/>
          <p:cNvSpPr txBox="1"/>
          <p:nvPr/>
        </p:nvSpPr>
        <p:spPr>
          <a:xfrm>
            <a:off x="822960" y="1481328"/>
            <a:ext cx="6766560" cy="868680"/>
          </a:xfrm>
          <a:prstGeom prst="rect">
            <a:avLst/>
          </a:prstGeom>
          <a:noFill/>
          <a:ln/>
        </p:spPr>
        <p:txBody>
          <a:bodyPr wrap="square" lIns="0" tIns="0" rIns="0" bIns="0" rtlCol="0" anchor="b"/>
          <a:lstStyle/>
          <a:p>
            <a:pPr indent="0" marL="0">
              <a:buNone/>
            </a:pPr>
            <a:r>
              <a:rPr lang="en-US" sz="5200" dirty="0">
                <a:solidFill>
                  <a:srgbClr val="141414"/>
                </a:solidFill>
                <a:latin typeface="Cambria" pitchFamily="34" charset="0"/>
                <a:ea typeface="Cambria" pitchFamily="34" charset="-122"/>
                <a:cs typeface="Cambria" pitchFamily="34" charset="-120"/>
              </a:rPr>
              <a:t>From Brasília</a:t>
            </a:r>
            <a:endParaRPr lang="en-US" sz="5200" dirty="0"/>
          </a:p>
        </p:txBody>
      </p:sp>
      <p:sp>
        <p:nvSpPr>
          <p:cNvPr id="31" name="Text 29"/>
          <p:cNvSpPr txBox="1"/>
          <p:nvPr/>
        </p:nvSpPr>
        <p:spPr>
          <a:xfrm>
            <a:off x="822960" y="2304288"/>
            <a:ext cx="6766560" cy="960120"/>
          </a:xfrm>
          <a:prstGeom prst="rect">
            <a:avLst/>
          </a:prstGeom>
          <a:noFill/>
          <a:ln/>
        </p:spPr>
        <p:txBody>
          <a:bodyPr wrap="square" lIns="0" tIns="0" rIns="0" bIns="0" rtlCol="0" anchor="b"/>
          <a:lstStyle/>
          <a:p>
            <a:pPr indent="0" marL="0">
              <a:buNone/>
            </a:pPr>
            <a:r>
              <a:rPr lang="en-US" sz="5200" b="1" dirty="0">
                <a:solidFill>
                  <a:srgbClr val="141414"/>
                </a:solidFill>
                <a:latin typeface="Cambria" pitchFamily="34" charset="0"/>
                <a:ea typeface="Cambria" pitchFamily="34" charset="-122"/>
                <a:cs typeface="Cambria" pitchFamily="34" charset="-120"/>
              </a:rPr>
              <a:t>to the Plant Floor</a:t>
            </a:r>
            <a:endParaRPr lang="en-US" sz="5200" dirty="0"/>
          </a:p>
        </p:txBody>
      </p:sp>
      <p:sp>
        <p:nvSpPr>
          <p:cNvPr id="32" name="Text 30"/>
          <p:cNvSpPr txBox="1"/>
          <p:nvPr/>
        </p:nvSpPr>
        <p:spPr>
          <a:xfrm>
            <a:off x="822960" y="3419856"/>
            <a:ext cx="6400800" cy="365760"/>
          </a:xfrm>
          <a:prstGeom prst="rect">
            <a:avLst/>
          </a:prstGeom>
          <a:noFill/>
          <a:ln/>
        </p:spPr>
        <p:txBody>
          <a:bodyPr wrap="square" lIns="0" tIns="0" rIns="0" bIns="0" rtlCol="0" anchor="ctr"/>
          <a:lstStyle/>
          <a:p>
            <a:pPr indent="0" marL="0">
              <a:buNone/>
            </a:pPr>
            <a:r>
              <a:rPr lang="en-US" sz="1600" i="1" dirty="0">
                <a:solidFill>
                  <a:srgbClr val="6F6E6A"/>
                </a:solidFill>
                <a:latin typeface="Cambria" pitchFamily="34" charset="0"/>
                <a:ea typeface="Cambria" pitchFamily="34" charset="-122"/>
                <a:cs typeface="Cambria" pitchFamily="34" charset="-120"/>
              </a:rPr>
              <a:t>People, Data and AI in Sustainable Digital Transformation</a:t>
            </a:r>
            <a:endParaRPr lang="en-US" sz="1600" dirty="0"/>
          </a:p>
        </p:txBody>
      </p:sp>
      <p:sp>
        <p:nvSpPr>
          <p:cNvPr id="33" name="Shape 31"/>
          <p:cNvSpPr/>
          <p:nvPr/>
        </p:nvSpPr>
        <p:spPr>
          <a:xfrm>
            <a:off x="822960" y="4956048"/>
            <a:ext cx="2926080" cy="0"/>
          </a:xfrm>
          <a:prstGeom prst="line">
            <a:avLst/>
          </a:prstGeom>
          <a:noFill/>
          <a:ln w="19050">
            <a:solidFill>
              <a:srgbClr val="C9A227"/>
            </a:solidFill>
            <a:prstDash val="solid"/>
          </a:ln>
        </p:spPr>
      </p:sp>
      <p:sp>
        <p:nvSpPr>
          <p:cNvPr id="34" name="Text 32"/>
          <p:cNvSpPr txBox="1"/>
          <p:nvPr/>
        </p:nvSpPr>
        <p:spPr>
          <a:xfrm>
            <a:off x="822960" y="5138928"/>
            <a:ext cx="5943600" cy="310896"/>
          </a:xfrm>
          <a:prstGeom prst="rect">
            <a:avLst/>
          </a:prstGeom>
          <a:noFill/>
          <a:ln/>
        </p:spPr>
        <p:txBody>
          <a:bodyPr wrap="square" lIns="0" tIns="0" rIns="0" bIns="0" rtlCol="0" anchor="ctr"/>
          <a:lstStyle/>
          <a:p>
            <a:pPr indent="0" marL="0">
              <a:buNone/>
            </a:pPr>
            <a:r>
              <a:rPr lang="en-US" sz="1400" b="1" spc="120" kern="0" dirty="0">
                <a:solidFill>
                  <a:srgbClr val="141414"/>
                </a:solidFill>
                <a:latin typeface="Calibri" pitchFamily="34" charset="0"/>
                <a:ea typeface="Calibri" pitchFamily="34" charset="-122"/>
                <a:cs typeface="Calibri" pitchFamily="34" charset="-120"/>
              </a:rPr>
              <a:t>EDUARDO SOPALDA</a:t>
            </a:r>
            <a:endParaRPr lang="en-US" sz="1400" dirty="0"/>
          </a:p>
        </p:txBody>
      </p:sp>
      <p:sp>
        <p:nvSpPr>
          <p:cNvPr id="35" name="Text 33"/>
          <p:cNvSpPr txBox="1"/>
          <p:nvPr/>
        </p:nvSpPr>
        <p:spPr>
          <a:xfrm>
            <a:off x="822960" y="5468112"/>
            <a:ext cx="5943600" cy="274320"/>
          </a:xfrm>
          <a:prstGeom prst="rect">
            <a:avLst/>
          </a:prstGeom>
          <a:noFill/>
          <a:ln/>
        </p:spPr>
        <p:txBody>
          <a:bodyPr wrap="square" lIns="0" tIns="0" rIns="0" bIns="0" rtlCol="0" anchor="ctr"/>
          <a:lstStyle/>
          <a:p>
            <a:pPr indent="0" marL="0">
              <a:buNone/>
            </a:pPr>
            <a:r>
              <a:rPr lang="en-US" sz="1200" dirty="0">
                <a:solidFill>
                  <a:srgbClr val="6F6E6A"/>
                </a:solidFill>
                <a:latin typeface="Calibri" pitchFamily="34" charset="0"/>
                <a:ea typeface="Calibri" pitchFamily="34" charset="-122"/>
                <a:cs typeface="Calibri" pitchFamily="34" charset="-120"/>
              </a:rPr>
              <a:t>Global D&amp;T  ·  Data &amp; AI Governance Expert  ·  dsm-firmenich</a:t>
            </a:r>
            <a:endParaRPr lang="en-US" sz="1200" dirty="0"/>
          </a:p>
        </p:txBody>
      </p:sp>
      <p:sp>
        <p:nvSpPr>
          <p:cNvPr id="36" name="Text 34"/>
          <p:cNvSpPr txBox="1"/>
          <p:nvPr/>
        </p:nvSpPr>
        <p:spPr>
          <a:xfrm>
            <a:off x="822960" y="5742432"/>
            <a:ext cx="5943600" cy="274320"/>
          </a:xfrm>
          <a:prstGeom prst="rect">
            <a:avLst/>
          </a:prstGeom>
          <a:noFill/>
          <a:ln/>
        </p:spPr>
        <p:txBody>
          <a:bodyPr wrap="square" lIns="0" tIns="0" rIns="0" bIns="0" rtlCol="0" anchor="ctr"/>
          <a:lstStyle/>
          <a:p>
            <a:pPr indent="0" marL="0">
              <a:buNone/>
            </a:pPr>
            <a:r>
              <a:rPr lang="en-US" sz="1050" spc="120" kern="0" dirty="0">
                <a:solidFill>
                  <a:srgbClr val="C9A227"/>
                </a:solidFill>
                <a:latin typeface="Courier New" pitchFamily="34" charset="0"/>
                <a:ea typeface="Courier New" pitchFamily="34" charset="-122"/>
                <a:cs typeface="Courier New" pitchFamily="34" charset="-120"/>
              </a:rPr>
              <a:t>eduardosopalda.com</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22960" y="713232"/>
            <a:ext cx="914400" cy="219456"/>
          </a:xfrm>
          <a:prstGeom prst="rect">
            <a:avLst/>
          </a:prstGeom>
          <a:noFill/>
          <a:ln/>
        </p:spPr>
        <p:txBody>
          <a:bodyPr wrap="square" lIns="0" tIns="0" rIns="0" bIns="0" rtlCol="0" anchor="ctr"/>
          <a:lstStyle/>
          <a:p>
            <a:pPr algn="l" indent="0" marL="0">
              <a:buNone/>
            </a:pPr>
            <a:r>
              <a:rPr lang="en-US" sz="900" spc="160" kern="0" dirty="0">
                <a:solidFill>
                  <a:srgbClr val="6F6E6A"/>
                </a:solidFill>
                <a:latin typeface="Courier New" pitchFamily="34" charset="0"/>
                <a:ea typeface="Courier New" pitchFamily="34" charset="-122"/>
                <a:cs typeface="Courier New" pitchFamily="34" charset="-120"/>
              </a:rPr>
              <a:t>01</a:t>
            </a:r>
            <a:endParaRPr lang="en-US" sz="900" dirty="0"/>
          </a:p>
        </p:txBody>
      </p:sp>
      <p:sp>
        <p:nvSpPr>
          <p:cNvPr id="3" name="Text 1"/>
          <p:cNvSpPr txBox="1"/>
          <p:nvPr/>
        </p:nvSpPr>
        <p:spPr>
          <a:xfrm>
            <a:off x="822960" y="1783080"/>
            <a:ext cx="6949440" cy="822960"/>
          </a:xfrm>
          <a:prstGeom prst="rect">
            <a:avLst/>
          </a:prstGeom>
          <a:noFill/>
          <a:ln/>
        </p:spPr>
        <p:txBody>
          <a:bodyPr wrap="square" lIns="0" tIns="0" rIns="0" bIns="0" rtlCol="0" anchor="b"/>
          <a:lstStyle/>
          <a:p>
            <a:pPr indent="0" marL="0">
              <a:buNone/>
            </a:pPr>
            <a:r>
              <a:rPr lang="en-US" sz="4600" dirty="0">
                <a:solidFill>
                  <a:srgbClr val="141414"/>
                </a:solidFill>
                <a:latin typeface="Cambria" pitchFamily="34" charset="0"/>
                <a:ea typeface="Cambria" pitchFamily="34" charset="-122"/>
                <a:cs typeface="Cambria" pitchFamily="34" charset="-120"/>
              </a:rPr>
              <a:t>I am an architect.</a:t>
            </a:r>
            <a:endParaRPr lang="en-US" sz="4600" dirty="0"/>
          </a:p>
        </p:txBody>
      </p:sp>
      <p:sp>
        <p:nvSpPr>
          <p:cNvPr id="4" name="Text 2"/>
          <p:cNvSpPr txBox="1"/>
          <p:nvPr/>
        </p:nvSpPr>
        <p:spPr>
          <a:xfrm>
            <a:off x="822960" y="2587752"/>
            <a:ext cx="6949440" cy="822960"/>
          </a:xfrm>
          <a:prstGeom prst="rect">
            <a:avLst/>
          </a:prstGeom>
          <a:noFill/>
          <a:ln/>
        </p:spPr>
        <p:txBody>
          <a:bodyPr wrap="square" lIns="0" tIns="0" rIns="0" bIns="0" rtlCol="0" anchor="b"/>
          <a:lstStyle/>
          <a:p>
            <a:pPr indent="0" marL="0">
              <a:buNone/>
            </a:pPr>
            <a:r>
              <a:rPr lang="en-US" sz="4600" b="1" dirty="0">
                <a:solidFill>
                  <a:srgbClr val="141414"/>
                </a:solidFill>
                <a:latin typeface="Cambria" pitchFamily="34" charset="0"/>
                <a:ea typeface="Cambria" pitchFamily="34" charset="-122"/>
                <a:cs typeface="Cambria" pitchFamily="34" charset="-120"/>
              </a:rPr>
              <a:t>Not as a metaphor.</a:t>
            </a:r>
            <a:endParaRPr lang="en-US" sz="4600" dirty="0"/>
          </a:p>
        </p:txBody>
      </p:sp>
      <p:sp>
        <p:nvSpPr>
          <p:cNvPr id="5" name="Shape 3"/>
          <p:cNvSpPr/>
          <p:nvPr/>
        </p:nvSpPr>
        <p:spPr>
          <a:xfrm>
            <a:off x="822960" y="3767328"/>
            <a:ext cx="2194560" cy="0"/>
          </a:xfrm>
          <a:prstGeom prst="line">
            <a:avLst/>
          </a:prstGeom>
          <a:noFill/>
          <a:ln w="19050">
            <a:solidFill>
              <a:srgbClr val="C9A227"/>
            </a:solidFill>
            <a:prstDash val="solid"/>
          </a:ln>
        </p:spPr>
      </p:sp>
      <p:sp>
        <p:nvSpPr>
          <p:cNvPr id="6" name="Text 4"/>
          <p:cNvSpPr txBox="1"/>
          <p:nvPr/>
        </p:nvSpPr>
        <p:spPr>
          <a:xfrm>
            <a:off x="822960" y="3977640"/>
            <a:ext cx="6309360" cy="658368"/>
          </a:xfrm>
          <a:prstGeom prst="rect">
            <a:avLst/>
          </a:prstGeom>
          <a:noFill/>
          <a:ln/>
        </p:spPr>
        <p:txBody>
          <a:bodyPr wrap="square" lIns="0" tIns="0" rIns="0" bIns="0" rtlCol="0" anchor="ctr"/>
          <a:lstStyle/>
          <a:p>
            <a:pPr indent="0" marL="0">
              <a:lnSpc>
                <a:spcPts val="2100"/>
              </a:lnSpc>
              <a:buNone/>
            </a:pPr>
            <a:r>
              <a:rPr lang="en-US" sz="1400" dirty="0">
                <a:solidFill>
                  <a:srgbClr val="6F6E6A"/>
                </a:solidFill>
                <a:latin typeface="Calibri" pitchFamily="34" charset="0"/>
                <a:ea typeface="Calibri" pitchFamily="34" charset="-122"/>
                <a:cs typeface="Calibri" pitchFamily="34" charset="-120"/>
              </a:rPr>
              <a:t>I studied architecture. I drew buildings. Then I spent the last twenty years</a:t>
            </a:r>
            <a:endParaRPr lang="en-US" sz="1400" dirty="0"/>
          </a:p>
          <a:p>
            <a:pPr indent="0" marL="0">
              <a:lnSpc>
                <a:spcPts val="2100"/>
              </a:lnSpc>
              <a:buNone/>
            </a:pPr>
            <a:r>
              <a:rPr lang="en-US" sz="1400" dirty="0">
                <a:solidFill>
                  <a:srgbClr val="6F6E6A"/>
                </a:solidFill>
                <a:latin typeface="Calibri" pitchFamily="34" charset="0"/>
                <a:ea typeface="Calibri" pitchFamily="34" charset="-122"/>
                <a:cs typeface="Calibri" pitchFamily="34" charset="-120"/>
              </a:rPr>
              <a:t>designing something else: data and AI governance for large organisations.</a:t>
            </a:r>
            <a:endParaRPr lang="en-US" sz="1400" dirty="0"/>
          </a:p>
        </p:txBody>
      </p:sp>
      <p:sp>
        <p:nvSpPr>
          <p:cNvPr id="7" name="Text 5"/>
          <p:cNvSpPr txBox="1"/>
          <p:nvPr/>
        </p:nvSpPr>
        <p:spPr>
          <a:xfrm>
            <a:off x="822960" y="4828032"/>
            <a:ext cx="6309360" cy="402336"/>
          </a:xfrm>
          <a:prstGeom prst="rect">
            <a:avLst/>
          </a:prstGeom>
          <a:noFill/>
          <a:ln/>
        </p:spPr>
        <p:txBody>
          <a:bodyPr wrap="square" lIns="0" tIns="0" rIns="0" bIns="0" rtlCol="0" anchor="ctr"/>
          <a:lstStyle/>
          <a:p>
            <a:pPr indent="0" marL="0">
              <a:buNone/>
            </a:pPr>
            <a:r>
              <a:rPr lang="en-US" sz="1900" i="1" dirty="0">
                <a:solidFill>
                  <a:srgbClr val="141414"/>
                </a:solidFill>
                <a:latin typeface="Cambria" pitchFamily="34" charset="0"/>
                <a:ea typeface="Cambria" pitchFamily="34" charset="-122"/>
                <a:cs typeface="Cambria" pitchFamily="34" charset="-120"/>
              </a:rPr>
              <a:t>I keep seeing the same problem.</a:t>
            </a:r>
            <a:endParaRPr lang="en-US" sz="1900" dirty="0"/>
          </a:p>
        </p:txBody>
      </p:sp>
      <p:sp>
        <p:nvSpPr>
          <p:cNvPr id="8" name="Shape 6"/>
          <p:cNvSpPr/>
          <p:nvPr/>
        </p:nvSpPr>
        <p:spPr>
          <a:xfrm>
            <a:off x="7818120" y="1737360"/>
            <a:ext cx="3566160" cy="2514600"/>
          </a:xfrm>
          <a:prstGeom prst="rect">
            <a:avLst/>
          </a:prstGeom>
          <a:ln w="9525">
            <a:solidFill>
              <a:srgbClr val="6F6E6A"/>
            </a:solidFill>
            <a:prstDash val="solid"/>
          </a:ln>
        </p:spPr>
      </p:sp>
      <p:sp>
        <p:nvSpPr>
          <p:cNvPr id="9" name="Shape 7"/>
          <p:cNvSpPr/>
          <p:nvPr/>
        </p:nvSpPr>
        <p:spPr>
          <a:xfrm>
            <a:off x="7818120" y="2240280"/>
            <a:ext cx="3566160" cy="0"/>
          </a:xfrm>
          <a:prstGeom prst="line">
            <a:avLst/>
          </a:prstGeom>
          <a:noFill/>
          <a:ln w="6350">
            <a:solidFill>
              <a:srgbClr val="D6D2C9"/>
            </a:solidFill>
            <a:prstDash val="solid"/>
          </a:ln>
        </p:spPr>
      </p:sp>
      <p:sp>
        <p:nvSpPr>
          <p:cNvPr id="10" name="Shape 8"/>
          <p:cNvSpPr/>
          <p:nvPr/>
        </p:nvSpPr>
        <p:spPr>
          <a:xfrm>
            <a:off x="7818120" y="2743200"/>
            <a:ext cx="3566160" cy="0"/>
          </a:xfrm>
          <a:prstGeom prst="line">
            <a:avLst/>
          </a:prstGeom>
          <a:noFill/>
          <a:ln w="6350">
            <a:solidFill>
              <a:srgbClr val="D6D2C9"/>
            </a:solidFill>
            <a:prstDash val="solid"/>
          </a:ln>
        </p:spPr>
      </p:sp>
      <p:sp>
        <p:nvSpPr>
          <p:cNvPr id="11" name="Shape 9"/>
          <p:cNvSpPr/>
          <p:nvPr/>
        </p:nvSpPr>
        <p:spPr>
          <a:xfrm>
            <a:off x="7818120" y="3246120"/>
            <a:ext cx="3566160" cy="0"/>
          </a:xfrm>
          <a:prstGeom prst="line">
            <a:avLst/>
          </a:prstGeom>
          <a:noFill/>
          <a:ln w="6350">
            <a:solidFill>
              <a:srgbClr val="D6D2C9"/>
            </a:solidFill>
            <a:prstDash val="solid"/>
          </a:ln>
        </p:spPr>
      </p:sp>
      <p:sp>
        <p:nvSpPr>
          <p:cNvPr id="12" name="Shape 10"/>
          <p:cNvSpPr/>
          <p:nvPr/>
        </p:nvSpPr>
        <p:spPr>
          <a:xfrm>
            <a:off x="7818120" y="3749040"/>
            <a:ext cx="3566160" cy="0"/>
          </a:xfrm>
          <a:prstGeom prst="line">
            <a:avLst/>
          </a:prstGeom>
          <a:noFill/>
          <a:ln w="6350">
            <a:solidFill>
              <a:srgbClr val="D6D2C9"/>
            </a:solidFill>
            <a:prstDash val="solid"/>
          </a:ln>
        </p:spPr>
      </p:sp>
      <p:sp>
        <p:nvSpPr>
          <p:cNvPr id="13" name="Shape 11"/>
          <p:cNvSpPr/>
          <p:nvPr/>
        </p:nvSpPr>
        <p:spPr>
          <a:xfrm>
            <a:off x="8412480" y="1737360"/>
            <a:ext cx="0" cy="2514600"/>
          </a:xfrm>
          <a:prstGeom prst="line">
            <a:avLst/>
          </a:prstGeom>
          <a:noFill/>
          <a:ln w="6350">
            <a:solidFill>
              <a:srgbClr val="D6D2C9"/>
            </a:solidFill>
            <a:prstDash val="solid"/>
          </a:ln>
        </p:spPr>
      </p:sp>
      <p:sp>
        <p:nvSpPr>
          <p:cNvPr id="14" name="Shape 12"/>
          <p:cNvSpPr/>
          <p:nvPr/>
        </p:nvSpPr>
        <p:spPr>
          <a:xfrm>
            <a:off x="9006840" y="1737360"/>
            <a:ext cx="0" cy="2514600"/>
          </a:xfrm>
          <a:prstGeom prst="line">
            <a:avLst/>
          </a:prstGeom>
          <a:noFill/>
          <a:ln w="6350">
            <a:solidFill>
              <a:srgbClr val="D6D2C9"/>
            </a:solidFill>
            <a:prstDash val="solid"/>
          </a:ln>
        </p:spPr>
      </p:sp>
      <p:sp>
        <p:nvSpPr>
          <p:cNvPr id="15" name="Shape 13"/>
          <p:cNvSpPr/>
          <p:nvPr/>
        </p:nvSpPr>
        <p:spPr>
          <a:xfrm>
            <a:off x="9601200" y="1737360"/>
            <a:ext cx="0" cy="2514600"/>
          </a:xfrm>
          <a:prstGeom prst="line">
            <a:avLst/>
          </a:prstGeom>
          <a:noFill/>
          <a:ln w="6350">
            <a:solidFill>
              <a:srgbClr val="D6D2C9"/>
            </a:solidFill>
            <a:prstDash val="solid"/>
          </a:ln>
        </p:spPr>
      </p:sp>
      <p:sp>
        <p:nvSpPr>
          <p:cNvPr id="16" name="Shape 14"/>
          <p:cNvSpPr/>
          <p:nvPr/>
        </p:nvSpPr>
        <p:spPr>
          <a:xfrm>
            <a:off x="10195560" y="1737360"/>
            <a:ext cx="0" cy="2514600"/>
          </a:xfrm>
          <a:prstGeom prst="line">
            <a:avLst/>
          </a:prstGeom>
          <a:noFill/>
          <a:ln w="6350">
            <a:solidFill>
              <a:srgbClr val="D6D2C9"/>
            </a:solidFill>
            <a:prstDash val="solid"/>
          </a:ln>
        </p:spPr>
      </p:sp>
      <p:sp>
        <p:nvSpPr>
          <p:cNvPr id="17" name="Shape 15"/>
          <p:cNvSpPr/>
          <p:nvPr/>
        </p:nvSpPr>
        <p:spPr>
          <a:xfrm>
            <a:off x="10789920" y="1737360"/>
            <a:ext cx="0" cy="2514600"/>
          </a:xfrm>
          <a:prstGeom prst="line">
            <a:avLst/>
          </a:prstGeom>
          <a:noFill/>
          <a:ln w="6350">
            <a:solidFill>
              <a:srgbClr val="D6D2C9"/>
            </a:solidFill>
            <a:prstDash val="solid"/>
          </a:ln>
        </p:spPr>
      </p:sp>
      <p:sp>
        <p:nvSpPr>
          <p:cNvPr id="18" name="Shape 16"/>
          <p:cNvSpPr/>
          <p:nvPr/>
        </p:nvSpPr>
        <p:spPr>
          <a:xfrm>
            <a:off x="7452360" y="4251960"/>
            <a:ext cx="4297680" cy="0"/>
          </a:xfrm>
          <a:prstGeom prst="line">
            <a:avLst/>
          </a:prstGeom>
          <a:noFill/>
          <a:ln w="12700">
            <a:solidFill>
              <a:srgbClr val="141414"/>
            </a:solidFill>
            <a:prstDash val="solid"/>
          </a:ln>
        </p:spPr>
      </p:sp>
      <p:sp>
        <p:nvSpPr>
          <p:cNvPr id="19" name="Shape 17"/>
          <p:cNvSpPr/>
          <p:nvPr/>
        </p:nvSpPr>
        <p:spPr>
          <a:xfrm>
            <a:off x="7818120" y="4818888"/>
            <a:ext cx="3566160" cy="0"/>
          </a:xfrm>
          <a:prstGeom prst="line">
            <a:avLst/>
          </a:prstGeom>
          <a:noFill/>
          <a:ln w="9525">
            <a:solidFill>
              <a:srgbClr val="D6D2C9"/>
            </a:solidFill>
            <a:prstDash val="solid"/>
          </a:ln>
        </p:spPr>
      </p:sp>
      <p:sp>
        <p:nvSpPr>
          <p:cNvPr id="20" name="Shape 18"/>
          <p:cNvSpPr/>
          <p:nvPr/>
        </p:nvSpPr>
        <p:spPr>
          <a:xfrm>
            <a:off x="7818120" y="4736592"/>
            <a:ext cx="0" cy="164592"/>
          </a:xfrm>
          <a:prstGeom prst="line">
            <a:avLst/>
          </a:prstGeom>
          <a:noFill/>
          <a:ln w="9525">
            <a:solidFill>
              <a:srgbClr val="D6D2C9"/>
            </a:solidFill>
            <a:prstDash val="solid"/>
          </a:ln>
        </p:spPr>
      </p:sp>
      <p:sp>
        <p:nvSpPr>
          <p:cNvPr id="21" name="Shape 19"/>
          <p:cNvSpPr/>
          <p:nvPr/>
        </p:nvSpPr>
        <p:spPr>
          <a:xfrm>
            <a:off x="11384280" y="4736592"/>
            <a:ext cx="0" cy="164592"/>
          </a:xfrm>
          <a:prstGeom prst="line">
            <a:avLst/>
          </a:prstGeom>
          <a:noFill/>
          <a:ln w="9525">
            <a:solidFill>
              <a:srgbClr val="D6D2C9"/>
            </a:solidFill>
            <a:prstDash val="solid"/>
          </a:ln>
        </p:spPr>
      </p:sp>
      <p:sp>
        <p:nvSpPr>
          <p:cNvPr id="22" name="Text 20"/>
          <p:cNvSpPr txBox="1"/>
          <p:nvPr/>
        </p:nvSpPr>
        <p:spPr>
          <a:xfrm>
            <a:off x="7818120" y="4910328"/>
            <a:ext cx="3566160" cy="292608"/>
          </a:xfrm>
          <a:prstGeom prst="rect">
            <a:avLst/>
          </a:prstGeom>
          <a:noFill/>
          <a:ln/>
        </p:spPr>
        <p:txBody>
          <a:bodyPr wrap="square" lIns="0" tIns="0" rIns="0" bIns="0" rtlCol="0" anchor="ctr"/>
          <a:lstStyle/>
          <a:p>
            <a:pPr algn="ctr" indent="0" marL="0">
              <a:buNone/>
            </a:pPr>
            <a:r>
              <a:rPr lang="en-US" sz="950" spc="140" kern="0" dirty="0">
                <a:solidFill>
                  <a:srgbClr val="6F6E6A"/>
                </a:solidFill>
                <a:latin typeface="Courier New" pitchFamily="34" charset="0"/>
                <a:ea typeface="Courier New" pitchFamily="34" charset="-122"/>
                <a:cs typeface="Courier New" pitchFamily="34" charset="-120"/>
              </a:rPr>
              <a:t>THE DRAWING</a:t>
            </a:r>
            <a:endParaRPr lang="en-US" sz="950" dirty="0"/>
          </a:p>
        </p:txBody>
      </p:sp>
      <p:sp>
        <p:nvSpPr>
          <p:cNvPr id="23" name="Shape 21"/>
          <p:cNvSpPr/>
          <p:nvPr/>
        </p:nvSpPr>
        <p:spPr>
          <a:xfrm>
            <a:off x="9560052" y="3977640"/>
            <a:ext cx="82296" cy="82296"/>
          </a:xfrm>
          <a:prstGeom prst="ellipse">
            <a:avLst/>
          </a:prstGeom>
          <a:solidFill>
            <a:srgbClr val="C9A227"/>
          </a:solidFill>
          <a:ln/>
        </p:spPr>
      </p:sp>
      <p:sp>
        <p:nvSpPr>
          <p:cNvPr id="24" name="Shape 22"/>
          <p:cNvSpPr/>
          <p:nvPr/>
        </p:nvSpPr>
        <p:spPr>
          <a:xfrm>
            <a:off x="9569928" y="4074749"/>
            <a:ext cx="62545" cy="177211"/>
          </a:xfrm>
          <a:prstGeom prst="rect">
            <a:avLst/>
          </a:prstGeom>
          <a:solidFill>
            <a:srgbClr val="C9A227"/>
          </a:solidFill>
          <a:ln/>
        </p:spPr>
      </p:sp>
      <p:sp>
        <p:nvSpPr>
          <p:cNvPr id="25" name="Shape 23"/>
          <p:cNvSpPr/>
          <p:nvPr/>
        </p:nvSpPr>
        <p:spPr>
          <a:xfrm>
            <a:off x="9692640" y="4105656"/>
            <a:ext cx="566928" cy="0"/>
          </a:xfrm>
          <a:prstGeom prst="line">
            <a:avLst/>
          </a:prstGeom>
          <a:noFill/>
          <a:ln w="6350">
            <a:solidFill>
              <a:srgbClr val="6F6E6A"/>
            </a:solidFill>
            <a:prstDash val="solid"/>
          </a:ln>
        </p:spPr>
      </p:sp>
      <p:sp>
        <p:nvSpPr>
          <p:cNvPr id="26" name="Text 24"/>
          <p:cNvSpPr txBox="1"/>
          <p:nvPr/>
        </p:nvSpPr>
        <p:spPr>
          <a:xfrm>
            <a:off x="10332720" y="3995928"/>
            <a:ext cx="1280160" cy="219456"/>
          </a:xfrm>
          <a:prstGeom prst="rect">
            <a:avLst/>
          </a:prstGeom>
          <a:noFill/>
          <a:ln/>
        </p:spPr>
        <p:txBody>
          <a:bodyPr wrap="square" lIns="0" tIns="0" rIns="0" bIns="0" rtlCol="0" anchor="ctr"/>
          <a:lstStyle/>
          <a:p>
            <a:pPr algn="l" indent="0" marL="0">
              <a:buNone/>
            </a:pPr>
            <a:r>
              <a:rPr lang="en-US" sz="900" spc="160" kern="0" dirty="0">
                <a:solidFill>
                  <a:srgbClr val="6F6E6A"/>
                </a:solidFill>
                <a:latin typeface="Courier New" pitchFamily="34" charset="0"/>
                <a:ea typeface="Courier New" pitchFamily="34" charset="-122"/>
                <a:cs typeface="Courier New" pitchFamily="34" charset="-120"/>
              </a:rPr>
              <a:t>THE PERSON</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22960" y="713232"/>
            <a:ext cx="914400" cy="219456"/>
          </a:xfrm>
          <a:prstGeom prst="rect">
            <a:avLst/>
          </a:prstGeom>
          <a:noFill/>
          <a:ln/>
        </p:spPr>
        <p:txBody>
          <a:bodyPr wrap="square" lIns="0" tIns="0" rIns="0" bIns="0" rtlCol="0" anchor="ctr"/>
          <a:lstStyle/>
          <a:p>
            <a:pPr algn="l" indent="0" marL="0">
              <a:buNone/>
            </a:pPr>
            <a:r>
              <a:rPr lang="en-US" sz="900" spc="160" kern="0" dirty="0">
                <a:solidFill>
                  <a:srgbClr val="6F6E6A"/>
                </a:solidFill>
                <a:latin typeface="Courier New" pitchFamily="34" charset="0"/>
                <a:ea typeface="Courier New" pitchFamily="34" charset="-122"/>
                <a:cs typeface="Courier New" pitchFamily="34" charset="-120"/>
              </a:rPr>
              <a:t>01</a:t>
            </a:r>
            <a:endParaRPr lang="en-US" sz="900" dirty="0"/>
          </a:p>
        </p:txBody>
      </p:sp>
      <p:sp>
        <p:nvSpPr>
          <p:cNvPr id="3" name="Text 1"/>
          <p:cNvSpPr txBox="1"/>
          <p:nvPr/>
        </p:nvSpPr>
        <p:spPr>
          <a:xfrm>
            <a:off x="822960" y="2331720"/>
            <a:ext cx="9692640" cy="1828800"/>
          </a:xfrm>
          <a:prstGeom prst="rect">
            <a:avLst/>
          </a:prstGeom>
          <a:noFill/>
          <a:ln/>
        </p:spPr>
        <p:txBody>
          <a:bodyPr wrap="square" lIns="0" tIns="0" rIns="0" bIns="0" rtlCol="0" anchor="ctr"/>
          <a:lstStyle/>
          <a:p>
            <a:pPr indent="0" marL="0">
              <a:lnSpc>
                <a:spcPts val="5200"/>
              </a:lnSpc>
              <a:buNone/>
            </a:pPr>
            <a:r>
              <a:rPr lang="en-US" sz="4000" dirty="0">
                <a:solidFill>
                  <a:srgbClr val="6F6E6A"/>
                </a:solidFill>
                <a:latin typeface="Cambria" pitchFamily="34" charset="0"/>
                <a:ea typeface="Cambria" pitchFamily="34" charset="-122"/>
                <a:cs typeface="Cambria" pitchFamily="34" charset="-120"/>
              </a:rPr>
              <a:t>We design for the drawing,
</a:t>
            </a:r>
            <a:pPr indent="0" marL="0">
              <a:lnSpc>
                <a:spcPts val="5200"/>
              </a:lnSpc>
              <a:buNone/>
            </a:pPr>
            <a:r>
              <a:rPr lang="en-US" sz="4000" b="1" dirty="0">
                <a:solidFill>
                  <a:srgbClr val="141414"/>
                </a:solidFill>
                <a:latin typeface="Cambria" pitchFamily="34" charset="0"/>
                <a:ea typeface="Cambria" pitchFamily="34" charset="-122"/>
                <a:cs typeface="Cambria" pitchFamily="34" charset="-120"/>
              </a:rPr>
              <a:t>not for the person who has to live with it.</a:t>
            </a:r>
            <a:endParaRPr lang="en-US" sz="4000" dirty="0"/>
          </a:p>
        </p:txBody>
      </p:sp>
      <p:sp>
        <p:nvSpPr>
          <p:cNvPr id="4" name="Shape 2"/>
          <p:cNvSpPr/>
          <p:nvPr/>
        </p:nvSpPr>
        <p:spPr>
          <a:xfrm>
            <a:off x="822960" y="4617720"/>
            <a:ext cx="2194560" cy="0"/>
          </a:xfrm>
          <a:prstGeom prst="line">
            <a:avLst/>
          </a:prstGeom>
          <a:noFill/>
          <a:ln w="19050">
            <a:solidFill>
              <a:srgbClr val="C9A227"/>
            </a:solidFill>
            <a:prstDash val="solid"/>
          </a:ln>
        </p:spPr>
      </p:sp>
      <p:sp>
        <p:nvSpPr>
          <p:cNvPr id="5" name="Text 3"/>
          <p:cNvSpPr txBox="1"/>
          <p:nvPr/>
        </p:nvSpPr>
        <p:spPr>
          <a:xfrm>
            <a:off x="822960" y="4828032"/>
            <a:ext cx="7772400" cy="365760"/>
          </a:xfrm>
          <a:prstGeom prst="rect">
            <a:avLst/>
          </a:prstGeom>
          <a:noFill/>
          <a:ln/>
        </p:spPr>
        <p:txBody>
          <a:bodyPr wrap="square" lIns="0" tIns="0" rIns="0" bIns="0" rtlCol="0" anchor="ctr"/>
          <a:lstStyle/>
          <a:p>
            <a:pPr indent="0" marL="0">
              <a:buNone/>
            </a:pPr>
            <a:r>
              <a:rPr lang="en-US" sz="1400" i="1" dirty="0">
                <a:solidFill>
                  <a:srgbClr val="6F6E6A"/>
                </a:solidFill>
                <a:latin typeface="Calibri" pitchFamily="34" charset="0"/>
                <a:ea typeface="Calibri" pitchFamily="34" charset="-122"/>
                <a:cs typeface="Calibri" pitchFamily="34" charset="-120"/>
              </a:rPr>
              <a:t>I am not here to sell you a framework this morning.</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089904" y="1078992"/>
            <a:ext cx="0" cy="4389120"/>
          </a:xfrm>
          <a:prstGeom prst="line">
            <a:avLst/>
          </a:prstGeom>
          <a:noFill/>
          <a:ln w="9525">
            <a:solidFill>
              <a:srgbClr val="141414"/>
            </a:solidFill>
            <a:prstDash val="solid"/>
          </a:ln>
        </p:spPr>
      </p:sp>
      <p:sp>
        <p:nvSpPr>
          <p:cNvPr id="3" name="Shape 1"/>
          <p:cNvSpPr/>
          <p:nvPr/>
        </p:nvSpPr>
        <p:spPr>
          <a:xfrm>
            <a:off x="2432304" y="3097987"/>
            <a:ext cx="7315200" cy="0"/>
          </a:xfrm>
          <a:prstGeom prst="line">
            <a:avLst/>
          </a:prstGeom>
          <a:noFill/>
          <a:ln w="9525">
            <a:solidFill>
              <a:srgbClr val="141414"/>
            </a:solidFill>
            <a:prstDash val="solid"/>
          </a:ln>
        </p:spPr>
      </p:sp>
      <p:sp>
        <p:nvSpPr>
          <p:cNvPr id="4" name="Shape 2"/>
          <p:cNvSpPr/>
          <p:nvPr/>
        </p:nvSpPr>
        <p:spPr>
          <a:xfrm>
            <a:off x="5255971" y="2351837"/>
            <a:ext cx="380390" cy="548640"/>
          </a:xfrm>
          <a:prstGeom prst="rect">
            <a:avLst/>
          </a:prstGeom>
          <a:ln w="9525">
            <a:solidFill>
              <a:srgbClr val="141414"/>
            </a:solidFill>
            <a:prstDash val="solid"/>
          </a:ln>
        </p:spPr>
      </p:sp>
      <p:sp>
        <p:nvSpPr>
          <p:cNvPr id="5" name="Shape 3"/>
          <p:cNvSpPr/>
          <p:nvPr/>
        </p:nvSpPr>
        <p:spPr>
          <a:xfrm>
            <a:off x="5255971" y="3295498"/>
            <a:ext cx="380390" cy="548640"/>
          </a:xfrm>
          <a:prstGeom prst="rect">
            <a:avLst/>
          </a:prstGeom>
          <a:ln w="9525">
            <a:solidFill>
              <a:srgbClr val="141414"/>
            </a:solidFill>
            <a:prstDash val="solid"/>
          </a:ln>
        </p:spPr>
      </p:sp>
      <p:sp>
        <p:nvSpPr>
          <p:cNvPr id="6" name="Shape 4"/>
          <p:cNvSpPr/>
          <p:nvPr/>
        </p:nvSpPr>
        <p:spPr>
          <a:xfrm>
            <a:off x="6543446" y="2351837"/>
            <a:ext cx="380390" cy="548640"/>
          </a:xfrm>
          <a:prstGeom prst="rect">
            <a:avLst/>
          </a:prstGeom>
          <a:ln w="9525">
            <a:solidFill>
              <a:srgbClr val="141414"/>
            </a:solidFill>
            <a:prstDash val="solid"/>
          </a:ln>
        </p:spPr>
      </p:sp>
      <p:sp>
        <p:nvSpPr>
          <p:cNvPr id="7" name="Shape 5"/>
          <p:cNvSpPr/>
          <p:nvPr/>
        </p:nvSpPr>
        <p:spPr>
          <a:xfrm>
            <a:off x="6543446" y="3295498"/>
            <a:ext cx="380390" cy="548640"/>
          </a:xfrm>
          <a:prstGeom prst="rect">
            <a:avLst/>
          </a:prstGeom>
          <a:ln w="9525">
            <a:solidFill>
              <a:srgbClr val="141414"/>
            </a:solidFill>
            <a:prstDash val="solid"/>
          </a:ln>
        </p:spPr>
      </p:sp>
      <p:sp>
        <p:nvSpPr>
          <p:cNvPr id="8" name="Shape 6"/>
          <p:cNvSpPr/>
          <p:nvPr/>
        </p:nvSpPr>
        <p:spPr>
          <a:xfrm>
            <a:off x="4612234" y="2351837"/>
            <a:ext cx="380390" cy="548640"/>
          </a:xfrm>
          <a:prstGeom prst="rect">
            <a:avLst/>
          </a:prstGeom>
          <a:ln w="9525">
            <a:solidFill>
              <a:srgbClr val="141414"/>
            </a:solidFill>
            <a:prstDash val="solid"/>
          </a:ln>
        </p:spPr>
      </p:sp>
      <p:sp>
        <p:nvSpPr>
          <p:cNvPr id="9" name="Shape 7"/>
          <p:cNvSpPr/>
          <p:nvPr/>
        </p:nvSpPr>
        <p:spPr>
          <a:xfrm>
            <a:off x="4612234" y="3295498"/>
            <a:ext cx="380390" cy="548640"/>
          </a:xfrm>
          <a:prstGeom prst="rect">
            <a:avLst/>
          </a:prstGeom>
          <a:ln w="9525">
            <a:solidFill>
              <a:srgbClr val="141414"/>
            </a:solidFill>
            <a:prstDash val="solid"/>
          </a:ln>
        </p:spPr>
      </p:sp>
      <p:sp>
        <p:nvSpPr>
          <p:cNvPr id="10" name="Shape 8"/>
          <p:cNvSpPr/>
          <p:nvPr/>
        </p:nvSpPr>
        <p:spPr>
          <a:xfrm>
            <a:off x="7187184" y="2351837"/>
            <a:ext cx="380390" cy="548640"/>
          </a:xfrm>
          <a:prstGeom prst="rect">
            <a:avLst/>
          </a:prstGeom>
          <a:ln w="9525">
            <a:solidFill>
              <a:srgbClr val="141414"/>
            </a:solidFill>
            <a:prstDash val="solid"/>
          </a:ln>
        </p:spPr>
      </p:sp>
      <p:sp>
        <p:nvSpPr>
          <p:cNvPr id="11" name="Shape 9"/>
          <p:cNvSpPr/>
          <p:nvPr/>
        </p:nvSpPr>
        <p:spPr>
          <a:xfrm>
            <a:off x="7187184" y="3295498"/>
            <a:ext cx="380390" cy="548640"/>
          </a:xfrm>
          <a:prstGeom prst="rect">
            <a:avLst/>
          </a:prstGeom>
          <a:ln w="9525">
            <a:solidFill>
              <a:srgbClr val="141414"/>
            </a:solidFill>
            <a:prstDash val="solid"/>
          </a:ln>
        </p:spPr>
      </p:sp>
      <p:sp>
        <p:nvSpPr>
          <p:cNvPr id="12" name="Shape 10"/>
          <p:cNvSpPr/>
          <p:nvPr/>
        </p:nvSpPr>
        <p:spPr>
          <a:xfrm>
            <a:off x="3968496" y="2351837"/>
            <a:ext cx="380390" cy="548640"/>
          </a:xfrm>
          <a:prstGeom prst="rect">
            <a:avLst/>
          </a:prstGeom>
          <a:ln w="9525">
            <a:solidFill>
              <a:srgbClr val="141414"/>
            </a:solidFill>
            <a:prstDash val="solid"/>
          </a:ln>
        </p:spPr>
      </p:sp>
      <p:sp>
        <p:nvSpPr>
          <p:cNvPr id="13" name="Shape 11"/>
          <p:cNvSpPr/>
          <p:nvPr/>
        </p:nvSpPr>
        <p:spPr>
          <a:xfrm>
            <a:off x="3968496" y="3295498"/>
            <a:ext cx="380390" cy="548640"/>
          </a:xfrm>
          <a:prstGeom prst="rect">
            <a:avLst/>
          </a:prstGeom>
          <a:ln w="9525">
            <a:solidFill>
              <a:srgbClr val="141414"/>
            </a:solidFill>
            <a:prstDash val="solid"/>
          </a:ln>
        </p:spPr>
      </p:sp>
      <p:sp>
        <p:nvSpPr>
          <p:cNvPr id="14" name="Shape 12"/>
          <p:cNvSpPr/>
          <p:nvPr/>
        </p:nvSpPr>
        <p:spPr>
          <a:xfrm>
            <a:off x="7830922" y="2351837"/>
            <a:ext cx="380390" cy="548640"/>
          </a:xfrm>
          <a:prstGeom prst="rect">
            <a:avLst/>
          </a:prstGeom>
          <a:ln w="9525">
            <a:solidFill>
              <a:srgbClr val="141414"/>
            </a:solidFill>
            <a:prstDash val="solid"/>
          </a:ln>
        </p:spPr>
      </p:sp>
      <p:sp>
        <p:nvSpPr>
          <p:cNvPr id="15" name="Shape 13"/>
          <p:cNvSpPr/>
          <p:nvPr/>
        </p:nvSpPr>
        <p:spPr>
          <a:xfrm>
            <a:off x="7830922" y="3295498"/>
            <a:ext cx="380390" cy="548640"/>
          </a:xfrm>
          <a:prstGeom prst="rect">
            <a:avLst/>
          </a:prstGeom>
          <a:ln w="9525">
            <a:solidFill>
              <a:srgbClr val="141414"/>
            </a:solidFill>
            <a:prstDash val="solid"/>
          </a:ln>
        </p:spPr>
      </p:sp>
      <p:sp>
        <p:nvSpPr>
          <p:cNvPr id="16" name="Shape 14"/>
          <p:cNvSpPr/>
          <p:nvPr/>
        </p:nvSpPr>
        <p:spPr>
          <a:xfrm>
            <a:off x="3324758" y="2351837"/>
            <a:ext cx="380390" cy="548640"/>
          </a:xfrm>
          <a:prstGeom prst="rect">
            <a:avLst/>
          </a:prstGeom>
          <a:ln w="9525">
            <a:solidFill>
              <a:srgbClr val="141414"/>
            </a:solidFill>
            <a:prstDash val="solid"/>
          </a:ln>
        </p:spPr>
      </p:sp>
      <p:sp>
        <p:nvSpPr>
          <p:cNvPr id="17" name="Shape 15"/>
          <p:cNvSpPr/>
          <p:nvPr/>
        </p:nvSpPr>
        <p:spPr>
          <a:xfrm>
            <a:off x="3324758" y="3295498"/>
            <a:ext cx="380390" cy="548640"/>
          </a:xfrm>
          <a:prstGeom prst="rect">
            <a:avLst/>
          </a:prstGeom>
          <a:ln w="9525">
            <a:solidFill>
              <a:srgbClr val="141414"/>
            </a:solidFill>
            <a:prstDash val="solid"/>
          </a:ln>
        </p:spPr>
      </p:sp>
      <p:sp>
        <p:nvSpPr>
          <p:cNvPr id="18" name="Shape 16"/>
          <p:cNvSpPr/>
          <p:nvPr/>
        </p:nvSpPr>
        <p:spPr>
          <a:xfrm>
            <a:off x="8474659" y="2351837"/>
            <a:ext cx="380390" cy="548640"/>
          </a:xfrm>
          <a:prstGeom prst="rect">
            <a:avLst/>
          </a:prstGeom>
          <a:ln w="9525">
            <a:solidFill>
              <a:srgbClr val="141414"/>
            </a:solidFill>
            <a:prstDash val="solid"/>
          </a:ln>
        </p:spPr>
      </p:sp>
      <p:sp>
        <p:nvSpPr>
          <p:cNvPr id="19" name="Shape 17"/>
          <p:cNvSpPr/>
          <p:nvPr/>
        </p:nvSpPr>
        <p:spPr>
          <a:xfrm>
            <a:off x="8474659" y="3295498"/>
            <a:ext cx="380390" cy="548640"/>
          </a:xfrm>
          <a:prstGeom prst="rect">
            <a:avLst/>
          </a:prstGeom>
          <a:ln w="9525">
            <a:solidFill>
              <a:srgbClr val="141414"/>
            </a:solidFill>
            <a:prstDash val="solid"/>
          </a:ln>
        </p:spPr>
      </p:sp>
      <p:sp>
        <p:nvSpPr>
          <p:cNvPr id="20" name="Shape 18"/>
          <p:cNvSpPr/>
          <p:nvPr/>
        </p:nvSpPr>
        <p:spPr>
          <a:xfrm>
            <a:off x="2681021" y="2351837"/>
            <a:ext cx="380390" cy="548640"/>
          </a:xfrm>
          <a:prstGeom prst="rect">
            <a:avLst/>
          </a:prstGeom>
          <a:ln w="9525">
            <a:solidFill>
              <a:srgbClr val="141414"/>
            </a:solidFill>
            <a:prstDash val="solid"/>
          </a:ln>
        </p:spPr>
      </p:sp>
      <p:sp>
        <p:nvSpPr>
          <p:cNvPr id="21" name="Shape 19"/>
          <p:cNvSpPr/>
          <p:nvPr/>
        </p:nvSpPr>
        <p:spPr>
          <a:xfrm>
            <a:off x="2681021" y="3295498"/>
            <a:ext cx="380390" cy="548640"/>
          </a:xfrm>
          <a:prstGeom prst="rect">
            <a:avLst/>
          </a:prstGeom>
          <a:ln w="9525">
            <a:solidFill>
              <a:srgbClr val="141414"/>
            </a:solidFill>
            <a:prstDash val="solid"/>
          </a:ln>
        </p:spPr>
      </p:sp>
      <p:sp>
        <p:nvSpPr>
          <p:cNvPr id="22" name="Shape 20"/>
          <p:cNvSpPr/>
          <p:nvPr/>
        </p:nvSpPr>
        <p:spPr>
          <a:xfrm>
            <a:off x="9118397" y="2351837"/>
            <a:ext cx="380390" cy="548640"/>
          </a:xfrm>
          <a:prstGeom prst="rect">
            <a:avLst/>
          </a:prstGeom>
          <a:ln w="9525">
            <a:solidFill>
              <a:srgbClr val="141414"/>
            </a:solidFill>
            <a:prstDash val="solid"/>
          </a:ln>
        </p:spPr>
      </p:sp>
      <p:sp>
        <p:nvSpPr>
          <p:cNvPr id="23" name="Shape 21"/>
          <p:cNvSpPr/>
          <p:nvPr/>
        </p:nvSpPr>
        <p:spPr>
          <a:xfrm>
            <a:off x="9118397" y="3295498"/>
            <a:ext cx="380390" cy="548640"/>
          </a:xfrm>
          <a:prstGeom prst="rect">
            <a:avLst/>
          </a:prstGeom>
          <a:ln w="9525">
            <a:solidFill>
              <a:srgbClr val="141414"/>
            </a:solidFill>
            <a:prstDash val="solid"/>
          </a:ln>
        </p:spPr>
      </p:sp>
      <p:sp>
        <p:nvSpPr>
          <p:cNvPr id="24" name="Shape 22"/>
          <p:cNvSpPr/>
          <p:nvPr/>
        </p:nvSpPr>
        <p:spPr>
          <a:xfrm>
            <a:off x="5138928" y="4326941"/>
            <a:ext cx="1901952" cy="131674"/>
          </a:xfrm>
          <a:prstGeom prst="rect">
            <a:avLst/>
          </a:prstGeom>
          <a:ln w="9525">
            <a:solidFill>
              <a:srgbClr val="141414"/>
            </a:solidFill>
            <a:prstDash val="solid"/>
          </a:ln>
        </p:spPr>
      </p:sp>
      <p:sp>
        <p:nvSpPr>
          <p:cNvPr id="25" name="Shape 23"/>
          <p:cNvSpPr/>
          <p:nvPr/>
        </p:nvSpPr>
        <p:spPr>
          <a:xfrm>
            <a:off x="5138928" y="4656125"/>
            <a:ext cx="1901952" cy="131674"/>
          </a:xfrm>
          <a:prstGeom prst="rect">
            <a:avLst/>
          </a:prstGeom>
          <a:ln w="9525">
            <a:solidFill>
              <a:srgbClr val="141414"/>
            </a:solidFill>
            <a:prstDash val="solid"/>
          </a:ln>
        </p:spPr>
      </p:sp>
      <p:sp>
        <p:nvSpPr>
          <p:cNvPr id="26" name="Shape 24"/>
          <p:cNvSpPr/>
          <p:nvPr/>
        </p:nvSpPr>
        <p:spPr>
          <a:xfrm>
            <a:off x="5138928" y="4985309"/>
            <a:ext cx="1901952" cy="131674"/>
          </a:xfrm>
          <a:prstGeom prst="rect">
            <a:avLst/>
          </a:prstGeom>
          <a:ln w="9525">
            <a:solidFill>
              <a:srgbClr val="141414"/>
            </a:solidFill>
            <a:prstDash val="solid"/>
          </a:ln>
        </p:spPr>
      </p:sp>
      <p:sp>
        <p:nvSpPr>
          <p:cNvPr id="27" name="Shape 25"/>
          <p:cNvSpPr/>
          <p:nvPr/>
        </p:nvSpPr>
        <p:spPr>
          <a:xfrm>
            <a:off x="5577840" y="1078992"/>
            <a:ext cx="1024128" cy="746150"/>
          </a:xfrm>
          <a:prstGeom prst="rect">
            <a:avLst/>
          </a:prstGeom>
          <a:ln w="9525">
            <a:solidFill>
              <a:srgbClr val="141414"/>
            </a:solidFill>
            <a:prstDash val="solid"/>
          </a:ln>
        </p:spPr>
      </p:sp>
      <p:sp>
        <p:nvSpPr>
          <p:cNvPr id="28" name="Shape 26"/>
          <p:cNvSpPr/>
          <p:nvPr/>
        </p:nvSpPr>
        <p:spPr>
          <a:xfrm>
            <a:off x="6043270" y="5312664"/>
            <a:ext cx="93269" cy="93269"/>
          </a:xfrm>
          <a:prstGeom prst="ellipse">
            <a:avLst/>
          </a:prstGeom>
          <a:solidFill>
            <a:srgbClr val="C9A227"/>
          </a:solidFill>
          <a:ln/>
        </p:spPr>
      </p:sp>
      <p:sp>
        <p:nvSpPr>
          <p:cNvPr id="29" name="Shape 27"/>
          <p:cNvSpPr/>
          <p:nvPr/>
        </p:nvSpPr>
        <p:spPr>
          <a:xfrm>
            <a:off x="6054462" y="5422721"/>
            <a:ext cx="70884" cy="200839"/>
          </a:xfrm>
          <a:prstGeom prst="rect">
            <a:avLst/>
          </a:prstGeom>
          <a:solidFill>
            <a:srgbClr val="C9A227"/>
          </a:solidFill>
          <a:ln/>
        </p:spPr>
      </p:sp>
      <p:sp>
        <p:nvSpPr>
          <p:cNvPr id="30" name="Text 28"/>
          <p:cNvSpPr txBox="1"/>
          <p:nvPr/>
        </p:nvSpPr>
        <p:spPr>
          <a:xfrm>
            <a:off x="822960" y="713232"/>
            <a:ext cx="8229600" cy="219456"/>
          </a:xfrm>
          <a:prstGeom prst="rect">
            <a:avLst/>
          </a:prstGeom>
          <a:noFill/>
          <a:ln/>
        </p:spPr>
        <p:txBody>
          <a:bodyPr wrap="square" lIns="0" tIns="0" rIns="0" bIns="0" rtlCol="0" anchor="ctr"/>
          <a:lstStyle/>
          <a:p>
            <a:pPr algn="l" indent="0" marL="0">
              <a:buNone/>
            </a:pPr>
            <a:r>
              <a:rPr lang="en-US" sz="900" spc="160" kern="0" dirty="0">
                <a:solidFill>
                  <a:srgbClr val="6F6E6A"/>
                </a:solidFill>
                <a:latin typeface="Courier New" pitchFamily="34" charset="0"/>
                <a:ea typeface="Courier New" pitchFamily="34" charset="-122"/>
                <a:cs typeface="Courier New" pitchFamily="34" charset="-120"/>
              </a:rPr>
              <a:t>02   ·   HELICOPTER URBANISM</a:t>
            </a:r>
            <a:endParaRPr lang="en-US" sz="900" dirty="0"/>
          </a:p>
        </p:txBody>
      </p:sp>
      <p:sp>
        <p:nvSpPr>
          <p:cNvPr id="31" name="Text 29"/>
          <p:cNvSpPr txBox="1"/>
          <p:nvPr/>
        </p:nvSpPr>
        <p:spPr>
          <a:xfrm>
            <a:off x="822960" y="1078992"/>
            <a:ext cx="6400800" cy="566928"/>
          </a:xfrm>
          <a:prstGeom prst="rect">
            <a:avLst/>
          </a:prstGeom>
          <a:noFill/>
          <a:ln/>
        </p:spPr>
        <p:txBody>
          <a:bodyPr wrap="square" lIns="0" tIns="0" rIns="0" bIns="0" rtlCol="0" anchor="ctr"/>
          <a:lstStyle/>
          <a:p>
            <a:pPr indent="0" marL="0">
              <a:buNone/>
            </a:pPr>
            <a:r>
              <a:rPr lang="en-US" sz="3200" dirty="0">
                <a:solidFill>
                  <a:srgbClr val="141414"/>
                </a:solidFill>
                <a:latin typeface="Cambria" pitchFamily="34" charset="0"/>
                <a:ea typeface="Cambria" pitchFamily="34" charset="-122"/>
                <a:cs typeface="Cambria" pitchFamily="34" charset="-120"/>
              </a:rPr>
              <a:t>Beautiful from above.</a:t>
            </a:r>
            <a:endParaRPr lang="en-US" sz="3200" dirty="0"/>
          </a:p>
        </p:txBody>
      </p:sp>
      <p:sp>
        <p:nvSpPr>
          <p:cNvPr id="32" name="Text 30"/>
          <p:cNvSpPr txBox="1"/>
          <p:nvPr/>
        </p:nvSpPr>
        <p:spPr>
          <a:xfrm>
            <a:off x="822960" y="6053328"/>
            <a:ext cx="2194560" cy="219456"/>
          </a:xfrm>
          <a:prstGeom prst="rect">
            <a:avLst/>
          </a:prstGeom>
          <a:noFill/>
          <a:ln/>
        </p:spPr>
        <p:txBody>
          <a:bodyPr wrap="square" lIns="0" tIns="0" rIns="0" bIns="0" rtlCol="0" anchor="ctr"/>
          <a:lstStyle/>
          <a:p>
            <a:pPr algn="l" indent="0" marL="0">
              <a:buNone/>
            </a:pPr>
            <a:r>
              <a:rPr lang="en-US" sz="900" spc="160" kern="0" dirty="0">
                <a:solidFill>
                  <a:srgbClr val="6F6E6A"/>
                </a:solidFill>
                <a:latin typeface="Courier New" pitchFamily="34" charset="0"/>
                <a:ea typeface="Courier New" pitchFamily="34" charset="-122"/>
                <a:cs typeface="Courier New" pitchFamily="34" charset="-120"/>
              </a:rPr>
              <a:t>JAN GEHL</a:t>
            </a:r>
            <a:endParaRPr lang="en-US" sz="900" dirty="0"/>
          </a:p>
        </p:txBody>
      </p:sp>
      <p:sp>
        <p:nvSpPr>
          <p:cNvPr id="33" name="Text 31"/>
          <p:cNvSpPr txBox="1"/>
          <p:nvPr/>
        </p:nvSpPr>
        <p:spPr>
          <a:xfrm>
            <a:off x="822960" y="6263640"/>
            <a:ext cx="7132320" cy="475488"/>
          </a:xfrm>
          <a:prstGeom prst="rect">
            <a:avLst/>
          </a:prstGeom>
          <a:noFill/>
          <a:ln/>
        </p:spPr>
        <p:txBody>
          <a:bodyPr wrap="square" lIns="0" tIns="0" rIns="0" bIns="0" rtlCol="0" anchor="ctr"/>
          <a:lstStyle/>
          <a:p>
            <a:pPr indent="0" marL="0">
              <a:lnSpc>
                <a:spcPts val="1600"/>
              </a:lnSpc>
              <a:buNone/>
            </a:pPr>
            <a:r>
              <a:rPr lang="en-US" sz="1250" dirty="0">
                <a:solidFill>
                  <a:srgbClr val="6F6E6A"/>
                </a:solidFill>
                <a:latin typeface="Calibri" pitchFamily="34" charset="0"/>
                <a:ea typeface="Calibri" pitchFamily="34" charset="-122"/>
                <a:cs typeface="Calibri" pitchFamily="34" charset="-120"/>
              </a:rPr>
              <a:t>A plan can be beautiful and still fail to account for</a:t>
            </a:r>
            <a:endParaRPr lang="en-US" sz="1250" dirty="0"/>
          </a:p>
          <a:p>
            <a:pPr indent="0" marL="0">
              <a:lnSpc>
                <a:spcPts val="1600"/>
              </a:lnSpc>
              <a:buNone/>
            </a:pPr>
            <a:r>
              <a:rPr lang="en-US" sz="1250" dirty="0">
                <a:solidFill>
                  <a:srgbClr val="6F6E6A"/>
                </a:solidFill>
                <a:latin typeface="Calibri" pitchFamily="34" charset="0"/>
                <a:ea typeface="Calibri" pitchFamily="34" charset="-122"/>
                <a:cs typeface="Calibri" pitchFamily="34" charset="-120"/>
              </a:rPr>
              <a:t>the experience of the person standing inside it.</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22960" y="713232"/>
            <a:ext cx="8229600" cy="219456"/>
          </a:xfrm>
          <a:prstGeom prst="rect">
            <a:avLst/>
          </a:prstGeom>
          <a:noFill/>
          <a:ln/>
        </p:spPr>
        <p:txBody>
          <a:bodyPr wrap="square" lIns="0" tIns="0" rIns="0" bIns="0" rtlCol="0" anchor="ctr"/>
          <a:lstStyle/>
          <a:p>
            <a:pPr algn="l" indent="0" marL="0">
              <a:buNone/>
            </a:pPr>
            <a:r>
              <a:rPr lang="en-US" sz="900" spc="160" kern="0" dirty="0">
                <a:solidFill>
                  <a:srgbClr val="6F6E6A"/>
                </a:solidFill>
                <a:latin typeface="Courier New" pitchFamily="34" charset="0"/>
                <a:ea typeface="Courier New" pitchFamily="34" charset="-122"/>
                <a:cs typeface="Courier New" pitchFamily="34" charset="-120"/>
              </a:rPr>
              <a:t>02   ·   AT STREET LEVEL</a:t>
            </a:r>
            <a:endParaRPr lang="en-US" sz="900" dirty="0"/>
          </a:p>
        </p:txBody>
      </p:sp>
      <p:sp>
        <p:nvSpPr>
          <p:cNvPr id="3" name="Shape 1"/>
          <p:cNvSpPr/>
          <p:nvPr/>
        </p:nvSpPr>
        <p:spPr>
          <a:xfrm>
            <a:off x="822960" y="4526280"/>
            <a:ext cx="10545775" cy="0"/>
          </a:xfrm>
          <a:prstGeom prst="line">
            <a:avLst/>
          </a:prstGeom>
          <a:noFill/>
          <a:ln w="12700">
            <a:solidFill>
              <a:srgbClr val="D6D2C9"/>
            </a:solidFill>
            <a:prstDash val="solid"/>
          </a:ln>
        </p:spPr>
      </p:sp>
      <p:sp>
        <p:nvSpPr>
          <p:cNvPr id="4" name="Shape 2"/>
          <p:cNvSpPr/>
          <p:nvPr/>
        </p:nvSpPr>
        <p:spPr>
          <a:xfrm>
            <a:off x="1262786" y="4105656"/>
            <a:ext cx="126187" cy="126187"/>
          </a:xfrm>
          <a:prstGeom prst="ellipse">
            <a:avLst/>
          </a:prstGeom>
          <a:solidFill>
            <a:srgbClr val="141414"/>
          </a:solidFill>
          <a:ln/>
        </p:spPr>
      </p:sp>
      <p:sp>
        <p:nvSpPr>
          <p:cNvPr id="5" name="Shape 3"/>
          <p:cNvSpPr/>
          <p:nvPr/>
        </p:nvSpPr>
        <p:spPr>
          <a:xfrm>
            <a:off x="1277929" y="4254557"/>
            <a:ext cx="95902" cy="271723"/>
          </a:xfrm>
          <a:prstGeom prst="rect">
            <a:avLst/>
          </a:prstGeom>
          <a:solidFill>
            <a:srgbClr val="141414"/>
          </a:solidFill>
          <a:ln/>
        </p:spPr>
      </p:sp>
      <p:sp>
        <p:nvSpPr>
          <p:cNvPr id="6" name="Shape 4"/>
          <p:cNvSpPr/>
          <p:nvPr/>
        </p:nvSpPr>
        <p:spPr>
          <a:xfrm>
            <a:off x="10802722" y="4105656"/>
            <a:ext cx="126187" cy="126187"/>
          </a:xfrm>
          <a:prstGeom prst="ellipse">
            <a:avLst/>
          </a:prstGeom>
          <a:solidFill>
            <a:srgbClr val="141414"/>
          </a:solidFill>
          <a:ln/>
        </p:spPr>
      </p:sp>
      <p:sp>
        <p:nvSpPr>
          <p:cNvPr id="7" name="Shape 5"/>
          <p:cNvSpPr/>
          <p:nvPr/>
        </p:nvSpPr>
        <p:spPr>
          <a:xfrm>
            <a:off x="10817864" y="4254557"/>
            <a:ext cx="95902" cy="271723"/>
          </a:xfrm>
          <a:prstGeom prst="rect">
            <a:avLst/>
          </a:prstGeom>
          <a:solidFill>
            <a:srgbClr val="141414"/>
          </a:solidFill>
          <a:ln/>
        </p:spPr>
      </p:sp>
      <p:sp>
        <p:nvSpPr>
          <p:cNvPr id="8" name="Shape 6"/>
          <p:cNvSpPr/>
          <p:nvPr/>
        </p:nvSpPr>
        <p:spPr>
          <a:xfrm>
            <a:off x="1325880" y="5303520"/>
            <a:ext cx="9539935" cy="0"/>
          </a:xfrm>
          <a:prstGeom prst="line">
            <a:avLst/>
          </a:prstGeom>
          <a:noFill/>
          <a:ln w="9525">
            <a:solidFill>
              <a:srgbClr val="6F6E6A"/>
            </a:solidFill>
            <a:prstDash val="solid"/>
          </a:ln>
        </p:spPr>
      </p:sp>
      <p:sp>
        <p:nvSpPr>
          <p:cNvPr id="9" name="Shape 7"/>
          <p:cNvSpPr/>
          <p:nvPr/>
        </p:nvSpPr>
        <p:spPr>
          <a:xfrm>
            <a:off x="1325880" y="5221224"/>
            <a:ext cx="0" cy="164592"/>
          </a:xfrm>
          <a:prstGeom prst="line">
            <a:avLst/>
          </a:prstGeom>
          <a:noFill/>
          <a:ln w="9525">
            <a:solidFill>
              <a:srgbClr val="6F6E6A"/>
            </a:solidFill>
            <a:prstDash val="solid"/>
          </a:ln>
        </p:spPr>
      </p:sp>
      <p:sp>
        <p:nvSpPr>
          <p:cNvPr id="10" name="Shape 8"/>
          <p:cNvSpPr/>
          <p:nvPr/>
        </p:nvSpPr>
        <p:spPr>
          <a:xfrm>
            <a:off x="10865815" y="5221224"/>
            <a:ext cx="0" cy="164592"/>
          </a:xfrm>
          <a:prstGeom prst="line">
            <a:avLst/>
          </a:prstGeom>
          <a:noFill/>
          <a:ln w="9525">
            <a:solidFill>
              <a:srgbClr val="6F6E6A"/>
            </a:solidFill>
            <a:prstDash val="solid"/>
          </a:ln>
        </p:spPr>
      </p:sp>
      <p:sp>
        <p:nvSpPr>
          <p:cNvPr id="11" name="Text 9"/>
          <p:cNvSpPr txBox="1"/>
          <p:nvPr/>
        </p:nvSpPr>
        <p:spPr>
          <a:xfrm>
            <a:off x="1325880" y="5394960"/>
            <a:ext cx="9539935" cy="292608"/>
          </a:xfrm>
          <a:prstGeom prst="rect">
            <a:avLst/>
          </a:prstGeom>
          <a:noFill/>
          <a:ln/>
        </p:spPr>
        <p:txBody>
          <a:bodyPr wrap="square" lIns="0" tIns="0" rIns="0" bIns="0" rtlCol="0" anchor="ctr"/>
          <a:lstStyle/>
          <a:p>
            <a:pPr algn="ctr" indent="0" marL="0">
              <a:buNone/>
            </a:pPr>
            <a:r>
              <a:rPr lang="en-US" sz="950" spc="140" kern="0" dirty="0">
                <a:solidFill>
                  <a:srgbClr val="141414"/>
                </a:solidFill>
                <a:latin typeface="Courier New" pitchFamily="34" charset="0"/>
                <a:ea typeface="Courier New" pitchFamily="34" charset="-122"/>
                <a:cs typeface="Courier New" pitchFamily="34" charset="-120"/>
              </a:rPr>
              <a:t>THE DISTANCE BETWEEN THE DRAWING AND THE PERSON</a:t>
            </a:r>
            <a:endParaRPr lang="en-US" sz="950" dirty="0"/>
          </a:p>
        </p:txBody>
      </p:sp>
      <p:sp>
        <p:nvSpPr>
          <p:cNvPr id="12" name="Text 10"/>
          <p:cNvSpPr txBox="1"/>
          <p:nvPr/>
        </p:nvSpPr>
        <p:spPr>
          <a:xfrm>
            <a:off x="822960" y="1783080"/>
            <a:ext cx="8229600" cy="603504"/>
          </a:xfrm>
          <a:prstGeom prst="rect">
            <a:avLst/>
          </a:prstGeom>
          <a:noFill/>
          <a:ln/>
        </p:spPr>
        <p:txBody>
          <a:bodyPr wrap="square" lIns="0" tIns="0" rIns="0" bIns="0" rtlCol="0" anchor="ctr"/>
          <a:lstStyle/>
          <a:p>
            <a:pPr indent="0" marL="0">
              <a:buNone/>
            </a:pPr>
            <a:r>
              <a:rPr lang="en-US" sz="3400" dirty="0">
                <a:solidFill>
                  <a:srgbClr val="141414"/>
                </a:solidFill>
                <a:latin typeface="Cambria" pitchFamily="34" charset="0"/>
                <a:ea typeface="Cambria" pitchFamily="34" charset="-122"/>
                <a:cs typeface="Cambria" pitchFamily="34" charset="-120"/>
              </a:rPr>
              <a:t>The distances are enormous.</a:t>
            </a:r>
            <a:endParaRPr lang="en-US" sz="3400" dirty="0"/>
          </a:p>
        </p:txBody>
      </p:sp>
      <p:sp>
        <p:nvSpPr>
          <p:cNvPr id="13" name="Text 11"/>
          <p:cNvSpPr txBox="1"/>
          <p:nvPr/>
        </p:nvSpPr>
        <p:spPr>
          <a:xfrm>
            <a:off x="822960" y="2450592"/>
            <a:ext cx="8778240" cy="384048"/>
          </a:xfrm>
          <a:prstGeom prst="rect">
            <a:avLst/>
          </a:prstGeom>
          <a:noFill/>
          <a:ln/>
        </p:spPr>
        <p:txBody>
          <a:bodyPr wrap="square" lIns="0" tIns="0" rIns="0" bIns="0" rtlCol="0" anchor="ctr"/>
          <a:lstStyle/>
          <a:p>
            <a:pPr indent="0" marL="0">
              <a:buNone/>
            </a:pPr>
            <a:r>
              <a:rPr lang="en-US" sz="1500" dirty="0">
                <a:solidFill>
                  <a:srgbClr val="6F6E6A"/>
                </a:solidFill>
                <a:latin typeface="Calibri" pitchFamily="34" charset="0"/>
                <a:ea typeface="Calibri" pitchFamily="34" charset="-122"/>
                <a:cs typeface="Calibri" pitchFamily="34" charset="-120"/>
              </a:rPr>
              <a:t>Very few of the small human encounters that make a city feel alive.</a:t>
            </a:r>
            <a:endParaRPr lang="en-US" sz="1500" dirty="0"/>
          </a:p>
        </p:txBody>
      </p:sp>
      <p:sp>
        <p:nvSpPr>
          <p:cNvPr id="14" name="Text 12"/>
          <p:cNvSpPr txBox="1"/>
          <p:nvPr/>
        </p:nvSpPr>
        <p:spPr>
          <a:xfrm>
            <a:off x="822960" y="5870448"/>
            <a:ext cx="8778240" cy="365760"/>
          </a:xfrm>
          <a:prstGeom prst="rect">
            <a:avLst/>
          </a:prstGeom>
          <a:noFill/>
          <a:ln/>
        </p:spPr>
        <p:txBody>
          <a:bodyPr wrap="square" lIns="0" tIns="0" rIns="0" bIns="0" rtlCol="0" anchor="ctr"/>
          <a:lstStyle/>
          <a:p>
            <a:pPr indent="0" marL="0">
              <a:buNone/>
            </a:pPr>
            <a:r>
              <a:rPr lang="en-US" sz="1500" i="1" dirty="0">
                <a:solidFill>
                  <a:srgbClr val="141414"/>
                </a:solidFill>
                <a:latin typeface="Cambria" pitchFamily="34" charset="0"/>
                <a:ea typeface="Cambria" pitchFamily="34" charset="-122"/>
                <a:cs typeface="Cambria" pitchFamily="34" charset="-120"/>
              </a:rPr>
              <a:t>Many of the people who built it could not afford to live in it.</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22960" y="713232"/>
            <a:ext cx="8229600" cy="219456"/>
          </a:xfrm>
          <a:prstGeom prst="rect">
            <a:avLst/>
          </a:prstGeom>
          <a:noFill/>
          <a:ln/>
        </p:spPr>
        <p:txBody>
          <a:bodyPr wrap="square" lIns="0" tIns="0" rIns="0" bIns="0" rtlCol="0" anchor="ctr"/>
          <a:lstStyle/>
          <a:p>
            <a:pPr algn="l" indent="0" marL="0">
              <a:buNone/>
            </a:pPr>
            <a:r>
              <a:rPr lang="en-US" sz="900" spc="160" kern="0" dirty="0">
                <a:solidFill>
                  <a:srgbClr val="6F6E6A"/>
                </a:solidFill>
                <a:latin typeface="Courier New" pitchFamily="34" charset="0"/>
                <a:ea typeface="Courier New" pitchFamily="34" charset="-122"/>
                <a:cs typeface="Courier New" pitchFamily="34" charset="-120"/>
              </a:rPr>
              <a:t>03   ·   WHEN THE DRAWING MEETS THE GROUND</a:t>
            </a:r>
            <a:endParaRPr lang="en-US" sz="900" dirty="0"/>
          </a:p>
        </p:txBody>
      </p:sp>
      <p:sp>
        <p:nvSpPr>
          <p:cNvPr id="3" name="Text 1"/>
          <p:cNvSpPr txBox="1"/>
          <p:nvPr/>
        </p:nvSpPr>
        <p:spPr>
          <a:xfrm>
            <a:off x="822960" y="1417320"/>
            <a:ext cx="8595360" cy="1097280"/>
          </a:xfrm>
          <a:prstGeom prst="rect">
            <a:avLst/>
          </a:prstGeom>
          <a:noFill/>
          <a:ln/>
        </p:spPr>
        <p:txBody>
          <a:bodyPr wrap="square" lIns="0" tIns="0" rIns="0" bIns="0" rtlCol="0" anchor="ctr"/>
          <a:lstStyle/>
          <a:p>
            <a:pPr indent="0" marL="0">
              <a:lnSpc>
                <a:spcPts val="3800"/>
              </a:lnSpc>
              <a:buNone/>
            </a:pPr>
            <a:r>
              <a:rPr lang="en-US" sz="2800" dirty="0">
                <a:solidFill>
                  <a:srgbClr val="141414"/>
                </a:solidFill>
                <a:latin typeface="Cambria" pitchFamily="34" charset="0"/>
                <a:ea typeface="Cambria" pitchFamily="34" charset="-122"/>
                <a:cs typeface="Cambria" pitchFamily="34" charset="-120"/>
              </a:rPr>
              <a:t>Seen from above,</a:t>
            </a:r>
            <a:endParaRPr lang="en-US" sz="2800" dirty="0"/>
          </a:p>
          <a:p>
            <a:pPr indent="0" marL="0">
              <a:lnSpc>
                <a:spcPts val="3800"/>
              </a:lnSpc>
              <a:buNone/>
            </a:pPr>
            <a:r>
              <a:rPr lang="en-US" sz="2800" dirty="0">
                <a:solidFill>
                  <a:srgbClr val="141414"/>
                </a:solidFill>
                <a:latin typeface="Cambria" pitchFamily="34" charset="0"/>
                <a:ea typeface="Cambria" pitchFamily="34" charset="-122"/>
                <a:cs typeface="Cambria" pitchFamily="34" charset="-120"/>
              </a:rPr>
              <a:t>everything looks symmetrical and complete.</a:t>
            </a:r>
            <a:endParaRPr lang="en-US" sz="2800" dirty="0"/>
          </a:p>
        </p:txBody>
      </p:sp>
      <p:sp>
        <p:nvSpPr>
          <p:cNvPr id="4" name="Text 2"/>
          <p:cNvSpPr txBox="1"/>
          <p:nvPr/>
        </p:nvSpPr>
        <p:spPr>
          <a:xfrm>
            <a:off x="822960" y="4892040"/>
            <a:ext cx="9144000" cy="731520"/>
          </a:xfrm>
          <a:prstGeom prst="rect">
            <a:avLst/>
          </a:prstGeom>
          <a:noFill/>
          <a:ln/>
        </p:spPr>
        <p:txBody>
          <a:bodyPr wrap="square" lIns="0" tIns="0" rIns="0" bIns="0" rtlCol="0" anchor="ctr"/>
          <a:lstStyle/>
          <a:p>
            <a:pPr indent="0" marL="0">
              <a:buNone/>
            </a:pPr>
            <a:r>
              <a:rPr lang="en-US" sz="3800" b="1" dirty="0">
                <a:solidFill>
                  <a:srgbClr val="EAE4DA"/>
                </a:solidFill>
                <a:latin typeface="Cambria" pitchFamily="34" charset="0"/>
                <a:ea typeface="Cambria" pitchFamily="34" charset="-122"/>
                <a:cs typeface="Cambria" pitchFamily="34" charset="-120"/>
              </a:rPr>
              <a:t>Then the framework reaches the plant.</a:t>
            </a:r>
            <a:endParaRPr lang="en-US" sz="3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22960" y="713232"/>
            <a:ext cx="914400" cy="219456"/>
          </a:xfrm>
          <a:prstGeom prst="rect">
            <a:avLst/>
          </a:prstGeom>
          <a:noFill/>
          <a:ln/>
        </p:spPr>
        <p:txBody>
          <a:bodyPr wrap="square" lIns="0" tIns="0" rIns="0" bIns="0" rtlCol="0" anchor="ctr"/>
          <a:lstStyle/>
          <a:p>
            <a:pPr algn="l" indent="0" marL="0">
              <a:buNone/>
            </a:pPr>
            <a:r>
              <a:rPr lang="en-US" sz="900" spc="160" kern="0" dirty="0">
                <a:solidFill>
                  <a:srgbClr val="8A8378"/>
                </a:solidFill>
                <a:latin typeface="Courier New" pitchFamily="34" charset="0"/>
                <a:ea typeface="Courier New" pitchFamily="34" charset="-122"/>
                <a:cs typeface="Courier New" pitchFamily="34" charset="-120"/>
              </a:rPr>
              <a:t>03</a:t>
            </a:r>
            <a:endParaRPr lang="en-US" sz="900" dirty="0"/>
          </a:p>
        </p:txBody>
      </p:sp>
      <p:sp>
        <p:nvSpPr>
          <p:cNvPr id="3" name="Text 1"/>
          <p:cNvSpPr txBox="1"/>
          <p:nvPr/>
        </p:nvSpPr>
        <p:spPr>
          <a:xfrm>
            <a:off x="822960" y="2240280"/>
            <a:ext cx="10058400" cy="1920240"/>
          </a:xfrm>
          <a:prstGeom prst="rect">
            <a:avLst/>
          </a:prstGeom>
          <a:noFill/>
          <a:ln/>
        </p:spPr>
        <p:txBody>
          <a:bodyPr wrap="square" lIns="0" tIns="0" rIns="0" bIns="0" rtlCol="0" anchor="ctr"/>
          <a:lstStyle/>
          <a:p>
            <a:pPr indent="0" marL="0">
              <a:lnSpc>
                <a:spcPts val="6000"/>
              </a:lnSpc>
              <a:buNone/>
            </a:pPr>
            <a:r>
              <a:rPr lang="en-US" sz="4400" dirty="0">
                <a:solidFill>
                  <a:srgbClr val="EAE4DA"/>
                </a:solidFill>
                <a:latin typeface="Cambria" pitchFamily="34" charset="0"/>
                <a:ea typeface="Cambria" pitchFamily="34" charset="-122"/>
                <a:cs typeface="Cambria" pitchFamily="34" charset="-120"/>
              </a:rPr>
              <a:t>I had built them a plaza
</a:t>
            </a:r>
            <a:pPr indent="0" marL="0">
              <a:lnSpc>
                <a:spcPts val="6000"/>
              </a:lnSpc>
              <a:buNone/>
            </a:pPr>
            <a:r>
              <a:rPr lang="en-US" sz="4400" dirty="0">
                <a:solidFill>
                  <a:srgbClr val="C9A227"/>
                </a:solidFill>
                <a:latin typeface="Cambria" pitchFamily="34" charset="0"/>
                <a:ea typeface="Cambria" pitchFamily="34" charset="-122"/>
                <a:cs typeface="Cambria" pitchFamily="34" charset="-120"/>
              </a:rPr>
              <a:t>nobody wanted to stand in.</a:t>
            </a:r>
            <a:endParaRPr lang="en-US" sz="4400" dirty="0"/>
          </a:p>
        </p:txBody>
      </p:sp>
      <p:sp>
        <p:nvSpPr>
          <p:cNvPr id="4" name="Shape 2"/>
          <p:cNvSpPr/>
          <p:nvPr/>
        </p:nvSpPr>
        <p:spPr>
          <a:xfrm>
            <a:off x="822960" y="4709160"/>
            <a:ext cx="10545775" cy="1371600"/>
          </a:xfrm>
          <a:prstGeom prst="rect">
            <a:avLst/>
          </a:prstGeom>
          <a:ln w="9525">
            <a:solidFill>
              <a:srgbClr val="23201C"/>
            </a:solidFill>
            <a:prstDash val="solid"/>
          </a:ln>
        </p:spPr>
      </p:sp>
      <p:sp>
        <p:nvSpPr>
          <p:cNvPr id="5" name="Shape 3"/>
          <p:cNvSpPr/>
          <p:nvPr/>
        </p:nvSpPr>
        <p:spPr>
          <a:xfrm>
            <a:off x="1965046" y="5632704"/>
            <a:ext cx="93269" cy="93269"/>
          </a:xfrm>
          <a:prstGeom prst="ellipse">
            <a:avLst/>
          </a:prstGeom>
          <a:solidFill>
            <a:srgbClr val="8A8378"/>
          </a:solidFill>
          <a:ln/>
        </p:spPr>
      </p:sp>
      <p:sp>
        <p:nvSpPr>
          <p:cNvPr id="6" name="Shape 4"/>
          <p:cNvSpPr/>
          <p:nvPr/>
        </p:nvSpPr>
        <p:spPr>
          <a:xfrm>
            <a:off x="1976238" y="5742761"/>
            <a:ext cx="70884" cy="200839"/>
          </a:xfrm>
          <a:prstGeom prst="rect">
            <a:avLst/>
          </a:prstGeom>
          <a:solidFill>
            <a:srgbClr val="8A8378"/>
          </a:solidFill>
          <a:ln/>
        </p:spPr>
      </p:sp>
      <p:sp>
        <p:nvSpPr>
          <p:cNvPr id="7" name="Text 5"/>
          <p:cNvSpPr txBox="1"/>
          <p:nvPr/>
        </p:nvSpPr>
        <p:spPr>
          <a:xfrm>
            <a:off x="2743200" y="5138928"/>
            <a:ext cx="7863840" cy="548640"/>
          </a:xfrm>
          <a:prstGeom prst="rect">
            <a:avLst/>
          </a:prstGeom>
          <a:noFill/>
          <a:ln/>
        </p:spPr>
        <p:txBody>
          <a:bodyPr wrap="square" lIns="0" tIns="0" rIns="0" bIns="0" rtlCol="0" anchor="ctr"/>
          <a:lstStyle/>
          <a:p>
            <a:pPr indent="0" marL="0">
              <a:lnSpc>
                <a:spcPts val="1800"/>
              </a:lnSpc>
              <a:buNone/>
            </a:pPr>
            <a:r>
              <a:rPr lang="en-US" sz="1300" dirty="0">
                <a:solidFill>
                  <a:srgbClr val="8A8378"/>
                </a:solidFill>
                <a:latin typeface="Calibri" pitchFamily="34" charset="0"/>
                <a:ea typeface="Calibri" pitchFamily="34" charset="-122"/>
                <a:cs typeface="Calibri" pitchFamily="34" charset="-120"/>
              </a:rPr>
              <a:t>So I stopped being interested only in whether a framework was complete.</a:t>
            </a:r>
            <a:endParaRPr lang="en-US" sz="1300" dirty="0"/>
          </a:p>
          <a:p>
            <a:pPr indent="0" marL="0">
              <a:lnSpc>
                <a:spcPts val="1800"/>
              </a:lnSpc>
              <a:buNone/>
            </a:pPr>
            <a:r>
              <a:rPr lang="en-US" sz="1300" dirty="0">
                <a:solidFill>
                  <a:srgbClr val="8A8378"/>
                </a:solidFill>
                <a:latin typeface="Calibri" pitchFamily="34" charset="0"/>
                <a:ea typeface="Calibri" pitchFamily="34" charset="-122"/>
                <a:cs typeface="Calibri" pitchFamily="34" charset="-120"/>
              </a:rPr>
              <a:t>I became much more interested in whether people actually used it.</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22960" y="713232"/>
            <a:ext cx="8229600" cy="219456"/>
          </a:xfrm>
          <a:prstGeom prst="rect">
            <a:avLst/>
          </a:prstGeom>
          <a:noFill/>
          <a:ln/>
        </p:spPr>
        <p:txBody>
          <a:bodyPr wrap="square" lIns="0" tIns="0" rIns="0" bIns="0" rtlCol="0" anchor="ctr"/>
          <a:lstStyle/>
          <a:p>
            <a:pPr algn="l" indent="0" marL="0">
              <a:buNone/>
            </a:pPr>
            <a:r>
              <a:rPr lang="en-US" sz="900" spc="160" kern="0" dirty="0">
                <a:solidFill>
                  <a:srgbClr val="8A8378"/>
                </a:solidFill>
                <a:latin typeface="Courier New" pitchFamily="34" charset="0"/>
                <a:ea typeface="Courier New" pitchFamily="34" charset="-122"/>
                <a:cs typeface="Courier New" pitchFamily="34" charset="-120"/>
              </a:rPr>
              <a:t>04   ·   SUSTAINABILITY HAS THE SAME PROBLEM</a:t>
            </a:r>
            <a:endParaRPr lang="en-US" sz="900" dirty="0"/>
          </a:p>
        </p:txBody>
      </p:sp>
      <p:sp>
        <p:nvSpPr>
          <p:cNvPr id="3" name="Text 1"/>
          <p:cNvSpPr txBox="1"/>
          <p:nvPr/>
        </p:nvSpPr>
        <p:spPr>
          <a:xfrm>
            <a:off x="822960" y="1572768"/>
            <a:ext cx="9509760" cy="1371600"/>
          </a:xfrm>
          <a:prstGeom prst="rect">
            <a:avLst/>
          </a:prstGeom>
          <a:noFill/>
          <a:ln/>
        </p:spPr>
        <p:txBody>
          <a:bodyPr wrap="square" lIns="0" tIns="0" rIns="0" bIns="0" rtlCol="0" anchor="ctr"/>
          <a:lstStyle/>
          <a:p>
            <a:pPr indent="0" marL="0">
              <a:lnSpc>
                <a:spcPts val="5000"/>
              </a:lnSpc>
              <a:buNone/>
            </a:pPr>
            <a:r>
              <a:rPr lang="en-US" sz="3800" dirty="0">
                <a:solidFill>
                  <a:srgbClr val="EAE4DA"/>
                </a:solidFill>
                <a:latin typeface="Cambria" pitchFamily="34" charset="0"/>
                <a:ea typeface="Cambria" pitchFamily="34" charset="-122"/>
                <a:cs typeface="Cambria" pitchFamily="34" charset="-120"/>
              </a:rPr>
              <a:t>But eventually the ambition</a:t>
            </a:r>
            <a:endParaRPr lang="en-US" sz="3800" dirty="0"/>
          </a:p>
          <a:p>
            <a:pPr indent="0" marL="0">
              <a:lnSpc>
                <a:spcPts val="5000"/>
              </a:lnSpc>
              <a:buNone/>
            </a:pPr>
            <a:r>
              <a:rPr lang="en-US" sz="3800" dirty="0">
                <a:solidFill>
                  <a:srgbClr val="EAE4DA"/>
                </a:solidFill>
                <a:latin typeface="Cambria" pitchFamily="34" charset="0"/>
                <a:ea typeface="Cambria" pitchFamily="34" charset="-122"/>
                <a:cs typeface="Cambria" pitchFamily="34" charset="-120"/>
              </a:rPr>
              <a:t>has to become evidence.</a:t>
            </a:r>
            <a:endParaRPr lang="en-US" sz="3800" dirty="0"/>
          </a:p>
        </p:txBody>
      </p:sp>
      <p:sp>
        <p:nvSpPr>
          <p:cNvPr id="4" name="Shape 2"/>
          <p:cNvSpPr/>
          <p:nvPr/>
        </p:nvSpPr>
        <p:spPr>
          <a:xfrm>
            <a:off x="822960" y="3611880"/>
            <a:ext cx="4023360" cy="0"/>
          </a:xfrm>
          <a:prstGeom prst="line">
            <a:avLst/>
          </a:prstGeom>
          <a:noFill/>
          <a:ln w="9525">
            <a:solidFill>
              <a:srgbClr val="8A8378"/>
            </a:solidFill>
            <a:prstDash val="solid"/>
          </a:ln>
        </p:spPr>
      </p:sp>
      <p:sp>
        <p:nvSpPr>
          <p:cNvPr id="5" name="Text 3"/>
          <p:cNvSpPr txBox="1"/>
          <p:nvPr/>
        </p:nvSpPr>
        <p:spPr>
          <a:xfrm>
            <a:off x="822960" y="3730752"/>
            <a:ext cx="4023360" cy="274320"/>
          </a:xfrm>
          <a:prstGeom prst="rect">
            <a:avLst/>
          </a:prstGeom>
          <a:noFill/>
          <a:ln/>
        </p:spPr>
        <p:txBody>
          <a:bodyPr wrap="square" lIns="0" tIns="0" rIns="0" bIns="0" rtlCol="0" anchor="ctr"/>
          <a:lstStyle/>
          <a:p>
            <a:pPr indent="0" marL="0">
              <a:buNone/>
            </a:pPr>
            <a:r>
              <a:rPr lang="en-US" sz="1000" spc="180" kern="0" dirty="0">
                <a:solidFill>
                  <a:srgbClr val="8A8378"/>
                </a:solidFill>
                <a:latin typeface="Courier New" pitchFamily="34" charset="0"/>
                <a:ea typeface="Courier New" pitchFamily="34" charset="-122"/>
                <a:cs typeface="Courier New" pitchFamily="34" charset="-120"/>
              </a:rPr>
              <a:t>AMBITION</a:t>
            </a:r>
            <a:endParaRPr lang="en-US" sz="1000" dirty="0"/>
          </a:p>
        </p:txBody>
      </p:sp>
      <p:sp>
        <p:nvSpPr>
          <p:cNvPr id="6" name="Text 4"/>
          <p:cNvSpPr txBox="1"/>
          <p:nvPr/>
        </p:nvSpPr>
        <p:spPr>
          <a:xfrm>
            <a:off x="822960" y="4133088"/>
            <a:ext cx="4023360" cy="384048"/>
          </a:xfrm>
          <a:prstGeom prst="rect">
            <a:avLst/>
          </a:prstGeom>
          <a:noFill/>
          <a:ln/>
        </p:spPr>
        <p:txBody>
          <a:bodyPr wrap="square" lIns="0" tIns="0" rIns="0" bIns="0" rtlCol="0" anchor="ctr"/>
          <a:lstStyle/>
          <a:p>
            <a:pPr indent="0" marL="0">
              <a:buNone/>
            </a:pPr>
            <a:r>
              <a:rPr lang="en-US" sz="2000" dirty="0">
                <a:solidFill>
                  <a:srgbClr val="8A8378"/>
                </a:solidFill>
                <a:latin typeface="Cambria" pitchFamily="34" charset="0"/>
                <a:ea typeface="Cambria" pitchFamily="34" charset="-122"/>
                <a:cs typeface="Cambria" pitchFamily="34" charset="-120"/>
              </a:rPr>
              <a:t>Targets</a:t>
            </a:r>
            <a:endParaRPr lang="en-US" sz="2000" dirty="0"/>
          </a:p>
        </p:txBody>
      </p:sp>
      <p:sp>
        <p:nvSpPr>
          <p:cNvPr id="7" name="Text 5"/>
          <p:cNvSpPr txBox="1"/>
          <p:nvPr/>
        </p:nvSpPr>
        <p:spPr>
          <a:xfrm>
            <a:off x="822960" y="4572000"/>
            <a:ext cx="4023360" cy="384048"/>
          </a:xfrm>
          <a:prstGeom prst="rect">
            <a:avLst/>
          </a:prstGeom>
          <a:noFill/>
          <a:ln/>
        </p:spPr>
        <p:txBody>
          <a:bodyPr wrap="square" lIns="0" tIns="0" rIns="0" bIns="0" rtlCol="0" anchor="ctr"/>
          <a:lstStyle/>
          <a:p>
            <a:pPr indent="0" marL="0">
              <a:buNone/>
            </a:pPr>
            <a:r>
              <a:rPr lang="en-US" sz="2000" dirty="0">
                <a:solidFill>
                  <a:srgbClr val="8A8378"/>
                </a:solidFill>
                <a:latin typeface="Cambria" pitchFamily="34" charset="0"/>
                <a:ea typeface="Cambria" pitchFamily="34" charset="-122"/>
                <a:cs typeface="Cambria" pitchFamily="34" charset="-120"/>
              </a:rPr>
              <a:t>Roadmaps</a:t>
            </a:r>
            <a:endParaRPr lang="en-US" sz="2000" dirty="0"/>
          </a:p>
        </p:txBody>
      </p:sp>
      <p:sp>
        <p:nvSpPr>
          <p:cNvPr id="8" name="Text 6"/>
          <p:cNvSpPr txBox="1"/>
          <p:nvPr/>
        </p:nvSpPr>
        <p:spPr>
          <a:xfrm>
            <a:off x="822960" y="5010912"/>
            <a:ext cx="4023360" cy="384048"/>
          </a:xfrm>
          <a:prstGeom prst="rect">
            <a:avLst/>
          </a:prstGeom>
          <a:noFill/>
          <a:ln/>
        </p:spPr>
        <p:txBody>
          <a:bodyPr wrap="square" lIns="0" tIns="0" rIns="0" bIns="0" rtlCol="0" anchor="ctr"/>
          <a:lstStyle/>
          <a:p>
            <a:pPr indent="0" marL="0">
              <a:buNone/>
            </a:pPr>
            <a:r>
              <a:rPr lang="en-US" sz="2000" dirty="0">
                <a:solidFill>
                  <a:srgbClr val="8A8378"/>
                </a:solidFill>
                <a:latin typeface="Cambria" pitchFamily="34" charset="0"/>
                <a:ea typeface="Cambria" pitchFamily="34" charset="-122"/>
                <a:cs typeface="Cambria" pitchFamily="34" charset="-120"/>
              </a:rPr>
              <a:t>Commitments</a:t>
            </a:r>
            <a:endParaRPr lang="en-US" sz="2000" dirty="0"/>
          </a:p>
        </p:txBody>
      </p:sp>
      <p:sp>
        <p:nvSpPr>
          <p:cNvPr id="9" name="Shape 7"/>
          <p:cNvSpPr/>
          <p:nvPr/>
        </p:nvSpPr>
        <p:spPr>
          <a:xfrm>
            <a:off x="5943600" y="3611880"/>
            <a:ext cx="4023360" cy="0"/>
          </a:xfrm>
          <a:prstGeom prst="line">
            <a:avLst/>
          </a:prstGeom>
          <a:noFill/>
          <a:ln w="19050">
            <a:solidFill>
              <a:srgbClr val="C9A227"/>
            </a:solidFill>
            <a:prstDash val="solid"/>
          </a:ln>
        </p:spPr>
      </p:sp>
      <p:sp>
        <p:nvSpPr>
          <p:cNvPr id="10" name="Text 8"/>
          <p:cNvSpPr txBox="1"/>
          <p:nvPr/>
        </p:nvSpPr>
        <p:spPr>
          <a:xfrm>
            <a:off x="5943600" y="3730752"/>
            <a:ext cx="4023360" cy="274320"/>
          </a:xfrm>
          <a:prstGeom prst="rect">
            <a:avLst/>
          </a:prstGeom>
          <a:noFill/>
          <a:ln/>
        </p:spPr>
        <p:txBody>
          <a:bodyPr wrap="square" lIns="0" tIns="0" rIns="0" bIns="0" rtlCol="0" anchor="ctr"/>
          <a:lstStyle/>
          <a:p>
            <a:pPr indent="0" marL="0">
              <a:buNone/>
            </a:pPr>
            <a:r>
              <a:rPr lang="en-US" sz="1000" spc="180" kern="0" dirty="0">
                <a:solidFill>
                  <a:srgbClr val="C9A227"/>
                </a:solidFill>
                <a:latin typeface="Courier New" pitchFamily="34" charset="0"/>
                <a:ea typeface="Courier New" pitchFamily="34" charset="-122"/>
                <a:cs typeface="Courier New" pitchFamily="34" charset="-120"/>
              </a:rPr>
              <a:t>EVIDENCE</a:t>
            </a:r>
            <a:endParaRPr lang="en-US" sz="1000" dirty="0"/>
          </a:p>
        </p:txBody>
      </p:sp>
      <p:sp>
        <p:nvSpPr>
          <p:cNvPr id="11" name="Text 9"/>
          <p:cNvSpPr txBox="1"/>
          <p:nvPr/>
        </p:nvSpPr>
        <p:spPr>
          <a:xfrm>
            <a:off x="5943600" y="4133088"/>
            <a:ext cx="4023360" cy="384048"/>
          </a:xfrm>
          <a:prstGeom prst="rect">
            <a:avLst/>
          </a:prstGeom>
          <a:noFill/>
          <a:ln/>
        </p:spPr>
        <p:txBody>
          <a:bodyPr wrap="square" lIns="0" tIns="0" rIns="0" bIns="0" rtlCol="0" anchor="ctr"/>
          <a:lstStyle/>
          <a:p>
            <a:pPr indent="0" marL="0">
              <a:buNone/>
            </a:pPr>
            <a:r>
              <a:rPr lang="en-US" sz="2000" dirty="0">
                <a:solidFill>
                  <a:srgbClr val="EAE4DA"/>
                </a:solidFill>
                <a:latin typeface="Cambria" pitchFamily="34" charset="0"/>
                <a:ea typeface="Cambria" pitchFamily="34" charset="-122"/>
                <a:cs typeface="Cambria" pitchFamily="34" charset="-120"/>
              </a:rPr>
              <a:t>Definitions</a:t>
            </a:r>
            <a:endParaRPr lang="en-US" sz="2000" dirty="0"/>
          </a:p>
        </p:txBody>
      </p:sp>
      <p:sp>
        <p:nvSpPr>
          <p:cNvPr id="12" name="Text 10"/>
          <p:cNvSpPr txBox="1"/>
          <p:nvPr/>
        </p:nvSpPr>
        <p:spPr>
          <a:xfrm>
            <a:off x="5943600" y="4572000"/>
            <a:ext cx="4023360" cy="384048"/>
          </a:xfrm>
          <a:prstGeom prst="rect">
            <a:avLst/>
          </a:prstGeom>
          <a:noFill/>
          <a:ln/>
        </p:spPr>
        <p:txBody>
          <a:bodyPr wrap="square" lIns="0" tIns="0" rIns="0" bIns="0" rtlCol="0" anchor="ctr"/>
          <a:lstStyle/>
          <a:p>
            <a:pPr indent="0" marL="0">
              <a:buNone/>
            </a:pPr>
            <a:r>
              <a:rPr lang="en-US" sz="2000" dirty="0">
                <a:solidFill>
                  <a:srgbClr val="EAE4DA"/>
                </a:solidFill>
                <a:latin typeface="Cambria" pitchFamily="34" charset="0"/>
                <a:ea typeface="Cambria" pitchFamily="34" charset="-122"/>
                <a:cs typeface="Cambria" pitchFamily="34" charset="-120"/>
              </a:rPr>
              <a:t>Ownership</a:t>
            </a:r>
            <a:endParaRPr lang="en-US" sz="2000" dirty="0"/>
          </a:p>
        </p:txBody>
      </p:sp>
      <p:sp>
        <p:nvSpPr>
          <p:cNvPr id="13" name="Text 11"/>
          <p:cNvSpPr txBox="1"/>
          <p:nvPr/>
        </p:nvSpPr>
        <p:spPr>
          <a:xfrm>
            <a:off x="5943600" y="5010912"/>
            <a:ext cx="4023360" cy="384048"/>
          </a:xfrm>
          <a:prstGeom prst="rect">
            <a:avLst/>
          </a:prstGeom>
          <a:noFill/>
          <a:ln/>
        </p:spPr>
        <p:txBody>
          <a:bodyPr wrap="square" lIns="0" tIns="0" rIns="0" bIns="0" rtlCol="0" anchor="ctr"/>
          <a:lstStyle/>
          <a:p>
            <a:pPr indent="0" marL="0">
              <a:buNone/>
            </a:pPr>
            <a:r>
              <a:rPr lang="en-US" sz="2000" dirty="0">
                <a:solidFill>
                  <a:srgbClr val="EAE4DA"/>
                </a:solidFill>
                <a:latin typeface="Cambria" pitchFamily="34" charset="0"/>
                <a:ea typeface="Cambria" pitchFamily="34" charset="-122"/>
                <a:cs typeface="Cambria" pitchFamily="34" charset="-120"/>
              </a:rPr>
              <a:t>Lineage</a:t>
            </a:r>
            <a:endParaRPr lang="en-US" sz="2000" dirty="0"/>
          </a:p>
        </p:txBody>
      </p:sp>
      <p:sp>
        <p:nvSpPr>
          <p:cNvPr id="14" name="Shape 12"/>
          <p:cNvSpPr/>
          <p:nvPr/>
        </p:nvSpPr>
        <p:spPr>
          <a:xfrm>
            <a:off x="3154680" y="4315968"/>
            <a:ext cx="2697480" cy="0"/>
          </a:xfrm>
          <a:prstGeom prst="line">
            <a:avLst/>
          </a:prstGeom>
          <a:noFill/>
          <a:ln w="9525">
            <a:solidFill>
              <a:srgbClr val="7E6716"/>
            </a:solidFill>
            <a:prstDash val="solid"/>
          </a:ln>
        </p:spPr>
      </p:sp>
      <p:sp>
        <p:nvSpPr>
          <p:cNvPr id="15" name="Shape 13"/>
          <p:cNvSpPr/>
          <p:nvPr/>
        </p:nvSpPr>
        <p:spPr>
          <a:xfrm>
            <a:off x="3154680" y="4754880"/>
            <a:ext cx="2697480" cy="0"/>
          </a:xfrm>
          <a:prstGeom prst="line">
            <a:avLst/>
          </a:prstGeom>
          <a:noFill/>
          <a:ln w="9525">
            <a:solidFill>
              <a:srgbClr val="7E6716"/>
            </a:solidFill>
            <a:prstDash val="solid"/>
          </a:ln>
        </p:spPr>
      </p:sp>
      <p:sp>
        <p:nvSpPr>
          <p:cNvPr id="16" name="Shape 14"/>
          <p:cNvSpPr/>
          <p:nvPr/>
        </p:nvSpPr>
        <p:spPr>
          <a:xfrm>
            <a:off x="3154680" y="5193792"/>
            <a:ext cx="2697480" cy="0"/>
          </a:xfrm>
          <a:prstGeom prst="line">
            <a:avLst/>
          </a:prstGeom>
          <a:noFill/>
          <a:ln w="9525">
            <a:solidFill>
              <a:srgbClr val="7E6716"/>
            </a:solidFill>
            <a:prstDash val="solid"/>
          </a:ln>
        </p:spPr>
      </p:sp>
      <p:sp>
        <p:nvSpPr>
          <p:cNvPr id="17" name="Text 15"/>
          <p:cNvSpPr txBox="1"/>
          <p:nvPr/>
        </p:nvSpPr>
        <p:spPr>
          <a:xfrm>
            <a:off x="822960" y="5742432"/>
            <a:ext cx="10515600" cy="658368"/>
          </a:xfrm>
          <a:prstGeom prst="rect">
            <a:avLst/>
          </a:prstGeom>
          <a:noFill/>
          <a:ln/>
        </p:spPr>
        <p:txBody>
          <a:bodyPr wrap="square" lIns="0" tIns="0" rIns="0" bIns="0" rtlCol="0" anchor="ctr"/>
          <a:lstStyle/>
          <a:p>
            <a:pPr indent="0" marL="0">
              <a:lnSpc>
                <a:spcPts val="2200"/>
              </a:lnSpc>
              <a:buNone/>
            </a:pPr>
            <a:r>
              <a:rPr lang="en-US" sz="1600" i="1" dirty="0">
                <a:solidFill>
                  <a:srgbClr val="8A8378"/>
                </a:solidFill>
                <a:latin typeface="Cambria" pitchFamily="34" charset="0"/>
                <a:ea typeface="Cambria" pitchFamily="34" charset="-122"/>
                <a:cs typeface="Cambria" pitchFamily="34" charset="-120"/>
              </a:rPr>
              <a:t>How do you make sure the information travelling through all of those places</a:t>
            </a:r>
            <a:endParaRPr lang="en-US" sz="1600" dirty="0"/>
          </a:p>
          <a:p>
            <a:pPr indent="0" marL="0">
              <a:lnSpc>
                <a:spcPts val="2200"/>
              </a:lnSpc>
              <a:buNone/>
            </a:pPr>
            <a:r>
              <a:rPr lang="en-US" sz="1600" i="1" dirty="0">
                <a:solidFill>
                  <a:srgbClr val="8A8378"/>
                </a:solidFill>
                <a:latin typeface="Cambria" pitchFamily="34" charset="0"/>
                <a:ea typeface="Cambria" pitchFamily="34" charset="-122"/>
                <a:cs typeface="Cambria" pitchFamily="34" charset="-120"/>
              </a:rPr>
              <a:t>still means the same thing when it reaches the other end?</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22960" y="713232"/>
            <a:ext cx="8229600" cy="219456"/>
          </a:xfrm>
          <a:prstGeom prst="rect">
            <a:avLst/>
          </a:prstGeom>
          <a:noFill/>
          <a:ln/>
        </p:spPr>
        <p:txBody>
          <a:bodyPr wrap="square" lIns="0" tIns="0" rIns="0" bIns="0" rtlCol="0" anchor="ctr"/>
          <a:lstStyle/>
          <a:p>
            <a:pPr algn="l" indent="0" marL="0">
              <a:buNone/>
            </a:pPr>
            <a:r>
              <a:rPr lang="en-US" sz="900" spc="160" kern="0" dirty="0">
                <a:solidFill>
                  <a:srgbClr val="8A8378"/>
                </a:solidFill>
                <a:latin typeface="Courier New" pitchFamily="34" charset="0"/>
                <a:ea typeface="Courier New" pitchFamily="34" charset="-122"/>
                <a:cs typeface="Courier New" pitchFamily="34" charset="-120"/>
              </a:rPr>
              <a:t>05   ·   THE CARBON NUMBER</a:t>
            </a:r>
            <a:endParaRPr lang="en-US" sz="900" dirty="0"/>
          </a:p>
        </p:txBody>
      </p:sp>
      <p:sp>
        <p:nvSpPr>
          <p:cNvPr id="3" name="Text 1"/>
          <p:cNvSpPr txBox="1"/>
          <p:nvPr/>
        </p:nvSpPr>
        <p:spPr>
          <a:xfrm>
            <a:off x="822960" y="1078992"/>
            <a:ext cx="9692640" cy="457200"/>
          </a:xfrm>
          <a:prstGeom prst="rect">
            <a:avLst/>
          </a:prstGeom>
          <a:noFill/>
          <a:ln/>
        </p:spPr>
        <p:txBody>
          <a:bodyPr wrap="square" lIns="0" tIns="0" rIns="0" bIns="0" rtlCol="0" anchor="ctr"/>
          <a:lstStyle/>
          <a:p>
            <a:pPr indent="0" marL="0">
              <a:buNone/>
            </a:pPr>
            <a:r>
              <a:rPr lang="en-US" sz="2600" dirty="0">
                <a:solidFill>
                  <a:srgbClr val="8A8378"/>
                </a:solidFill>
                <a:latin typeface="Cambria" pitchFamily="34" charset="0"/>
                <a:ea typeface="Cambria" pitchFamily="34" charset="-122"/>
                <a:cs typeface="Cambria" pitchFamily="34" charset="-120"/>
              </a:rPr>
              <a:t>A carbon number looks like chemistry. It is not.</a:t>
            </a:r>
            <a:endParaRPr lang="en-US" sz="2600" dirty="0"/>
          </a:p>
        </p:txBody>
      </p:sp>
      <p:sp>
        <p:nvSpPr>
          <p:cNvPr id="4" name="Text 2"/>
          <p:cNvSpPr txBox="1"/>
          <p:nvPr/>
        </p:nvSpPr>
        <p:spPr>
          <a:xfrm>
            <a:off x="822960" y="1554480"/>
            <a:ext cx="8778240" cy="603504"/>
          </a:xfrm>
          <a:prstGeom prst="rect">
            <a:avLst/>
          </a:prstGeom>
          <a:noFill/>
          <a:ln/>
        </p:spPr>
        <p:txBody>
          <a:bodyPr wrap="square" lIns="0" tIns="0" rIns="0" bIns="0" rtlCol="0" anchor="ctr"/>
          <a:lstStyle/>
          <a:p>
            <a:pPr indent="0" marL="0">
              <a:buNone/>
            </a:pPr>
            <a:r>
              <a:rPr lang="en-US" sz="3400" b="1" dirty="0">
                <a:solidFill>
                  <a:srgbClr val="C9A227"/>
                </a:solidFill>
                <a:latin typeface="Cambria" pitchFamily="34" charset="0"/>
                <a:ea typeface="Cambria" pitchFamily="34" charset="-122"/>
                <a:cs typeface="Cambria" pitchFamily="34" charset="-120"/>
              </a:rPr>
              <a:t>It is a data product.</a:t>
            </a:r>
            <a:endParaRPr lang="en-US" sz="3400" dirty="0"/>
          </a:p>
        </p:txBody>
      </p:sp>
      <p:sp>
        <p:nvSpPr>
          <p:cNvPr id="5" name="Shape 3"/>
          <p:cNvSpPr/>
          <p:nvPr/>
        </p:nvSpPr>
        <p:spPr>
          <a:xfrm>
            <a:off x="5038344" y="2788920"/>
            <a:ext cx="2103120" cy="566928"/>
          </a:xfrm>
          <a:prstGeom prst="rect">
            <a:avLst/>
          </a:prstGeom>
          <a:ln w="19050">
            <a:solidFill>
              <a:srgbClr val="C9A227"/>
            </a:solidFill>
            <a:prstDash val="solid"/>
          </a:ln>
        </p:spPr>
      </p:sp>
      <p:sp>
        <p:nvSpPr>
          <p:cNvPr id="6" name="Text 4"/>
          <p:cNvSpPr txBox="1"/>
          <p:nvPr/>
        </p:nvSpPr>
        <p:spPr>
          <a:xfrm>
            <a:off x="5038344" y="2788920"/>
            <a:ext cx="2103120" cy="566928"/>
          </a:xfrm>
          <a:prstGeom prst="rect">
            <a:avLst/>
          </a:prstGeom>
          <a:noFill/>
          <a:ln/>
        </p:spPr>
        <p:txBody>
          <a:bodyPr wrap="square" lIns="0" tIns="0" rIns="0" bIns="0" rtlCol="0" anchor="ctr"/>
          <a:lstStyle/>
          <a:p>
            <a:pPr algn="ctr" indent="0" marL="0">
              <a:buNone/>
            </a:pPr>
            <a:r>
              <a:rPr lang="en-US" sz="1100" spc="160" kern="0" dirty="0">
                <a:solidFill>
                  <a:srgbClr val="C9A227"/>
                </a:solidFill>
                <a:latin typeface="Courier New" pitchFamily="34" charset="0"/>
                <a:ea typeface="Courier New" pitchFamily="34" charset="-122"/>
                <a:cs typeface="Courier New" pitchFamily="34" charset="-120"/>
              </a:rPr>
              <a:t>ONE NUMBER</a:t>
            </a:r>
            <a:endParaRPr lang="en-US" sz="1100" dirty="0"/>
          </a:p>
        </p:txBody>
      </p:sp>
      <p:sp>
        <p:nvSpPr>
          <p:cNvPr id="7" name="Shape 5"/>
          <p:cNvSpPr/>
          <p:nvPr/>
        </p:nvSpPr>
        <p:spPr>
          <a:xfrm>
            <a:off x="822960" y="4892040"/>
            <a:ext cx="1572768" cy="841248"/>
          </a:xfrm>
          <a:prstGeom prst="rect">
            <a:avLst/>
          </a:prstGeom>
          <a:ln w="9525">
            <a:solidFill>
              <a:srgbClr val="2E2A22"/>
            </a:solidFill>
            <a:prstDash val="solid"/>
          </a:ln>
        </p:spPr>
      </p:sp>
      <p:sp>
        <p:nvSpPr>
          <p:cNvPr id="8" name="Text 6"/>
          <p:cNvSpPr txBox="1"/>
          <p:nvPr/>
        </p:nvSpPr>
        <p:spPr>
          <a:xfrm>
            <a:off x="822960" y="4892040"/>
            <a:ext cx="1572768" cy="841248"/>
          </a:xfrm>
          <a:prstGeom prst="rect">
            <a:avLst/>
          </a:prstGeom>
          <a:noFill/>
          <a:ln/>
        </p:spPr>
        <p:txBody>
          <a:bodyPr wrap="square" lIns="0" tIns="0" rIns="0" bIns="0" rtlCol="0" anchor="ctr"/>
          <a:lstStyle/>
          <a:p>
            <a:pPr algn="ctr" indent="0" marL="0">
              <a:lnSpc>
                <a:spcPts val="1400"/>
              </a:lnSpc>
              <a:buNone/>
            </a:pPr>
            <a:r>
              <a:rPr lang="en-US" sz="1100" dirty="0">
                <a:solidFill>
                  <a:srgbClr val="EAE4DA"/>
                </a:solidFill>
                <a:latin typeface="Calibri" pitchFamily="34" charset="0"/>
                <a:ea typeface="Calibri" pitchFamily="34" charset="-122"/>
                <a:cs typeface="Calibri" pitchFamily="34" charset="-120"/>
              </a:rPr>
              <a:t>Supplier</a:t>
            </a:r>
            <a:endParaRPr lang="en-US" sz="1100" dirty="0"/>
          </a:p>
          <a:p>
            <a:pPr algn="ctr" indent="0" marL="0">
              <a:lnSpc>
                <a:spcPts val="1400"/>
              </a:lnSpc>
              <a:buNone/>
            </a:pPr>
            <a:r>
              <a:rPr lang="en-US" sz="1100" dirty="0">
                <a:solidFill>
                  <a:srgbClr val="EAE4DA"/>
                </a:solidFill>
                <a:latin typeface="Calibri" pitchFamily="34" charset="0"/>
                <a:ea typeface="Calibri" pitchFamily="34" charset="-122"/>
                <a:cs typeface="Calibri" pitchFamily="34" charset="-120"/>
              </a:rPr>
              <a:t>declarations</a:t>
            </a:r>
            <a:endParaRPr lang="en-US" sz="1100" dirty="0"/>
          </a:p>
        </p:txBody>
      </p:sp>
      <p:sp>
        <p:nvSpPr>
          <p:cNvPr id="9" name="Shape 7"/>
          <p:cNvSpPr/>
          <p:nvPr/>
        </p:nvSpPr>
        <p:spPr>
          <a:xfrm flipH="1">
            <a:off x="1609344" y="3355848"/>
            <a:ext cx="4480560" cy="1536192"/>
          </a:xfrm>
          <a:prstGeom prst="line">
            <a:avLst/>
          </a:prstGeom>
          <a:noFill/>
          <a:ln w="9525">
            <a:solidFill>
              <a:srgbClr val="7E6716"/>
            </a:solidFill>
            <a:prstDash val="solid"/>
          </a:ln>
        </p:spPr>
      </p:sp>
      <p:sp>
        <p:nvSpPr>
          <p:cNvPr id="10" name="Shape 8"/>
          <p:cNvSpPr/>
          <p:nvPr/>
        </p:nvSpPr>
        <p:spPr>
          <a:xfrm>
            <a:off x="2574950" y="4892040"/>
            <a:ext cx="1572768" cy="841248"/>
          </a:xfrm>
          <a:prstGeom prst="rect">
            <a:avLst/>
          </a:prstGeom>
          <a:ln w="9525">
            <a:solidFill>
              <a:srgbClr val="2E2A22"/>
            </a:solidFill>
            <a:prstDash val="solid"/>
          </a:ln>
        </p:spPr>
      </p:sp>
      <p:sp>
        <p:nvSpPr>
          <p:cNvPr id="11" name="Text 9"/>
          <p:cNvSpPr txBox="1"/>
          <p:nvPr/>
        </p:nvSpPr>
        <p:spPr>
          <a:xfrm>
            <a:off x="2574950" y="4892040"/>
            <a:ext cx="1572768" cy="841248"/>
          </a:xfrm>
          <a:prstGeom prst="rect">
            <a:avLst/>
          </a:prstGeom>
          <a:noFill/>
          <a:ln/>
        </p:spPr>
        <p:txBody>
          <a:bodyPr wrap="square" lIns="0" tIns="0" rIns="0" bIns="0" rtlCol="0" anchor="ctr"/>
          <a:lstStyle/>
          <a:p>
            <a:pPr algn="ctr" indent="0" marL="0">
              <a:lnSpc>
                <a:spcPts val="1400"/>
              </a:lnSpc>
              <a:buNone/>
            </a:pPr>
            <a:r>
              <a:rPr lang="en-US" sz="1100" dirty="0">
                <a:solidFill>
                  <a:srgbClr val="EAE4DA"/>
                </a:solidFill>
                <a:latin typeface="Calibri" pitchFamily="34" charset="0"/>
                <a:ea typeface="Calibri" pitchFamily="34" charset="-122"/>
                <a:cs typeface="Calibri" pitchFamily="34" charset="-120"/>
              </a:rPr>
              <a:t>Energy</a:t>
            </a:r>
            <a:endParaRPr lang="en-US" sz="1100" dirty="0"/>
          </a:p>
          <a:p>
            <a:pPr algn="ctr" indent="0" marL="0">
              <a:lnSpc>
                <a:spcPts val="1400"/>
              </a:lnSpc>
              <a:buNone/>
            </a:pPr>
            <a:r>
              <a:rPr lang="en-US" sz="1100" dirty="0">
                <a:solidFill>
                  <a:srgbClr val="EAE4DA"/>
                </a:solidFill>
                <a:latin typeface="Calibri" pitchFamily="34" charset="0"/>
                <a:ea typeface="Calibri" pitchFamily="34" charset="-122"/>
                <a:cs typeface="Calibri" pitchFamily="34" charset="-120"/>
              </a:rPr>
              <a:t>meters</a:t>
            </a:r>
            <a:endParaRPr lang="en-US" sz="1100" dirty="0"/>
          </a:p>
        </p:txBody>
      </p:sp>
      <p:sp>
        <p:nvSpPr>
          <p:cNvPr id="12" name="Shape 10"/>
          <p:cNvSpPr/>
          <p:nvPr/>
        </p:nvSpPr>
        <p:spPr>
          <a:xfrm flipH="1">
            <a:off x="3361334" y="3355848"/>
            <a:ext cx="2728570" cy="1536192"/>
          </a:xfrm>
          <a:prstGeom prst="line">
            <a:avLst/>
          </a:prstGeom>
          <a:noFill/>
          <a:ln w="9525">
            <a:solidFill>
              <a:srgbClr val="7E6716"/>
            </a:solidFill>
            <a:prstDash val="solid"/>
          </a:ln>
        </p:spPr>
      </p:sp>
      <p:sp>
        <p:nvSpPr>
          <p:cNvPr id="13" name="Shape 11"/>
          <p:cNvSpPr/>
          <p:nvPr/>
        </p:nvSpPr>
        <p:spPr>
          <a:xfrm>
            <a:off x="4326941" y="4892040"/>
            <a:ext cx="1572768" cy="841248"/>
          </a:xfrm>
          <a:prstGeom prst="rect">
            <a:avLst/>
          </a:prstGeom>
          <a:ln w="9525">
            <a:solidFill>
              <a:srgbClr val="2E2A22"/>
            </a:solidFill>
            <a:prstDash val="solid"/>
          </a:ln>
        </p:spPr>
      </p:sp>
      <p:sp>
        <p:nvSpPr>
          <p:cNvPr id="14" name="Text 12"/>
          <p:cNvSpPr txBox="1"/>
          <p:nvPr/>
        </p:nvSpPr>
        <p:spPr>
          <a:xfrm>
            <a:off x="4326941" y="4892040"/>
            <a:ext cx="1572768" cy="841248"/>
          </a:xfrm>
          <a:prstGeom prst="rect">
            <a:avLst/>
          </a:prstGeom>
          <a:noFill/>
          <a:ln/>
        </p:spPr>
        <p:txBody>
          <a:bodyPr wrap="square" lIns="0" tIns="0" rIns="0" bIns="0" rtlCol="0" anchor="ctr"/>
          <a:lstStyle/>
          <a:p>
            <a:pPr algn="ctr" indent="0" marL="0">
              <a:lnSpc>
                <a:spcPts val="1400"/>
              </a:lnSpc>
              <a:buNone/>
            </a:pPr>
            <a:r>
              <a:rPr lang="en-US" sz="1100" dirty="0">
                <a:solidFill>
                  <a:srgbClr val="EAE4DA"/>
                </a:solidFill>
                <a:latin typeface="Calibri" pitchFamily="34" charset="0"/>
                <a:ea typeface="Calibri" pitchFamily="34" charset="-122"/>
                <a:cs typeface="Calibri" pitchFamily="34" charset="-120"/>
              </a:rPr>
              <a:t>Batch</a:t>
            </a:r>
            <a:endParaRPr lang="en-US" sz="1100" dirty="0"/>
          </a:p>
          <a:p>
            <a:pPr algn="ctr" indent="0" marL="0">
              <a:lnSpc>
                <a:spcPts val="1400"/>
              </a:lnSpc>
              <a:buNone/>
            </a:pPr>
            <a:r>
              <a:rPr lang="en-US" sz="1100" dirty="0">
                <a:solidFill>
                  <a:srgbClr val="EAE4DA"/>
                </a:solidFill>
                <a:latin typeface="Calibri" pitchFamily="34" charset="0"/>
                <a:ea typeface="Calibri" pitchFamily="34" charset="-122"/>
                <a:cs typeface="Calibri" pitchFamily="34" charset="-120"/>
              </a:rPr>
              <a:t>records</a:t>
            </a:r>
            <a:endParaRPr lang="en-US" sz="1100" dirty="0"/>
          </a:p>
        </p:txBody>
      </p:sp>
      <p:sp>
        <p:nvSpPr>
          <p:cNvPr id="15" name="Shape 13"/>
          <p:cNvSpPr/>
          <p:nvPr/>
        </p:nvSpPr>
        <p:spPr>
          <a:xfrm flipH="1">
            <a:off x="5113325" y="3355848"/>
            <a:ext cx="976579" cy="1536192"/>
          </a:xfrm>
          <a:prstGeom prst="line">
            <a:avLst/>
          </a:prstGeom>
          <a:noFill/>
          <a:ln w="9525">
            <a:solidFill>
              <a:srgbClr val="7E6716"/>
            </a:solidFill>
            <a:prstDash val="solid"/>
          </a:ln>
        </p:spPr>
      </p:sp>
      <p:sp>
        <p:nvSpPr>
          <p:cNvPr id="16" name="Shape 14"/>
          <p:cNvSpPr/>
          <p:nvPr/>
        </p:nvSpPr>
        <p:spPr>
          <a:xfrm>
            <a:off x="6078931" y="4892040"/>
            <a:ext cx="1572768" cy="841248"/>
          </a:xfrm>
          <a:prstGeom prst="rect">
            <a:avLst/>
          </a:prstGeom>
          <a:ln w="9525">
            <a:solidFill>
              <a:srgbClr val="2E2A22"/>
            </a:solidFill>
            <a:prstDash val="solid"/>
          </a:ln>
        </p:spPr>
      </p:sp>
      <p:sp>
        <p:nvSpPr>
          <p:cNvPr id="17" name="Text 15"/>
          <p:cNvSpPr txBox="1"/>
          <p:nvPr/>
        </p:nvSpPr>
        <p:spPr>
          <a:xfrm>
            <a:off x="6078931" y="4892040"/>
            <a:ext cx="1572768" cy="841248"/>
          </a:xfrm>
          <a:prstGeom prst="rect">
            <a:avLst/>
          </a:prstGeom>
          <a:noFill/>
          <a:ln/>
        </p:spPr>
        <p:txBody>
          <a:bodyPr wrap="square" lIns="0" tIns="0" rIns="0" bIns="0" rtlCol="0" anchor="ctr"/>
          <a:lstStyle/>
          <a:p>
            <a:pPr algn="ctr" indent="0" marL="0">
              <a:lnSpc>
                <a:spcPts val="1400"/>
              </a:lnSpc>
              <a:buNone/>
            </a:pPr>
            <a:r>
              <a:rPr lang="en-US" sz="1100" dirty="0">
                <a:solidFill>
                  <a:srgbClr val="EAE4DA"/>
                </a:solidFill>
                <a:latin typeface="Calibri" pitchFamily="34" charset="0"/>
                <a:ea typeface="Calibri" pitchFamily="34" charset="-122"/>
                <a:cs typeface="Calibri" pitchFamily="34" charset="-120"/>
              </a:rPr>
              <a:t>Transport</a:t>
            </a:r>
            <a:endParaRPr lang="en-US" sz="1100" dirty="0"/>
          </a:p>
          <a:p>
            <a:pPr algn="ctr" indent="0" marL="0">
              <a:lnSpc>
                <a:spcPts val="1400"/>
              </a:lnSpc>
              <a:buNone/>
            </a:pPr>
            <a:r>
              <a:rPr lang="en-US" sz="1100" dirty="0">
                <a:solidFill>
                  <a:srgbClr val="EAE4DA"/>
                </a:solidFill>
                <a:latin typeface="Calibri" pitchFamily="34" charset="0"/>
                <a:ea typeface="Calibri" pitchFamily="34" charset="-122"/>
                <a:cs typeface="Calibri" pitchFamily="34" charset="-120"/>
              </a:rPr>
              <a:t>data</a:t>
            </a:r>
            <a:endParaRPr lang="en-US" sz="1100" dirty="0"/>
          </a:p>
        </p:txBody>
      </p:sp>
      <p:sp>
        <p:nvSpPr>
          <p:cNvPr id="18" name="Shape 16"/>
          <p:cNvSpPr/>
          <p:nvPr/>
        </p:nvSpPr>
        <p:spPr>
          <a:xfrm>
            <a:off x="6089904" y="3355848"/>
            <a:ext cx="775411" cy="1536192"/>
          </a:xfrm>
          <a:prstGeom prst="line">
            <a:avLst/>
          </a:prstGeom>
          <a:noFill/>
          <a:ln w="9525">
            <a:solidFill>
              <a:srgbClr val="7E6716"/>
            </a:solidFill>
            <a:prstDash val="solid"/>
          </a:ln>
        </p:spPr>
      </p:sp>
      <p:sp>
        <p:nvSpPr>
          <p:cNvPr id="19" name="Shape 17"/>
          <p:cNvSpPr/>
          <p:nvPr/>
        </p:nvSpPr>
        <p:spPr>
          <a:xfrm>
            <a:off x="7830922" y="4892040"/>
            <a:ext cx="1572768" cy="841248"/>
          </a:xfrm>
          <a:prstGeom prst="rect">
            <a:avLst/>
          </a:prstGeom>
          <a:ln w="9525">
            <a:solidFill>
              <a:srgbClr val="2E2A22"/>
            </a:solidFill>
            <a:prstDash val="solid"/>
          </a:ln>
        </p:spPr>
      </p:sp>
      <p:sp>
        <p:nvSpPr>
          <p:cNvPr id="20" name="Text 18"/>
          <p:cNvSpPr txBox="1"/>
          <p:nvPr/>
        </p:nvSpPr>
        <p:spPr>
          <a:xfrm>
            <a:off x="7830922" y="4892040"/>
            <a:ext cx="1572768" cy="841248"/>
          </a:xfrm>
          <a:prstGeom prst="rect">
            <a:avLst/>
          </a:prstGeom>
          <a:noFill/>
          <a:ln/>
        </p:spPr>
        <p:txBody>
          <a:bodyPr wrap="square" lIns="0" tIns="0" rIns="0" bIns="0" rtlCol="0" anchor="ctr"/>
          <a:lstStyle/>
          <a:p>
            <a:pPr algn="ctr" indent="0" marL="0">
              <a:lnSpc>
                <a:spcPts val="1400"/>
              </a:lnSpc>
              <a:buNone/>
            </a:pPr>
            <a:r>
              <a:rPr lang="en-US" sz="1100" dirty="0">
                <a:solidFill>
                  <a:srgbClr val="EAE4DA"/>
                </a:solidFill>
                <a:latin typeface="Calibri" pitchFamily="34" charset="0"/>
                <a:ea typeface="Calibri" pitchFamily="34" charset="-122"/>
                <a:cs typeface="Calibri" pitchFamily="34" charset="-120"/>
              </a:rPr>
              <a:t>Allocation</a:t>
            </a:r>
            <a:endParaRPr lang="en-US" sz="1100" dirty="0"/>
          </a:p>
          <a:p>
            <a:pPr algn="ctr" indent="0" marL="0">
              <a:lnSpc>
                <a:spcPts val="1400"/>
              </a:lnSpc>
              <a:buNone/>
            </a:pPr>
            <a:r>
              <a:rPr lang="en-US" sz="1100" dirty="0">
                <a:solidFill>
                  <a:srgbClr val="EAE4DA"/>
                </a:solidFill>
                <a:latin typeface="Calibri" pitchFamily="34" charset="0"/>
                <a:ea typeface="Calibri" pitchFamily="34" charset="-122"/>
                <a:cs typeface="Calibri" pitchFamily="34" charset="-120"/>
              </a:rPr>
              <a:t>rules</a:t>
            </a:r>
            <a:endParaRPr lang="en-US" sz="1100" dirty="0"/>
          </a:p>
        </p:txBody>
      </p:sp>
      <p:sp>
        <p:nvSpPr>
          <p:cNvPr id="21" name="Shape 19"/>
          <p:cNvSpPr/>
          <p:nvPr/>
        </p:nvSpPr>
        <p:spPr>
          <a:xfrm>
            <a:off x="6089904" y="3355848"/>
            <a:ext cx="2527402" cy="1536192"/>
          </a:xfrm>
          <a:prstGeom prst="line">
            <a:avLst/>
          </a:prstGeom>
          <a:noFill/>
          <a:ln w="9525">
            <a:solidFill>
              <a:srgbClr val="7E6716"/>
            </a:solidFill>
            <a:prstDash val="solid"/>
          </a:ln>
        </p:spPr>
      </p:sp>
      <p:sp>
        <p:nvSpPr>
          <p:cNvPr id="22" name="Shape 20"/>
          <p:cNvSpPr/>
          <p:nvPr/>
        </p:nvSpPr>
        <p:spPr>
          <a:xfrm>
            <a:off x="9582912" y="4892040"/>
            <a:ext cx="1572768" cy="841248"/>
          </a:xfrm>
          <a:prstGeom prst="rect">
            <a:avLst/>
          </a:prstGeom>
          <a:ln w="9525">
            <a:solidFill>
              <a:srgbClr val="2E2A22"/>
            </a:solidFill>
            <a:prstDash val="solid"/>
          </a:ln>
        </p:spPr>
      </p:sp>
      <p:sp>
        <p:nvSpPr>
          <p:cNvPr id="23" name="Text 21"/>
          <p:cNvSpPr txBox="1"/>
          <p:nvPr/>
        </p:nvSpPr>
        <p:spPr>
          <a:xfrm>
            <a:off x="9582912" y="4892040"/>
            <a:ext cx="1572768" cy="841248"/>
          </a:xfrm>
          <a:prstGeom prst="rect">
            <a:avLst/>
          </a:prstGeom>
          <a:noFill/>
          <a:ln/>
        </p:spPr>
        <p:txBody>
          <a:bodyPr wrap="square" lIns="0" tIns="0" rIns="0" bIns="0" rtlCol="0" anchor="ctr"/>
          <a:lstStyle/>
          <a:p>
            <a:pPr algn="ctr" indent="0" marL="0">
              <a:lnSpc>
                <a:spcPts val="1400"/>
              </a:lnSpc>
              <a:buNone/>
            </a:pPr>
            <a:r>
              <a:rPr lang="en-US" sz="1100" dirty="0">
                <a:solidFill>
                  <a:srgbClr val="EAE4DA"/>
                </a:solidFill>
                <a:latin typeface="Calibri" pitchFamily="34" charset="0"/>
                <a:ea typeface="Calibri" pitchFamily="34" charset="-122"/>
                <a:cs typeface="Calibri" pitchFamily="34" charset="-120"/>
              </a:rPr>
              <a:t>A collection of</a:t>
            </a:r>
            <a:endParaRPr lang="en-US" sz="1100" dirty="0"/>
          </a:p>
          <a:p>
            <a:pPr algn="ctr" indent="0" marL="0">
              <a:lnSpc>
                <a:spcPts val="1400"/>
              </a:lnSpc>
              <a:buNone/>
            </a:pPr>
            <a:r>
              <a:rPr lang="en-US" sz="1100" dirty="0">
                <a:solidFill>
                  <a:srgbClr val="EAE4DA"/>
                </a:solidFill>
                <a:latin typeface="Calibri" pitchFamily="34" charset="0"/>
                <a:ea typeface="Calibri" pitchFamily="34" charset="-122"/>
                <a:cs typeface="Calibri" pitchFamily="34" charset="-120"/>
              </a:rPr>
              <a:t>assumptions</a:t>
            </a:r>
            <a:endParaRPr lang="en-US" sz="1100" dirty="0"/>
          </a:p>
        </p:txBody>
      </p:sp>
      <p:sp>
        <p:nvSpPr>
          <p:cNvPr id="24" name="Shape 22"/>
          <p:cNvSpPr/>
          <p:nvPr/>
        </p:nvSpPr>
        <p:spPr>
          <a:xfrm>
            <a:off x="6089904" y="3355848"/>
            <a:ext cx="4279392" cy="1536192"/>
          </a:xfrm>
          <a:prstGeom prst="line">
            <a:avLst/>
          </a:prstGeom>
          <a:noFill/>
          <a:ln w="9525">
            <a:solidFill>
              <a:srgbClr val="7E6716"/>
            </a:solidFill>
            <a:prstDash val="solid"/>
          </a:ln>
        </p:spPr>
      </p:sp>
      <p:sp>
        <p:nvSpPr>
          <p:cNvPr id="25" name="Text 23"/>
          <p:cNvSpPr txBox="1"/>
          <p:nvPr/>
        </p:nvSpPr>
        <p:spPr>
          <a:xfrm>
            <a:off x="822960" y="6053328"/>
            <a:ext cx="10515600" cy="457200"/>
          </a:xfrm>
          <a:prstGeom prst="rect">
            <a:avLst/>
          </a:prstGeom>
          <a:noFill/>
          <a:ln/>
        </p:spPr>
        <p:txBody>
          <a:bodyPr wrap="square" lIns="0" tIns="0" rIns="0" bIns="0" rtlCol="0" anchor="ctr"/>
          <a:lstStyle/>
          <a:p>
            <a:pPr indent="0" marL="0">
              <a:buNone/>
            </a:pPr>
            <a:r>
              <a:rPr lang="en-US" sz="2200" i="1" dirty="0">
                <a:solidFill>
                  <a:srgbClr val="EAE4DA"/>
                </a:solidFill>
                <a:latin typeface="Cambria" pitchFamily="34" charset="0"/>
                <a:ea typeface="Cambria" pitchFamily="34" charset="-122"/>
                <a:cs typeface="Cambria" pitchFamily="34" charset="-120"/>
              </a:rPr>
              <a:t>You cannot report what you cannot trace.</a:t>
            </a:r>
            <a:endParaRPr lang="en-US" sz="2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22960" y="713232"/>
            <a:ext cx="8229600" cy="219456"/>
          </a:xfrm>
          <a:prstGeom prst="rect">
            <a:avLst/>
          </a:prstGeom>
          <a:noFill/>
          <a:ln/>
        </p:spPr>
        <p:txBody>
          <a:bodyPr wrap="square" lIns="0" tIns="0" rIns="0" bIns="0" rtlCol="0" anchor="ctr"/>
          <a:lstStyle/>
          <a:p>
            <a:pPr algn="l" indent="0" marL="0">
              <a:buNone/>
            </a:pPr>
            <a:r>
              <a:rPr lang="en-US" sz="900" spc="160" kern="0" dirty="0">
                <a:solidFill>
                  <a:srgbClr val="8A8378"/>
                </a:solidFill>
                <a:latin typeface="Courier New" pitchFamily="34" charset="0"/>
                <a:ea typeface="Courier New" pitchFamily="34" charset="-122"/>
                <a:cs typeface="Courier New" pitchFamily="34" charset="-120"/>
              </a:rPr>
              <a:t>06   ·   THEN SOMEONE SAYS: WHY DON'T WE JUST USE AI?</a:t>
            </a:r>
            <a:endParaRPr lang="en-US" sz="900" dirty="0"/>
          </a:p>
        </p:txBody>
      </p:sp>
      <p:sp>
        <p:nvSpPr>
          <p:cNvPr id="3" name="Text 1"/>
          <p:cNvSpPr txBox="1"/>
          <p:nvPr/>
        </p:nvSpPr>
        <p:spPr>
          <a:xfrm>
            <a:off x="822960" y="1508760"/>
            <a:ext cx="9692640" cy="1280160"/>
          </a:xfrm>
          <a:prstGeom prst="rect">
            <a:avLst/>
          </a:prstGeom>
          <a:noFill/>
          <a:ln/>
        </p:spPr>
        <p:txBody>
          <a:bodyPr wrap="square" lIns="0" tIns="0" rIns="0" bIns="0" rtlCol="0" anchor="ctr"/>
          <a:lstStyle/>
          <a:p>
            <a:pPr indent="0" marL="0">
              <a:lnSpc>
                <a:spcPts val="4600"/>
              </a:lnSpc>
              <a:buNone/>
            </a:pPr>
            <a:r>
              <a:rPr lang="en-US" sz="3400" dirty="0">
                <a:solidFill>
                  <a:srgbClr val="EAE4DA"/>
                </a:solidFill>
                <a:latin typeface="Cambria" pitchFamily="34" charset="0"/>
                <a:ea typeface="Cambria" pitchFamily="34" charset="-122"/>
                <a:cs typeface="Cambria" pitchFamily="34" charset="-120"/>
              </a:rPr>
              <a:t>Putting an agent on top of ambiguity</a:t>
            </a:r>
            <a:endParaRPr lang="en-US" sz="3400" dirty="0"/>
          </a:p>
          <a:p>
            <a:pPr indent="0" marL="0">
              <a:lnSpc>
                <a:spcPts val="4600"/>
              </a:lnSpc>
              <a:buNone/>
            </a:pPr>
            <a:r>
              <a:rPr lang="en-US" sz="3400" dirty="0">
                <a:solidFill>
                  <a:srgbClr val="EAE4DA"/>
                </a:solidFill>
                <a:latin typeface="Cambria" pitchFamily="34" charset="0"/>
                <a:ea typeface="Cambria" pitchFamily="34" charset="-122"/>
                <a:cs typeface="Cambria" pitchFamily="34" charset="-120"/>
              </a:rPr>
              <a:t>does not remove the problem.</a:t>
            </a:r>
            <a:endParaRPr lang="en-US" sz="3400" dirty="0"/>
          </a:p>
        </p:txBody>
      </p:sp>
      <p:sp>
        <p:nvSpPr>
          <p:cNvPr id="4" name="Text 2"/>
          <p:cNvSpPr txBox="1"/>
          <p:nvPr/>
        </p:nvSpPr>
        <p:spPr>
          <a:xfrm>
            <a:off x="822960" y="2788920"/>
            <a:ext cx="9692640" cy="640080"/>
          </a:xfrm>
          <a:prstGeom prst="rect">
            <a:avLst/>
          </a:prstGeom>
          <a:noFill/>
          <a:ln/>
        </p:spPr>
        <p:txBody>
          <a:bodyPr wrap="square" lIns="0" tIns="0" rIns="0" bIns="0" rtlCol="0" anchor="ctr"/>
          <a:lstStyle/>
          <a:p>
            <a:pPr indent="0" marL="0">
              <a:buNone/>
            </a:pPr>
            <a:r>
              <a:rPr lang="en-US" sz="3400" b="1" dirty="0">
                <a:solidFill>
                  <a:srgbClr val="C9A227"/>
                </a:solidFill>
                <a:latin typeface="Cambria" pitchFamily="34" charset="0"/>
                <a:ea typeface="Cambria" pitchFamily="34" charset="-122"/>
                <a:cs typeface="Cambria" pitchFamily="34" charset="-120"/>
              </a:rPr>
              <a:t>It scales it up.</a:t>
            </a:r>
            <a:endParaRPr lang="en-US" sz="3400" dirty="0"/>
          </a:p>
        </p:txBody>
      </p:sp>
      <p:sp>
        <p:nvSpPr>
          <p:cNvPr id="5" name="Shape 3"/>
          <p:cNvSpPr/>
          <p:nvPr/>
        </p:nvSpPr>
        <p:spPr>
          <a:xfrm>
            <a:off x="822960" y="3977640"/>
            <a:ext cx="1371600" cy="566928"/>
          </a:xfrm>
          <a:prstGeom prst="rect">
            <a:avLst/>
          </a:prstGeom>
          <a:ln w="19050">
            <a:solidFill>
              <a:srgbClr val="C9A227"/>
            </a:solidFill>
            <a:prstDash val="solid"/>
          </a:ln>
        </p:spPr>
      </p:sp>
      <p:sp>
        <p:nvSpPr>
          <p:cNvPr id="6" name="Text 4"/>
          <p:cNvSpPr txBox="1"/>
          <p:nvPr/>
        </p:nvSpPr>
        <p:spPr>
          <a:xfrm>
            <a:off x="822960" y="3977640"/>
            <a:ext cx="1371600" cy="566928"/>
          </a:xfrm>
          <a:prstGeom prst="rect">
            <a:avLst/>
          </a:prstGeom>
          <a:noFill/>
          <a:ln/>
        </p:spPr>
        <p:txBody>
          <a:bodyPr wrap="square" lIns="0" tIns="0" rIns="0" bIns="0" rtlCol="0" anchor="ctr"/>
          <a:lstStyle/>
          <a:p>
            <a:pPr algn="ctr" indent="0" marL="0">
              <a:buNone/>
            </a:pPr>
            <a:r>
              <a:rPr lang="en-US" sz="1200" spc="180" kern="0" dirty="0">
                <a:solidFill>
                  <a:srgbClr val="C9A227"/>
                </a:solidFill>
                <a:latin typeface="Courier New" pitchFamily="34" charset="0"/>
                <a:ea typeface="Courier New" pitchFamily="34" charset="-122"/>
                <a:cs typeface="Courier New" pitchFamily="34" charset="-120"/>
              </a:rPr>
              <a:t>BATCH</a:t>
            </a:r>
            <a:endParaRPr lang="en-US" sz="1200" dirty="0"/>
          </a:p>
        </p:txBody>
      </p:sp>
      <p:sp>
        <p:nvSpPr>
          <p:cNvPr id="7" name="Shape 5"/>
          <p:cNvSpPr/>
          <p:nvPr/>
        </p:nvSpPr>
        <p:spPr>
          <a:xfrm>
            <a:off x="2194560" y="4261104"/>
            <a:ext cx="457200" cy="0"/>
          </a:xfrm>
          <a:prstGeom prst="line">
            <a:avLst/>
          </a:prstGeom>
          <a:noFill/>
          <a:ln w="9525">
            <a:solidFill>
              <a:srgbClr val="7E6716"/>
            </a:solidFill>
            <a:prstDash val="solid"/>
          </a:ln>
        </p:spPr>
      </p:sp>
      <p:sp>
        <p:nvSpPr>
          <p:cNvPr id="8" name="Shape 6"/>
          <p:cNvSpPr/>
          <p:nvPr/>
        </p:nvSpPr>
        <p:spPr>
          <a:xfrm>
            <a:off x="2651760" y="4215384"/>
            <a:ext cx="0" cy="713232"/>
          </a:xfrm>
          <a:prstGeom prst="line">
            <a:avLst/>
          </a:prstGeom>
          <a:noFill/>
          <a:ln w="9525">
            <a:solidFill>
              <a:srgbClr val="7E6716"/>
            </a:solidFill>
            <a:prstDash val="solid"/>
          </a:ln>
        </p:spPr>
      </p:sp>
      <p:sp>
        <p:nvSpPr>
          <p:cNvPr id="9" name="Shape 7"/>
          <p:cNvSpPr/>
          <p:nvPr/>
        </p:nvSpPr>
        <p:spPr>
          <a:xfrm>
            <a:off x="2971800" y="3977640"/>
            <a:ext cx="1024128" cy="475488"/>
          </a:xfrm>
          <a:prstGeom prst="rect">
            <a:avLst/>
          </a:prstGeom>
          <a:ln w="9525">
            <a:solidFill>
              <a:srgbClr val="2E2A22"/>
            </a:solidFill>
            <a:prstDash val="solid"/>
          </a:ln>
        </p:spPr>
      </p:sp>
      <p:sp>
        <p:nvSpPr>
          <p:cNvPr id="10" name="Text 8"/>
          <p:cNvSpPr txBox="1"/>
          <p:nvPr/>
        </p:nvSpPr>
        <p:spPr>
          <a:xfrm>
            <a:off x="2971800" y="3977640"/>
            <a:ext cx="1024128" cy="475488"/>
          </a:xfrm>
          <a:prstGeom prst="rect">
            <a:avLst/>
          </a:prstGeom>
          <a:noFill/>
          <a:ln/>
        </p:spPr>
        <p:txBody>
          <a:bodyPr wrap="square" lIns="0" tIns="0" rIns="0" bIns="0" rtlCol="0" anchor="ctr"/>
          <a:lstStyle/>
          <a:p>
            <a:pPr algn="ctr" indent="0" marL="0">
              <a:buNone/>
            </a:pPr>
            <a:r>
              <a:rPr lang="en-US" sz="1600" dirty="0">
                <a:solidFill>
                  <a:srgbClr val="8A8378"/>
                </a:solidFill>
                <a:latin typeface="Cambria" pitchFamily="34" charset="0"/>
                <a:ea typeface="Cambria" pitchFamily="34" charset="-122"/>
                <a:cs typeface="Cambria" pitchFamily="34" charset="-120"/>
              </a:rPr>
              <a:t>?</a:t>
            </a:r>
            <a:endParaRPr lang="en-US" sz="1600" dirty="0"/>
          </a:p>
        </p:txBody>
      </p:sp>
      <p:sp>
        <p:nvSpPr>
          <p:cNvPr id="11" name="Shape 9"/>
          <p:cNvSpPr/>
          <p:nvPr/>
        </p:nvSpPr>
        <p:spPr>
          <a:xfrm>
            <a:off x="2651760" y="4215384"/>
            <a:ext cx="320040" cy="0"/>
          </a:xfrm>
          <a:prstGeom prst="line">
            <a:avLst/>
          </a:prstGeom>
          <a:noFill/>
          <a:ln w="9525">
            <a:solidFill>
              <a:srgbClr val="7E6716"/>
            </a:solidFill>
            <a:prstDash val="solid"/>
          </a:ln>
        </p:spPr>
      </p:sp>
      <p:sp>
        <p:nvSpPr>
          <p:cNvPr id="12" name="Shape 10"/>
          <p:cNvSpPr/>
          <p:nvPr/>
        </p:nvSpPr>
        <p:spPr>
          <a:xfrm>
            <a:off x="4178808" y="3977640"/>
            <a:ext cx="1024128" cy="475488"/>
          </a:xfrm>
          <a:prstGeom prst="rect">
            <a:avLst/>
          </a:prstGeom>
          <a:ln w="9525">
            <a:solidFill>
              <a:srgbClr val="2E2A22"/>
            </a:solidFill>
            <a:prstDash val="solid"/>
          </a:ln>
        </p:spPr>
      </p:sp>
      <p:sp>
        <p:nvSpPr>
          <p:cNvPr id="13" name="Text 11"/>
          <p:cNvSpPr txBox="1"/>
          <p:nvPr/>
        </p:nvSpPr>
        <p:spPr>
          <a:xfrm>
            <a:off x="4178808" y="3977640"/>
            <a:ext cx="1024128" cy="475488"/>
          </a:xfrm>
          <a:prstGeom prst="rect">
            <a:avLst/>
          </a:prstGeom>
          <a:noFill/>
          <a:ln/>
        </p:spPr>
        <p:txBody>
          <a:bodyPr wrap="square" lIns="0" tIns="0" rIns="0" bIns="0" rtlCol="0" anchor="ctr"/>
          <a:lstStyle/>
          <a:p>
            <a:pPr algn="ctr" indent="0" marL="0">
              <a:buNone/>
            </a:pPr>
            <a:r>
              <a:rPr lang="en-US" sz="1600" dirty="0">
                <a:solidFill>
                  <a:srgbClr val="8A8378"/>
                </a:solidFill>
                <a:latin typeface="Cambria" pitchFamily="34" charset="0"/>
                <a:ea typeface="Cambria" pitchFamily="34" charset="-122"/>
                <a:cs typeface="Cambria" pitchFamily="34" charset="-120"/>
              </a:rPr>
              <a:t>?</a:t>
            </a:r>
            <a:endParaRPr lang="en-US" sz="1600" dirty="0"/>
          </a:p>
        </p:txBody>
      </p:sp>
      <p:sp>
        <p:nvSpPr>
          <p:cNvPr id="14" name="Shape 12"/>
          <p:cNvSpPr/>
          <p:nvPr/>
        </p:nvSpPr>
        <p:spPr>
          <a:xfrm>
            <a:off x="5385816" y="3977640"/>
            <a:ext cx="1024128" cy="475488"/>
          </a:xfrm>
          <a:prstGeom prst="rect">
            <a:avLst/>
          </a:prstGeom>
          <a:ln w="9525">
            <a:solidFill>
              <a:srgbClr val="2E2A22"/>
            </a:solidFill>
            <a:prstDash val="solid"/>
          </a:ln>
        </p:spPr>
      </p:sp>
      <p:sp>
        <p:nvSpPr>
          <p:cNvPr id="15" name="Text 13"/>
          <p:cNvSpPr txBox="1"/>
          <p:nvPr/>
        </p:nvSpPr>
        <p:spPr>
          <a:xfrm>
            <a:off x="5385816" y="3977640"/>
            <a:ext cx="1024128" cy="475488"/>
          </a:xfrm>
          <a:prstGeom prst="rect">
            <a:avLst/>
          </a:prstGeom>
          <a:noFill/>
          <a:ln/>
        </p:spPr>
        <p:txBody>
          <a:bodyPr wrap="square" lIns="0" tIns="0" rIns="0" bIns="0" rtlCol="0" anchor="ctr"/>
          <a:lstStyle/>
          <a:p>
            <a:pPr algn="ctr" indent="0" marL="0">
              <a:buNone/>
            </a:pPr>
            <a:r>
              <a:rPr lang="en-US" sz="1600" dirty="0">
                <a:solidFill>
                  <a:srgbClr val="8A8378"/>
                </a:solidFill>
                <a:latin typeface="Cambria" pitchFamily="34" charset="0"/>
                <a:ea typeface="Cambria" pitchFamily="34" charset="-122"/>
                <a:cs typeface="Cambria" pitchFamily="34" charset="-120"/>
              </a:rPr>
              <a:t>?</a:t>
            </a:r>
            <a:endParaRPr lang="en-US" sz="1600" dirty="0"/>
          </a:p>
        </p:txBody>
      </p:sp>
      <p:sp>
        <p:nvSpPr>
          <p:cNvPr id="16" name="Shape 14"/>
          <p:cNvSpPr/>
          <p:nvPr/>
        </p:nvSpPr>
        <p:spPr>
          <a:xfrm>
            <a:off x="6592824" y="3977640"/>
            <a:ext cx="1024128" cy="475488"/>
          </a:xfrm>
          <a:prstGeom prst="rect">
            <a:avLst/>
          </a:prstGeom>
          <a:ln w="9525">
            <a:solidFill>
              <a:srgbClr val="2E2A22"/>
            </a:solidFill>
            <a:prstDash val="solid"/>
          </a:ln>
        </p:spPr>
      </p:sp>
      <p:sp>
        <p:nvSpPr>
          <p:cNvPr id="17" name="Text 15"/>
          <p:cNvSpPr txBox="1"/>
          <p:nvPr/>
        </p:nvSpPr>
        <p:spPr>
          <a:xfrm>
            <a:off x="6592824" y="3977640"/>
            <a:ext cx="1024128" cy="475488"/>
          </a:xfrm>
          <a:prstGeom prst="rect">
            <a:avLst/>
          </a:prstGeom>
          <a:noFill/>
          <a:ln/>
        </p:spPr>
        <p:txBody>
          <a:bodyPr wrap="square" lIns="0" tIns="0" rIns="0" bIns="0" rtlCol="0" anchor="ctr"/>
          <a:lstStyle/>
          <a:p>
            <a:pPr algn="ctr" indent="0" marL="0">
              <a:buNone/>
            </a:pPr>
            <a:r>
              <a:rPr lang="en-US" sz="1600" dirty="0">
                <a:solidFill>
                  <a:srgbClr val="8A8378"/>
                </a:solidFill>
                <a:latin typeface="Cambria" pitchFamily="34" charset="0"/>
                <a:ea typeface="Cambria" pitchFamily="34" charset="-122"/>
                <a:cs typeface="Cambria" pitchFamily="34" charset="-120"/>
              </a:rPr>
              <a:t>?</a:t>
            </a:r>
            <a:endParaRPr lang="en-US" sz="1600" dirty="0"/>
          </a:p>
        </p:txBody>
      </p:sp>
      <p:sp>
        <p:nvSpPr>
          <p:cNvPr id="18" name="Shape 16"/>
          <p:cNvSpPr/>
          <p:nvPr/>
        </p:nvSpPr>
        <p:spPr>
          <a:xfrm>
            <a:off x="2971800" y="4690872"/>
            <a:ext cx="1024128" cy="475488"/>
          </a:xfrm>
          <a:prstGeom prst="rect">
            <a:avLst/>
          </a:prstGeom>
          <a:ln w="9525">
            <a:solidFill>
              <a:srgbClr val="2E2A22"/>
            </a:solidFill>
            <a:prstDash val="solid"/>
          </a:ln>
        </p:spPr>
      </p:sp>
      <p:sp>
        <p:nvSpPr>
          <p:cNvPr id="19" name="Text 17"/>
          <p:cNvSpPr txBox="1"/>
          <p:nvPr/>
        </p:nvSpPr>
        <p:spPr>
          <a:xfrm>
            <a:off x="2971800" y="4690872"/>
            <a:ext cx="1024128" cy="475488"/>
          </a:xfrm>
          <a:prstGeom prst="rect">
            <a:avLst/>
          </a:prstGeom>
          <a:noFill/>
          <a:ln/>
        </p:spPr>
        <p:txBody>
          <a:bodyPr wrap="square" lIns="0" tIns="0" rIns="0" bIns="0" rtlCol="0" anchor="ctr"/>
          <a:lstStyle/>
          <a:p>
            <a:pPr algn="ctr" indent="0" marL="0">
              <a:buNone/>
            </a:pPr>
            <a:r>
              <a:rPr lang="en-US" sz="1600" dirty="0">
                <a:solidFill>
                  <a:srgbClr val="8A8378"/>
                </a:solidFill>
                <a:latin typeface="Cambria" pitchFamily="34" charset="0"/>
                <a:ea typeface="Cambria" pitchFamily="34" charset="-122"/>
                <a:cs typeface="Cambria" pitchFamily="34" charset="-120"/>
              </a:rPr>
              <a:t>?</a:t>
            </a:r>
            <a:endParaRPr lang="en-US" sz="1600" dirty="0"/>
          </a:p>
        </p:txBody>
      </p:sp>
      <p:sp>
        <p:nvSpPr>
          <p:cNvPr id="20" name="Shape 18"/>
          <p:cNvSpPr/>
          <p:nvPr/>
        </p:nvSpPr>
        <p:spPr>
          <a:xfrm>
            <a:off x="2651760" y="4928616"/>
            <a:ext cx="320040" cy="0"/>
          </a:xfrm>
          <a:prstGeom prst="line">
            <a:avLst/>
          </a:prstGeom>
          <a:noFill/>
          <a:ln w="9525">
            <a:solidFill>
              <a:srgbClr val="7E6716"/>
            </a:solidFill>
            <a:prstDash val="solid"/>
          </a:ln>
        </p:spPr>
      </p:sp>
      <p:sp>
        <p:nvSpPr>
          <p:cNvPr id="21" name="Shape 19"/>
          <p:cNvSpPr/>
          <p:nvPr/>
        </p:nvSpPr>
        <p:spPr>
          <a:xfrm>
            <a:off x="4178808" y="4690872"/>
            <a:ext cx="1024128" cy="475488"/>
          </a:xfrm>
          <a:prstGeom prst="rect">
            <a:avLst/>
          </a:prstGeom>
          <a:ln w="9525">
            <a:solidFill>
              <a:srgbClr val="2E2A22"/>
            </a:solidFill>
            <a:prstDash val="solid"/>
          </a:ln>
        </p:spPr>
      </p:sp>
      <p:sp>
        <p:nvSpPr>
          <p:cNvPr id="22" name="Text 20"/>
          <p:cNvSpPr txBox="1"/>
          <p:nvPr/>
        </p:nvSpPr>
        <p:spPr>
          <a:xfrm>
            <a:off x="4178808" y="4690872"/>
            <a:ext cx="1024128" cy="475488"/>
          </a:xfrm>
          <a:prstGeom prst="rect">
            <a:avLst/>
          </a:prstGeom>
          <a:noFill/>
          <a:ln/>
        </p:spPr>
        <p:txBody>
          <a:bodyPr wrap="square" lIns="0" tIns="0" rIns="0" bIns="0" rtlCol="0" anchor="ctr"/>
          <a:lstStyle/>
          <a:p>
            <a:pPr algn="ctr" indent="0" marL="0">
              <a:buNone/>
            </a:pPr>
            <a:r>
              <a:rPr lang="en-US" sz="1600" dirty="0">
                <a:solidFill>
                  <a:srgbClr val="8A8378"/>
                </a:solidFill>
                <a:latin typeface="Cambria" pitchFamily="34" charset="0"/>
                <a:ea typeface="Cambria" pitchFamily="34" charset="-122"/>
                <a:cs typeface="Cambria" pitchFamily="34" charset="-120"/>
              </a:rPr>
              <a:t>?</a:t>
            </a:r>
            <a:endParaRPr lang="en-US" sz="1600" dirty="0"/>
          </a:p>
        </p:txBody>
      </p:sp>
      <p:sp>
        <p:nvSpPr>
          <p:cNvPr id="23" name="Shape 21"/>
          <p:cNvSpPr/>
          <p:nvPr/>
        </p:nvSpPr>
        <p:spPr>
          <a:xfrm>
            <a:off x="5385816" y="4690872"/>
            <a:ext cx="1024128" cy="475488"/>
          </a:xfrm>
          <a:prstGeom prst="rect">
            <a:avLst/>
          </a:prstGeom>
          <a:ln w="9525">
            <a:solidFill>
              <a:srgbClr val="2E2A22"/>
            </a:solidFill>
            <a:prstDash val="solid"/>
          </a:ln>
        </p:spPr>
      </p:sp>
      <p:sp>
        <p:nvSpPr>
          <p:cNvPr id="24" name="Text 22"/>
          <p:cNvSpPr txBox="1"/>
          <p:nvPr/>
        </p:nvSpPr>
        <p:spPr>
          <a:xfrm>
            <a:off x="5385816" y="4690872"/>
            <a:ext cx="1024128" cy="475488"/>
          </a:xfrm>
          <a:prstGeom prst="rect">
            <a:avLst/>
          </a:prstGeom>
          <a:noFill/>
          <a:ln/>
        </p:spPr>
        <p:txBody>
          <a:bodyPr wrap="square" lIns="0" tIns="0" rIns="0" bIns="0" rtlCol="0" anchor="ctr"/>
          <a:lstStyle/>
          <a:p>
            <a:pPr algn="ctr" indent="0" marL="0">
              <a:buNone/>
            </a:pPr>
            <a:r>
              <a:rPr lang="en-US" sz="1600" dirty="0">
                <a:solidFill>
                  <a:srgbClr val="8A8378"/>
                </a:solidFill>
                <a:latin typeface="Cambria" pitchFamily="34" charset="0"/>
                <a:ea typeface="Cambria" pitchFamily="34" charset="-122"/>
                <a:cs typeface="Cambria" pitchFamily="34" charset="-120"/>
              </a:rPr>
              <a:t>?</a:t>
            </a:r>
            <a:endParaRPr lang="en-US" sz="1600" dirty="0"/>
          </a:p>
        </p:txBody>
      </p:sp>
      <p:sp>
        <p:nvSpPr>
          <p:cNvPr id="25" name="Shape 23"/>
          <p:cNvSpPr/>
          <p:nvPr/>
        </p:nvSpPr>
        <p:spPr>
          <a:xfrm>
            <a:off x="6592824" y="4690872"/>
            <a:ext cx="1024128" cy="475488"/>
          </a:xfrm>
          <a:prstGeom prst="rect">
            <a:avLst/>
          </a:prstGeom>
          <a:ln w="9525">
            <a:solidFill>
              <a:srgbClr val="2E2A22"/>
            </a:solidFill>
            <a:prstDash val="solid"/>
          </a:ln>
        </p:spPr>
      </p:sp>
      <p:sp>
        <p:nvSpPr>
          <p:cNvPr id="26" name="Text 24"/>
          <p:cNvSpPr txBox="1"/>
          <p:nvPr/>
        </p:nvSpPr>
        <p:spPr>
          <a:xfrm>
            <a:off x="6592824" y="4690872"/>
            <a:ext cx="1024128" cy="475488"/>
          </a:xfrm>
          <a:prstGeom prst="rect">
            <a:avLst/>
          </a:prstGeom>
          <a:noFill/>
          <a:ln/>
        </p:spPr>
        <p:txBody>
          <a:bodyPr wrap="square" lIns="0" tIns="0" rIns="0" bIns="0" rtlCol="0" anchor="ctr"/>
          <a:lstStyle/>
          <a:p>
            <a:pPr algn="ctr" indent="0" marL="0">
              <a:buNone/>
            </a:pPr>
            <a:r>
              <a:rPr lang="en-US" sz="1600" dirty="0">
                <a:solidFill>
                  <a:srgbClr val="8A8378"/>
                </a:solidFill>
                <a:latin typeface="Cambria" pitchFamily="34" charset="0"/>
                <a:ea typeface="Cambria" pitchFamily="34" charset="-122"/>
                <a:cs typeface="Cambria" pitchFamily="34" charset="-120"/>
              </a:rPr>
              <a:t>?</a:t>
            </a:r>
            <a:endParaRPr lang="en-US" sz="1600" dirty="0"/>
          </a:p>
        </p:txBody>
      </p:sp>
      <p:sp>
        <p:nvSpPr>
          <p:cNvPr id="27" name="Text 25"/>
          <p:cNvSpPr txBox="1"/>
          <p:nvPr/>
        </p:nvSpPr>
        <p:spPr>
          <a:xfrm>
            <a:off x="8092440" y="4041648"/>
            <a:ext cx="3200400" cy="822960"/>
          </a:xfrm>
          <a:prstGeom prst="rect">
            <a:avLst/>
          </a:prstGeom>
          <a:noFill/>
          <a:ln/>
        </p:spPr>
        <p:txBody>
          <a:bodyPr wrap="square" lIns="0" tIns="0" rIns="0" bIns="0" rtlCol="0" anchor="ctr"/>
          <a:lstStyle/>
          <a:p>
            <a:pPr indent="0" marL="0">
              <a:lnSpc>
                <a:spcPts val="2000"/>
              </a:lnSpc>
              <a:buNone/>
            </a:pPr>
            <a:r>
              <a:rPr lang="en-US" sz="1400" dirty="0">
                <a:solidFill>
                  <a:srgbClr val="8A8378"/>
                </a:solidFill>
                <a:latin typeface="Calibri" pitchFamily="34" charset="0"/>
                <a:ea typeface="Calibri" pitchFamily="34" charset="-122"/>
                <a:cs typeface="Calibri" pitchFamily="34" charset="-120"/>
              </a:rPr>
              <a:t>Five people. One word.</a:t>
            </a:r>
            <a:endParaRPr lang="en-US" sz="1400" dirty="0"/>
          </a:p>
          <a:p>
            <a:pPr indent="0" marL="0">
              <a:lnSpc>
                <a:spcPts val="2000"/>
              </a:lnSpc>
              <a:buNone/>
            </a:pPr>
            <a:r>
              <a:rPr lang="en-US" sz="1400" dirty="0">
                <a:solidFill>
                  <a:srgbClr val="8A8378"/>
                </a:solidFill>
                <a:latin typeface="Calibri" pitchFamily="34" charset="0"/>
                <a:ea typeface="Calibri" pitchFamily="34" charset="-122"/>
                <a:cs typeface="Calibri" pitchFamily="34" charset="-120"/>
              </a:rPr>
              <a:t>Eight different things.</a:t>
            </a:r>
            <a:endParaRPr lang="en-US" sz="1400" dirty="0"/>
          </a:p>
        </p:txBody>
      </p:sp>
      <p:sp>
        <p:nvSpPr>
          <p:cNvPr id="28" name="Text 26"/>
          <p:cNvSpPr txBox="1"/>
          <p:nvPr/>
        </p:nvSpPr>
        <p:spPr>
          <a:xfrm>
            <a:off x="822960" y="5870448"/>
            <a:ext cx="10515600" cy="640080"/>
          </a:xfrm>
          <a:prstGeom prst="rect">
            <a:avLst/>
          </a:prstGeom>
          <a:noFill/>
          <a:ln/>
        </p:spPr>
        <p:txBody>
          <a:bodyPr wrap="square" lIns="0" tIns="0" rIns="0" bIns="0" rtlCol="0" anchor="ctr"/>
          <a:lstStyle/>
          <a:p>
            <a:pPr indent="0" marL="0">
              <a:lnSpc>
                <a:spcPts val="1800"/>
              </a:lnSpc>
              <a:buNone/>
            </a:pPr>
            <a:r>
              <a:rPr lang="en-US" sz="1250" dirty="0">
                <a:solidFill>
                  <a:srgbClr val="8A8378"/>
                </a:solidFill>
                <a:latin typeface="Calibri" pitchFamily="34" charset="0"/>
                <a:ea typeface="Calibri" pitchFamily="34" charset="-122"/>
                <a:cs typeface="Calibri" pitchFamily="34" charset="-120"/>
              </a:rPr>
              <a:t>Sometimes AI is the answer. Sometimes the answer is better data. Sometimes a better process.</a:t>
            </a:r>
            <a:endParaRPr lang="en-US" sz="1250" dirty="0"/>
          </a:p>
          <a:p>
            <a:pPr indent="0" marL="0">
              <a:lnSpc>
                <a:spcPts val="1800"/>
              </a:lnSpc>
              <a:buNone/>
            </a:pPr>
            <a:r>
              <a:rPr lang="en-US" sz="1250" dirty="0">
                <a:solidFill>
                  <a:srgbClr val="8A8378"/>
                </a:solidFill>
                <a:latin typeface="Calibri" pitchFamily="34" charset="0"/>
                <a:ea typeface="Calibri" pitchFamily="34" charset="-122"/>
                <a:cs typeface="Calibri" pitchFamily="34" charset="-120"/>
              </a:rPr>
              <a:t>And occasionally the answer is simply agreeing on what a word means before we ask a machine to interpret it.</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22960" y="713232"/>
            <a:ext cx="8229600" cy="219456"/>
          </a:xfrm>
          <a:prstGeom prst="rect">
            <a:avLst/>
          </a:prstGeom>
          <a:noFill/>
          <a:ln/>
        </p:spPr>
        <p:txBody>
          <a:bodyPr wrap="square" lIns="0" tIns="0" rIns="0" bIns="0" rtlCol="0" anchor="ctr"/>
          <a:lstStyle/>
          <a:p>
            <a:pPr algn="l" indent="0" marL="0">
              <a:buNone/>
            </a:pPr>
            <a:r>
              <a:rPr lang="en-US" sz="900" spc="160" kern="0" dirty="0">
                <a:solidFill>
                  <a:srgbClr val="8A8378"/>
                </a:solidFill>
                <a:latin typeface="Courier New" pitchFamily="34" charset="0"/>
                <a:ea typeface="Courier New" pitchFamily="34" charset="-122"/>
                <a:cs typeface="Courier New" pitchFamily="34" charset="-120"/>
              </a:rPr>
              <a:t>06   ·   ONE AGENT PROJECT I SAW</a:t>
            </a:r>
            <a:endParaRPr lang="en-US" sz="900" dirty="0"/>
          </a:p>
        </p:txBody>
      </p:sp>
      <p:sp>
        <p:nvSpPr>
          <p:cNvPr id="3" name="Text 1"/>
          <p:cNvSpPr txBox="1"/>
          <p:nvPr/>
        </p:nvSpPr>
        <p:spPr>
          <a:xfrm>
            <a:off x="822960" y="1170432"/>
            <a:ext cx="9692640" cy="548640"/>
          </a:xfrm>
          <a:prstGeom prst="rect">
            <a:avLst/>
          </a:prstGeom>
          <a:noFill/>
          <a:ln/>
        </p:spPr>
        <p:txBody>
          <a:bodyPr wrap="square" lIns="0" tIns="0" rIns="0" bIns="0" rtlCol="0" anchor="ctr"/>
          <a:lstStyle/>
          <a:p>
            <a:pPr indent="0" marL="0">
              <a:buNone/>
            </a:pPr>
            <a:r>
              <a:rPr lang="en-US" sz="3000" dirty="0">
                <a:solidFill>
                  <a:srgbClr val="EAE4DA"/>
                </a:solidFill>
                <a:latin typeface="Cambria" pitchFamily="34" charset="0"/>
                <a:ea typeface="Cambria" pitchFamily="34" charset="-122"/>
                <a:cs typeface="Cambria" pitchFamily="34" charset="-120"/>
              </a:rPr>
              <a:t>Ten thousand documents went in.</a:t>
            </a:r>
            <a:endParaRPr lang="en-US" sz="3000" dirty="0"/>
          </a:p>
        </p:txBody>
      </p:sp>
      <p:sp>
        <p:nvSpPr>
          <p:cNvPr id="4" name="Text 2"/>
          <p:cNvSpPr txBox="1"/>
          <p:nvPr/>
        </p:nvSpPr>
        <p:spPr>
          <a:xfrm>
            <a:off x="822960" y="1719072"/>
            <a:ext cx="9692640" cy="603504"/>
          </a:xfrm>
          <a:prstGeom prst="rect">
            <a:avLst/>
          </a:prstGeom>
          <a:noFill/>
          <a:ln/>
        </p:spPr>
        <p:txBody>
          <a:bodyPr wrap="square" lIns="0" tIns="0" rIns="0" bIns="0" rtlCol="0" anchor="ctr"/>
          <a:lstStyle/>
          <a:p>
            <a:pPr indent="0" marL="0">
              <a:buNone/>
            </a:pPr>
            <a:r>
              <a:rPr lang="en-US" sz="3000" b="1" dirty="0">
                <a:solidFill>
                  <a:srgbClr val="C9A227"/>
                </a:solidFill>
                <a:latin typeface="Cambria" pitchFamily="34" charset="0"/>
                <a:ea typeface="Cambria" pitchFamily="34" charset="-122"/>
                <a:cs typeface="Cambria" pitchFamily="34" charset="-120"/>
              </a:rPr>
              <a:t>Roughly two thousand were actually relevant.</a:t>
            </a:r>
            <a:endParaRPr lang="en-US" sz="3000" dirty="0"/>
          </a:p>
        </p:txBody>
      </p:sp>
      <p:sp>
        <p:nvSpPr>
          <p:cNvPr id="5" name="Shape 3"/>
          <p:cNvSpPr/>
          <p:nvPr/>
        </p:nvSpPr>
        <p:spPr>
          <a:xfrm>
            <a:off x="902970" y="3006090"/>
            <a:ext cx="114300" cy="114300"/>
          </a:xfrm>
          <a:prstGeom prst="ellipse">
            <a:avLst/>
          </a:prstGeom>
          <a:solidFill>
            <a:srgbClr val="302C26"/>
          </a:solidFill>
          <a:ln/>
        </p:spPr>
      </p:sp>
      <p:sp>
        <p:nvSpPr>
          <p:cNvPr id="6" name="Shape 4"/>
          <p:cNvSpPr/>
          <p:nvPr/>
        </p:nvSpPr>
        <p:spPr>
          <a:xfrm>
            <a:off x="1177290" y="3006090"/>
            <a:ext cx="114300" cy="114300"/>
          </a:xfrm>
          <a:prstGeom prst="ellipse">
            <a:avLst/>
          </a:prstGeom>
          <a:solidFill>
            <a:srgbClr val="302C26"/>
          </a:solidFill>
          <a:ln/>
        </p:spPr>
      </p:sp>
      <p:sp>
        <p:nvSpPr>
          <p:cNvPr id="7" name="Shape 5"/>
          <p:cNvSpPr/>
          <p:nvPr/>
        </p:nvSpPr>
        <p:spPr>
          <a:xfrm>
            <a:off x="1435608" y="2990088"/>
            <a:ext cx="146304" cy="146304"/>
          </a:xfrm>
          <a:prstGeom prst="ellipse">
            <a:avLst/>
          </a:prstGeom>
          <a:solidFill>
            <a:srgbClr val="C9A227"/>
          </a:solidFill>
          <a:ln/>
        </p:spPr>
      </p:sp>
      <p:sp>
        <p:nvSpPr>
          <p:cNvPr id="8" name="Shape 6"/>
          <p:cNvSpPr/>
          <p:nvPr/>
        </p:nvSpPr>
        <p:spPr>
          <a:xfrm>
            <a:off x="1725930" y="3006090"/>
            <a:ext cx="114300" cy="114300"/>
          </a:xfrm>
          <a:prstGeom prst="ellipse">
            <a:avLst/>
          </a:prstGeom>
          <a:solidFill>
            <a:srgbClr val="302C26"/>
          </a:solidFill>
          <a:ln/>
        </p:spPr>
      </p:sp>
      <p:sp>
        <p:nvSpPr>
          <p:cNvPr id="9" name="Shape 7"/>
          <p:cNvSpPr/>
          <p:nvPr/>
        </p:nvSpPr>
        <p:spPr>
          <a:xfrm>
            <a:off x="2000250" y="3006090"/>
            <a:ext cx="114300" cy="114300"/>
          </a:xfrm>
          <a:prstGeom prst="ellipse">
            <a:avLst/>
          </a:prstGeom>
          <a:solidFill>
            <a:srgbClr val="302C26"/>
          </a:solidFill>
          <a:ln/>
        </p:spPr>
      </p:sp>
      <p:sp>
        <p:nvSpPr>
          <p:cNvPr id="10" name="Shape 8"/>
          <p:cNvSpPr/>
          <p:nvPr/>
        </p:nvSpPr>
        <p:spPr>
          <a:xfrm>
            <a:off x="2274570" y="3006090"/>
            <a:ext cx="114300" cy="114300"/>
          </a:xfrm>
          <a:prstGeom prst="ellipse">
            <a:avLst/>
          </a:prstGeom>
          <a:solidFill>
            <a:srgbClr val="302C26"/>
          </a:solidFill>
          <a:ln/>
        </p:spPr>
      </p:sp>
      <p:sp>
        <p:nvSpPr>
          <p:cNvPr id="11" name="Shape 9"/>
          <p:cNvSpPr/>
          <p:nvPr/>
        </p:nvSpPr>
        <p:spPr>
          <a:xfrm>
            <a:off x="2548890" y="3006090"/>
            <a:ext cx="114300" cy="114300"/>
          </a:xfrm>
          <a:prstGeom prst="ellipse">
            <a:avLst/>
          </a:prstGeom>
          <a:solidFill>
            <a:srgbClr val="302C26"/>
          </a:solidFill>
          <a:ln/>
        </p:spPr>
      </p:sp>
      <p:sp>
        <p:nvSpPr>
          <p:cNvPr id="12" name="Shape 10"/>
          <p:cNvSpPr/>
          <p:nvPr/>
        </p:nvSpPr>
        <p:spPr>
          <a:xfrm>
            <a:off x="2807208" y="2990088"/>
            <a:ext cx="146304" cy="146304"/>
          </a:xfrm>
          <a:prstGeom prst="ellipse">
            <a:avLst/>
          </a:prstGeom>
          <a:solidFill>
            <a:srgbClr val="C9A227"/>
          </a:solidFill>
          <a:ln/>
        </p:spPr>
      </p:sp>
      <p:sp>
        <p:nvSpPr>
          <p:cNvPr id="13" name="Shape 11"/>
          <p:cNvSpPr/>
          <p:nvPr/>
        </p:nvSpPr>
        <p:spPr>
          <a:xfrm>
            <a:off x="3097530" y="3006090"/>
            <a:ext cx="114300" cy="114300"/>
          </a:xfrm>
          <a:prstGeom prst="ellipse">
            <a:avLst/>
          </a:prstGeom>
          <a:solidFill>
            <a:srgbClr val="302C26"/>
          </a:solidFill>
          <a:ln/>
        </p:spPr>
      </p:sp>
      <p:sp>
        <p:nvSpPr>
          <p:cNvPr id="14" name="Shape 12"/>
          <p:cNvSpPr/>
          <p:nvPr/>
        </p:nvSpPr>
        <p:spPr>
          <a:xfrm>
            <a:off x="3371850" y="3006090"/>
            <a:ext cx="114300" cy="114300"/>
          </a:xfrm>
          <a:prstGeom prst="ellipse">
            <a:avLst/>
          </a:prstGeom>
          <a:solidFill>
            <a:srgbClr val="302C26"/>
          </a:solidFill>
          <a:ln/>
        </p:spPr>
      </p:sp>
      <p:sp>
        <p:nvSpPr>
          <p:cNvPr id="15" name="Shape 13"/>
          <p:cNvSpPr/>
          <p:nvPr/>
        </p:nvSpPr>
        <p:spPr>
          <a:xfrm>
            <a:off x="3646170" y="3006090"/>
            <a:ext cx="114300" cy="114300"/>
          </a:xfrm>
          <a:prstGeom prst="ellipse">
            <a:avLst/>
          </a:prstGeom>
          <a:solidFill>
            <a:srgbClr val="302C26"/>
          </a:solidFill>
          <a:ln/>
        </p:spPr>
      </p:sp>
      <p:sp>
        <p:nvSpPr>
          <p:cNvPr id="16" name="Shape 14"/>
          <p:cNvSpPr/>
          <p:nvPr/>
        </p:nvSpPr>
        <p:spPr>
          <a:xfrm>
            <a:off x="3920490" y="3006090"/>
            <a:ext cx="114300" cy="114300"/>
          </a:xfrm>
          <a:prstGeom prst="ellipse">
            <a:avLst/>
          </a:prstGeom>
          <a:solidFill>
            <a:srgbClr val="302C26"/>
          </a:solidFill>
          <a:ln/>
        </p:spPr>
      </p:sp>
      <p:sp>
        <p:nvSpPr>
          <p:cNvPr id="17" name="Shape 15"/>
          <p:cNvSpPr/>
          <p:nvPr/>
        </p:nvSpPr>
        <p:spPr>
          <a:xfrm>
            <a:off x="4194810" y="3006090"/>
            <a:ext cx="114300" cy="114300"/>
          </a:xfrm>
          <a:prstGeom prst="ellipse">
            <a:avLst/>
          </a:prstGeom>
          <a:solidFill>
            <a:srgbClr val="302C26"/>
          </a:solidFill>
          <a:ln/>
        </p:spPr>
      </p:sp>
      <p:sp>
        <p:nvSpPr>
          <p:cNvPr id="18" name="Shape 16"/>
          <p:cNvSpPr/>
          <p:nvPr/>
        </p:nvSpPr>
        <p:spPr>
          <a:xfrm>
            <a:off x="4453128" y="2990088"/>
            <a:ext cx="146304" cy="146304"/>
          </a:xfrm>
          <a:prstGeom prst="ellipse">
            <a:avLst/>
          </a:prstGeom>
          <a:solidFill>
            <a:srgbClr val="C9A227"/>
          </a:solidFill>
          <a:ln/>
        </p:spPr>
      </p:sp>
      <p:sp>
        <p:nvSpPr>
          <p:cNvPr id="19" name="Shape 17"/>
          <p:cNvSpPr/>
          <p:nvPr/>
        </p:nvSpPr>
        <p:spPr>
          <a:xfrm>
            <a:off x="4743450" y="3006090"/>
            <a:ext cx="114300" cy="114300"/>
          </a:xfrm>
          <a:prstGeom prst="ellipse">
            <a:avLst/>
          </a:prstGeom>
          <a:solidFill>
            <a:srgbClr val="302C26"/>
          </a:solidFill>
          <a:ln/>
        </p:spPr>
      </p:sp>
      <p:sp>
        <p:nvSpPr>
          <p:cNvPr id="20" name="Shape 18"/>
          <p:cNvSpPr/>
          <p:nvPr/>
        </p:nvSpPr>
        <p:spPr>
          <a:xfrm>
            <a:off x="5017770" y="3006090"/>
            <a:ext cx="114300" cy="114300"/>
          </a:xfrm>
          <a:prstGeom prst="ellipse">
            <a:avLst/>
          </a:prstGeom>
          <a:solidFill>
            <a:srgbClr val="302C26"/>
          </a:solidFill>
          <a:ln/>
        </p:spPr>
      </p:sp>
      <p:sp>
        <p:nvSpPr>
          <p:cNvPr id="21" name="Shape 19"/>
          <p:cNvSpPr/>
          <p:nvPr/>
        </p:nvSpPr>
        <p:spPr>
          <a:xfrm>
            <a:off x="5292090" y="3006090"/>
            <a:ext cx="114300" cy="114300"/>
          </a:xfrm>
          <a:prstGeom prst="ellipse">
            <a:avLst/>
          </a:prstGeom>
          <a:solidFill>
            <a:srgbClr val="302C26"/>
          </a:solidFill>
          <a:ln/>
        </p:spPr>
      </p:sp>
      <p:sp>
        <p:nvSpPr>
          <p:cNvPr id="22" name="Shape 20"/>
          <p:cNvSpPr/>
          <p:nvPr/>
        </p:nvSpPr>
        <p:spPr>
          <a:xfrm>
            <a:off x="5566410" y="3006090"/>
            <a:ext cx="114300" cy="114300"/>
          </a:xfrm>
          <a:prstGeom prst="ellipse">
            <a:avLst/>
          </a:prstGeom>
          <a:solidFill>
            <a:srgbClr val="302C26"/>
          </a:solidFill>
          <a:ln/>
        </p:spPr>
      </p:sp>
      <p:sp>
        <p:nvSpPr>
          <p:cNvPr id="23" name="Shape 21"/>
          <p:cNvSpPr/>
          <p:nvPr/>
        </p:nvSpPr>
        <p:spPr>
          <a:xfrm>
            <a:off x="5840730" y="3006090"/>
            <a:ext cx="114300" cy="114300"/>
          </a:xfrm>
          <a:prstGeom prst="ellipse">
            <a:avLst/>
          </a:prstGeom>
          <a:solidFill>
            <a:srgbClr val="302C26"/>
          </a:solidFill>
          <a:ln/>
        </p:spPr>
      </p:sp>
      <p:sp>
        <p:nvSpPr>
          <p:cNvPr id="24" name="Shape 22"/>
          <p:cNvSpPr/>
          <p:nvPr/>
        </p:nvSpPr>
        <p:spPr>
          <a:xfrm>
            <a:off x="6099048" y="2990088"/>
            <a:ext cx="146304" cy="146304"/>
          </a:xfrm>
          <a:prstGeom prst="ellipse">
            <a:avLst/>
          </a:prstGeom>
          <a:solidFill>
            <a:srgbClr val="C9A227"/>
          </a:solidFill>
          <a:ln/>
        </p:spPr>
      </p:sp>
      <p:sp>
        <p:nvSpPr>
          <p:cNvPr id="25" name="Shape 23"/>
          <p:cNvSpPr/>
          <p:nvPr/>
        </p:nvSpPr>
        <p:spPr>
          <a:xfrm>
            <a:off x="902970" y="3280410"/>
            <a:ext cx="114300" cy="114300"/>
          </a:xfrm>
          <a:prstGeom prst="ellipse">
            <a:avLst/>
          </a:prstGeom>
          <a:solidFill>
            <a:srgbClr val="302C26"/>
          </a:solidFill>
          <a:ln/>
        </p:spPr>
      </p:sp>
      <p:sp>
        <p:nvSpPr>
          <p:cNvPr id="26" name="Shape 24"/>
          <p:cNvSpPr/>
          <p:nvPr/>
        </p:nvSpPr>
        <p:spPr>
          <a:xfrm>
            <a:off x="1177290" y="3280410"/>
            <a:ext cx="114300" cy="114300"/>
          </a:xfrm>
          <a:prstGeom prst="ellipse">
            <a:avLst/>
          </a:prstGeom>
          <a:solidFill>
            <a:srgbClr val="302C26"/>
          </a:solidFill>
          <a:ln/>
        </p:spPr>
      </p:sp>
      <p:sp>
        <p:nvSpPr>
          <p:cNvPr id="27" name="Shape 25"/>
          <p:cNvSpPr/>
          <p:nvPr/>
        </p:nvSpPr>
        <p:spPr>
          <a:xfrm>
            <a:off x="1451610" y="3280410"/>
            <a:ext cx="114300" cy="114300"/>
          </a:xfrm>
          <a:prstGeom prst="ellipse">
            <a:avLst/>
          </a:prstGeom>
          <a:solidFill>
            <a:srgbClr val="302C26"/>
          </a:solidFill>
          <a:ln/>
        </p:spPr>
      </p:sp>
      <p:sp>
        <p:nvSpPr>
          <p:cNvPr id="28" name="Shape 26"/>
          <p:cNvSpPr/>
          <p:nvPr/>
        </p:nvSpPr>
        <p:spPr>
          <a:xfrm>
            <a:off x="1725930" y="3280410"/>
            <a:ext cx="114300" cy="114300"/>
          </a:xfrm>
          <a:prstGeom prst="ellipse">
            <a:avLst/>
          </a:prstGeom>
          <a:solidFill>
            <a:srgbClr val="302C26"/>
          </a:solidFill>
          <a:ln/>
        </p:spPr>
      </p:sp>
      <p:sp>
        <p:nvSpPr>
          <p:cNvPr id="29" name="Shape 27"/>
          <p:cNvSpPr/>
          <p:nvPr/>
        </p:nvSpPr>
        <p:spPr>
          <a:xfrm>
            <a:off x="1984248" y="3264408"/>
            <a:ext cx="146304" cy="146304"/>
          </a:xfrm>
          <a:prstGeom prst="ellipse">
            <a:avLst/>
          </a:prstGeom>
          <a:solidFill>
            <a:srgbClr val="C9A227"/>
          </a:solidFill>
          <a:ln/>
        </p:spPr>
      </p:sp>
      <p:sp>
        <p:nvSpPr>
          <p:cNvPr id="30" name="Shape 28"/>
          <p:cNvSpPr/>
          <p:nvPr/>
        </p:nvSpPr>
        <p:spPr>
          <a:xfrm>
            <a:off x="2274570" y="3280410"/>
            <a:ext cx="114300" cy="114300"/>
          </a:xfrm>
          <a:prstGeom prst="ellipse">
            <a:avLst/>
          </a:prstGeom>
          <a:solidFill>
            <a:srgbClr val="302C26"/>
          </a:solidFill>
          <a:ln/>
        </p:spPr>
      </p:sp>
      <p:sp>
        <p:nvSpPr>
          <p:cNvPr id="31" name="Shape 29"/>
          <p:cNvSpPr/>
          <p:nvPr/>
        </p:nvSpPr>
        <p:spPr>
          <a:xfrm>
            <a:off x="2548890" y="3280410"/>
            <a:ext cx="114300" cy="114300"/>
          </a:xfrm>
          <a:prstGeom prst="ellipse">
            <a:avLst/>
          </a:prstGeom>
          <a:solidFill>
            <a:srgbClr val="302C26"/>
          </a:solidFill>
          <a:ln/>
        </p:spPr>
      </p:sp>
      <p:sp>
        <p:nvSpPr>
          <p:cNvPr id="32" name="Shape 30"/>
          <p:cNvSpPr/>
          <p:nvPr/>
        </p:nvSpPr>
        <p:spPr>
          <a:xfrm>
            <a:off x="2823210" y="3280410"/>
            <a:ext cx="114300" cy="114300"/>
          </a:xfrm>
          <a:prstGeom prst="ellipse">
            <a:avLst/>
          </a:prstGeom>
          <a:solidFill>
            <a:srgbClr val="302C26"/>
          </a:solidFill>
          <a:ln/>
        </p:spPr>
      </p:sp>
      <p:sp>
        <p:nvSpPr>
          <p:cNvPr id="33" name="Shape 31"/>
          <p:cNvSpPr/>
          <p:nvPr/>
        </p:nvSpPr>
        <p:spPr>
          <a:xfrm>
            <a:off x="3081528" y="3264408"/>
            <a:ext cx="146304" cy="146304"/>
          </a:xfrm>
          <a:prstGeom prst="ellipse">
            <a:avLst/>
          </a:prstGeom>
          <a:solidFill>
            <a:srgbClr val="C9A227"/>
          </a:solidFill>
          <a:ln/>
        </p:spPr>
      </p:sp>
      <p:sp>
        <p:nvSpPr>
          <p:cNvPr id="34" name="Shape 32"/>
          <p:cNvSpPr/>
          <p:nvPr/>
        </p:nvSpPr>
        <p:spPr>
          <a:xfrm>
            <a:off x="3371850" y="3280410"/>
            <a:ext cx="114300" cy="114300"/>
          </a:xfrm>
          <a:prstGeom prst="ellipse">
            <a:avLst/>
          </a:prstGeom>
          <a:solidFill>
            <a:srgbClr val="302C26"/>
          </a:solidFill>
          <a:ln/>
        </p:spPr>
      </p:sp>
      <p:sp>
        <p:nvSpPr>
          <p:cNvPr id="35" name="Shape 33"/>
          <p:cNvSpPr/>
          <p:nvPr/>
        </p:nvSpPr>
        <p:spPr>
          <a:xfrm>
            <a:off x="3646170" y="3280410"/>
            <a:ext cx="114300" cy="114300"/>
          </a:xfrm>
          <a:prstGeom prst="ellipse">
            <a:avLst/>
          </a:prstGeom>
          <a:solidFill>
            <a:srgbClr val="302C26"/>
          </a:solidFill>
          <a:ln/>
        </p:spPr>
      </p:sp>
      <p:sp>
        <p:nvSpPr>
          <p:cNvPr id="36" name="Shape 34"/>
          <p:cNvSpPr/>
          <p:nvPr/>
        </p:nvSpPr>
        <p:spPr>
          <a:xfrm>
            <a:off x="3920490" y="3280410"/>
            <a:ext cx="114300" cy="114300"/>
          </a:xfrm>
          <a:prstGeom prst="ellipse">
            <a:avLst/>
          </a:prstGeom>
          <a:solidFill>
            <a:srgbClr val="302C26"/>
          </a:solidFill>
          <a:ln/>
        </p:spPr>
      </p:sp>
      <p:sp>
        <p:nvSpPr>
          <p:cNvPr id="37" name="Shape 35"/>
          <p:cNvSpPr/>
          <p:nvPr/>
        </p:nvSpPr>
        <p:spPr>
          <a:xfrm>
            <a:off x="4194810" y="3280410"/>
            <a:ext cx="114300" cy="114300"/>
          </a:xfrm>
          <a:prstGeom prst="ellipse">
            <a:avLst/>
          </a:prstGeom>
          <a:solidFill>
            <a:srgbClr val="302C26"/>
          </a:solidFill>
          <a:ln/>
        </p:spPr>
      </p:sp>
      <p:sp>
        <p:nvSpPr>
          <p:cNvPr id="38" name="Shape 36"/>
          <p:cNvSpPr/>
          <p:nvPr/>
        </p:nvSpPr>
        <p:spPr>
          <a:xfrm>
            <a:off x="4453128" y="3264408"/>
            <a:ext cx="146304" cy="146304"/>
          </a:xfrm>
          <a:prstGeom prst="ellipse">
            <a:avLst/>
          </a:prstGeom>
          <a:solidFill>
            <a:srgbClr val="C9A227"/>
          </a:solidFill>
          <a:ln/>
        </p:spPr>
      </p:sp>
      <p:sp>
        <p:nvSpPr>
          <p:cNvPr id="39" name="Shape 37"/>
          <p:cNvSpPr/>
          <p:nvPr/>
        </p:nvSpPr>
        <p:spPr>
          <a:xfrm>
            <a:off x="4743450" y="3280410"/>
            <a:ext cx="114300" cy="114300"/>
          </a:xfrm>
          <a:prstGeom prst="ellipse">
            <a:avLst/>
          </a:prstGeom>
          <a:solidFill>
            <a:srgbClr val="302C26"/>
          </a:solidFill>
          <a:ln/>
        </p:spPr>
      </p:sp>
      <p:sp>
        <p:nvSpPr>
          <p:cNvPr id="40" name="Shape 38"/>
          <p:cNvSpPr/>
          <p:nvPr/>
        </p:nvSpPr>
        <p:spPr>
          <a:xfrm>
            <a:off x="5017770" y="3280410"/>
            <a:ext cx="114300" cy="114300"/>
          </a:xfrm>
          <a:prstGeom prst="ellipse">
            <a:avLst/>
          </a:prstGeom>
          <a:solidFill>
            <a:srgbClr val="302C26"/>
          </a:solidFill>
          <a:ln/>
        </p:spPr>
      </p:sp>
      <p:sp>
        <p:nvSpPr>
          <p:cNvPr id="41" name="Shape 39"/>
          <p:cNvSpPr/>
          <p:nvPr/>
        </p:nvSpPr>
        <p:spPr>
          <a:xfrm>
            <a:off x="5292090" y="3280410"/>
            <a:ext cx="114300" cy="114300"/>
          </a:xfrm>
          <a:prstGeom prst="ellipse">
            <a:avLst/>
          </a:prstGeom>
          <a:solidFill>
            <a:srgbClr val="302C26"/>
          </a:solidFill>
          <a:ln/>
        </p:spPr>
      </p:sp>
      <p:sp>
        <p:nvSpPr>
          <p:cNvPr id="42" name="Shape 40"/>
          <p:cNvSpPr/>
          <p:nvPr/>
        </p:nvSpPr>
        <p:spPr>
          <a:xfrm>
            <a:off x="5566410" y="3280410"/>
            <a:ext cx="114300" cy="114300"/>
          </a:xfrm>
          <a:prstGeom prst="ellipse">
            <a:avLst/>
          </a:prstGeom>
          <a:solidFill>
            <a:srgbClr val="302C26"/>
          </a:solidFill>
          <a:ln/>
        </p:spPr>
      </p:sp>
      <p:sp>
        <p:nvSpPr>
          <p:cNvPr id="43" name="Shape 41"/>
          <p:cNvSpPr/>
          <p:nvPr/>
        </p:nvSpPr>
        <p:spPr>
          <a:xfrm>
            <a:off x="5840730" y="3280410"/>
            <a:ext cx="114300" cy="114300"/>
          </a:xfrm>
          <a:prstGeom prst="ellipse">
            <a:avLst/>
          </a:prstGeom>
          <a:solidFill>
            <a:srgbClr val="302C26"/>
          </a:solidFill>
          <a:ln/>
        </p:spPr>
      </p:sp>
      <p:sp>
        <p:nvSpPr>
          <p:cNvPr id="44" name="Shape 42"/>
          <p:cNvSpPr/>
          <p:nvPr/>
        </p:nvSpPr>
        <p:spPr>
          <a:xfrm>
            <a:off x="6099048" y="3264408"/>
            <a:ext cx="146304" cy="146304"/>
          </a:xfrm>
          <a:prstGeom prst="ellipse">
            <a:avLst/>
          </a:prstGeom>
          <a:solidFill>
            <a:srgbClr val="C9A227"/>
          </a:solidFill>
          <a:ln/>
        </p:spPr>
      </p:sp>
      <p:sp>
        <p:nvSpPr>
          <p:cNvPr id="45" name="Shape 43"/>
          <p:cNvSpPr/>
          <p:nvPr/>
        </p:nvSpPr>
        <p:spPr>
          <a:xfrm>
            <a:off x="902970" y="3554730"/>
            <a:ext cx="114300" cy="114300"/>
          </a:xfrm>
          <a:prstGeom prst="ellipse">
            <a:avLst/>
          </a:prstGeom>
          <a:solidFill>
            <a:srgbClr val="302C26"/>
          </a:solidFill>
          <a:ln/>
        </p:spPr>
      </p:sp>
      <p:sp>
        <p:nvSpPr>
          <p:cNvPr id="46" name="Shape 44"/>
          <p:cNvSpPr/>
          <p:nvPr/>
        </p:nvSpPr>
        <p:spPr>
          <a:xfrm>
            <a:off x="1161288" y="3538728"/>
            <a:ext cx="146304" cy="146304"/>
          </a:xfrm>
          <a:prstGeom prst="ellipse">
            <a:avLst/>
          </a:prstGeom>
          <a:solidFill>
            <a:srgbClr val="C9A227"/>
          </a:solidFill>
          <a:ln/>
        </p:spPr>
      </p:sp>
      <p:sp>
        <p:nvSpPr>
          <p:cNvPr id="47" name="Shape 45"/>
          <p:cNvSpPr/>
          <p:nvPr/>
        </p:nvSpPr>
        <p:spPr>
          <a:xfrm>
            <a:off x="1451610" y="3554730"/>
            <a:ext cx="114300" cy="114300"/>
          </a:xfrm>
          <a:prstGeom prst="ellipse">
            <a:avLst/>
          </a:prstGeom>
          <a:solidFill>
            <a:srgbClr val="302C26"/>
          </a:solidFill>
          <a:ln/>
        </p:spPr>
      </p:sp>
      <p:sp>
        <p:nvSpPr>
          <p:cNvPr id="48" name="Shape 46"/>
          <p:cNvSpPr/>
          <p:nvPr/>
        </p:nvSpPr>
        <p:spPr>
          <a:xfrm>
            <a:off x="1725930" y="3554730"/>
            <a:ext cx="114300" cy="114300"/>
          </a:xfrm>
          <a:prstGeom prst="ellipse">
            <a:avLst/>
          </a:prstGeom>
          <a:solidFill>
            <a:srgbClr val="302C26"/>
          </a:solidFill>
          <a:ln/>
        </p:spPr>
      </p:sp>
      <p:sp>
        <p:nvSpPr>
          <p:cNvPr id="49" name="Shape 47"/>
          <p:cNvSpPr/>
          <p:nvPr/>
        </p:nvSpPr>
        <p:spPr>
          <a:xfrm>
            <a:off x="2000250" y="3554730"/>
            <a:ext cx="114300" cy="114300"/>
          </a:xfrm>
          <a:prstGeom prst="ellipse">
            <a:avLst/>
          </a:prstGeom>
          <a:solidFill>
            <a:srgbClr val="302C26"/>
          </a:solidFill>
          <a:ln/>
        </p:spPr>
      </p:sp>
      <p:sp>
        <p:nvSpPr>
          <p:cNvPr id="50" name="Shape 48"/>
          <p:cNvSpPr/>
          <p:nvPr/>
        </p:nvSpPr>
        <p:spPr>
          <a:xfrm>
            <a:off x="2274570" y="3554730"/>
            <a:ext cx="114300" cy="114300"/>
          </a:xfrm>
          <a:prstGeom prst="ellipse">
            <a:avLst/>
          </a:prstGeom>
          <a:solidFill>
            <a:srgbClr val="302C26"/>
          </a:solidFill>
          <a:ln/>
        </p:spPr>
      </p:sp>
      <p:sp>
        <p:nvSpPr>
          <p:cNvPr id="51" name="Shape 49"/>
          <p:cNvSpPr/>
          <p:nvPr/>
        </p:nvSpPr>
        <p:spPr>
          <a:xfrm>
            <a:off x="2548890" y="3554730"/>
            <a:ext cx="114300" cy="114300"/>
          </a:xfrm>
          <a:prstGeom prst="ellipse">
            <a:avLst/>
          </a:prstGeom>
          <a:solidFill>
            <a:srgbClr val="302C26"/>
          </a:solidFill>
          <a:ln/>
        </p:spPr>
      </p:sp>
      <p:sp>
        <p:nvSpPr>
          <p:cNvPr id="52" name="Shape 50"/>
          <p:cNvSpPr/>
          <p:nvPr/>
        </p:nvSpPr>
        <p:spPr>
          <a:xfrm>
            <a:off x="2807208" y="3538728"/>
            <a:ext cx="146304" cy="146304"/>
          </a:xfrm>
          <a:prstGeom prst="ellipse">
            <a:avLst/>
          </a:prstGeom>
          <a:solidFill>
            <a:srgbClr val="C9A227"/>
          </a:solidFill>
          <a:ln/>
        </p:spPr>
      </p:sp>
      <p:sp>
        <p:nvSpPr>
          <p:cNvPr id="53" name="Shape 51"/>
          <p:cNvSpPr/>
          <p:nvPr/>
        </p:nvSpPr>
        <p:spPr>
          <a:xfrm>
            <a:off x="3097530" y="3554730"/>
            <a:ext cx="114300" cy="114300"/>
          </a:xfrm>
          <a:prstGeom prst="ellipse">
            <a:avLst/>
          </a:prstGeom>
          <a:solidFill>
            <a:srgbClr val="302C26"/>
          </a:solidFill>
          <a:ln/>
        </p:spPr>
      </p:sp>
      <p:sp>
        <p:nvSpPr>
          <p:cNvPr id="54" name="Shape 52"/>
          <p:cNvSpPr/>
          <p:nvPr/>
        </p:nvSpPr>
        <p:spPr>
          <a:xfrm>
            <a:off x="3371850" y="3554730"/>
            <a:ext cx="114300" cy="114300"/>
          </a:xfrm>
          <a:prstGeom prst="ellipse">
            <a:avLst/>
          </a:prstGeom>
          <a:solidFill>
            <a:srgbClr val="302C26"/>
          </a:solidFill>
          <a:ln/>
        </p:spPr>
      </p:sp>
      <p:sp>
        <p:nvSpPr>
          <p:cNvPr id="55" name="Shape 53"/>
          <p:cNvSpPr/>
          <p:nvPr/>
        </p:nvSpPr>
        <p:spPr>
          <a:xfrm>
            <a:off x="3646170" y="3554730"/>
            <a:ext cx="114300" cy="114300"/>
          </a:xfrm>
          <a:prstGeom prst="ellipse">
            <a:avLst/>
          </a:prstGeom>
          <a:solidFill>
            <a:srgbClr val="302C26"/>
          </a:solidFill>
          <a:ln/>
        </p:spPr>
      </p:sp>
      <p:sp>
        <p:nvSpPr>
          <p:cNvPr id="56" name="Shape 54"/>
          <p:cNvSpPr/>
          <p:nvPr/>
        </p:nvSpPr>
        <p:spPr>
          <a:xfrm>
            <a:off x="3920490" y="3554730"/>
            <a:ext cx="114300" cy="114300"/>
          </a:xfrm>
          <a:prstGeom prst="ellipse">
            <a:avLst/>
          </a:prstGeom>
          <a:solidFill>
            <a:srgbClr val="302C26"/>
          </a:solidFill>
          <a:ln/>
        </p:spPr>
      </p:sp>
      <p:sp>
        <p:nvSpPr>
          <p:cNvPr id="57" name="Shape 55"/>
          <p:cNvSpPr/>
          <p:nvPr/>
        </p:nvSpPr>
        <p:spPr>
          <a:xfrm>
            <a:off x="4178808" y="3538728"/>
            <a:ext cx="146304" cy="146304"/>
          </a:xfrm>
          <a:prstGeom prst="ellipse">
            <a:avLst/>
          </a:prstGeom>
          <a:solidFill>
            <a:srgbClr val="C9A227"/>
          </a:solidFill>
          <a:ln/>
        </p:spPr>
      </p:sp>
      <p:sp>
        <p:nvSpPr>
          <p:cNvPr id="58" name="Shape 56"/>
          <p:cNvSpPr/>
          <p:nvPr/>
        </p:nvSpPr>
        <p:spPr>
          <a:xfrm>
            <a:off x="4469130" y="3554730"/>
            <a:ext cx="114300" cy="114300"/>
          </a:xfrm>
          <a:prstGeom prst="ellipse">
            <a:avLst/>
          </a:prstGeom>
          <a:solidFill>
            <a:srgbClr val="302C26"/>
          </a:solidFill>
          <a:ln/>
        </p:spPr>
      </p:sp>
      <p:sp>
        <p:nvSpPr>
          <p:cNvPr id="59" name="Shape 57"/>
          <p:cNvSpPr/>
          <p:nvPr/>
        </p:nvSpPr>
        <p:spPr>
          <a:xfrm>
            <a:off x="4743450" y="3554730"/>
            <a:ext cx="114300" cy="114300"/>
          </a:xfrm>
          <a:prstGeom prst="ellipse">
            <a:avLst/>
          </a:prstGeom>
          <a:solidFill>
            <a:srgbClr val="302C26"/>
          </a:solidFill>
          <a:ln/>
        </p:spPr>
      </p:sp>
      <p:sp>
        <p:nvSpPr>
          <p:cNvPr id="60" name="Shape 58"/>
          <p:cNvSpPr/>
          <p:nvPr/>
        </p:nvSpPr>
        <p:spPr>
          <a:xfrm>
            <a:off x="5017770" y="3554730"/>
            <a:ext cx="114300" cy="114300"/>
          </a:xfrm>
          <a:prstGeom prst="ellipse">
            <a:avLst/>
          </a:prstGeom>
          <a:solidFill>
            <a:srgbClr val="302C26"/>
          </a:solidFill>
          <a:ln/>
        </p:spPr>
      </p:sp>
      <p:sp>
        <p:nvSpPr>
          <p:cNvPr id="61" name="Shape 59"/>
          <p:cNvSpPr/>
          <p:nvPr/>
        </p:nvSpPr>
        <p:spPr>
          <a:xfrm>
            <a:off x="5292090" y="3554730"/>
            <a:ext cx="114300" cy="114300"/>
          </a:xfrm>
          <a:prstGeom prst="ellipse">
            <a:avLst/>
          </a:prstGeom>
          <a:solidFill>
            <a:srgbClr val="302C26"/>
          </a:solidFill>
          <a:ln/>
        </p:spPr>
      </p:sp>
      <p:sp>
        <p:nvSpPr>
          <p:cNvPr id="62" name="Shape 60"/>
          <p:cNvSpPr/>
          <p:nvPr/>
        </p:nvSpPr>
        <p:spPr>
          <a:xfrm>
            <a:off x="5566410" y="3554730"/>
            <a:ext cx="114300" cy="114300"/>
          </a:xfrm>
          <a:prstGeom prst="ellipse">
            <a:avLst/>
          </a:prstGeom>
          <a:solidFill>
            <a:srgbClr val="302C26"/>
          </a:solidFill>
          <a:ln/>
        </p:spPr>
      </p:sp>
      <p:sp>
        <p:nvSpPr>
          <p:cNvPr id="63" name="Shape 61"/>
          <p:cNvSpPr/>
          <p:nvPr/>
        </p:nvSpPr>
        <p:spPr>
          <a:xfrm>
            <a:off x="5824728" y="3538728"/>
            <a:ext cx="146304" cy="146304"/>
          </a:xfrm>
          <a:prstGeom prst="ellipse">
            <a:avLst/>
          </a:prstGeom>
          <a:solidFill>
            <a:srgbClr val="C9A227"/>
          </a:solidFill>
          <a:ln/>
        </p:spPr>
      </p:sp>
      <p:sp>
        <p:nvSpPr>
          <p:cNvPr id="64" name="Shape 62"/>
          <p:cNvSpPr/>
          <p:nvPr/>
        </p:nvSpPr>
        <p:spPr>
          <a:xfrm>
            <a:off x="6115050" y="3554730"/>
            <a:ext cx="114300" cy="114300"/>
          </a:xfrm>
          <a:prstGeom prst="ellipse">
            <a:avLst/>
          </a:prstGeom>
          <a:solidFill>
            <a:srgbClr val="302C26"/>
          </a:solidFill>
          <a:ln/>
        </p:spPr>
      </p:sp>
      <p:sp>
        <p:nvSpPr>
          <p:cNvPr id="65" name="Shape 63"/>
          <p:cNvSpPr/>
          <p:nvPr/>
        </p:nvSpPr>
        <p:spPr>
          <a:xfrm>
            <a:off x="902970" y="3829050"/>
            <a:ext cx="114300" cy="114300"/>
          </a:xfrm>
          <a:prstGeom prst="ellipse">
            <a:avLst/>
          </a:prstGeom>
          <a:solidFill>
            <a:srgbClr val="302C26"/>
          </a:solidFill>
          <a:ln/>
        </p:spPr>
      </p:sp>
      <p:sp>
        <p:nvSpPr>
          <p:cNvPr id="66" name="Shape 64"/>
          <p:cNvSpPr/>
          <p:nvPr/>
        </p:nvSpPr>
        <p:spPr>
          <a:xfrm>
            <a:off x="1161288" y="3813048"/>
            <a:ext cx="146304" cy="146304"/>
          </a:xfrm>
          <a:prstGeom prst="ellipse">
            <a:avLst/>
          </a:prstGeom>
          <a:solidFill>
            <a:srgbClr val="C9A227"/>
          </a:solidFill>
          <a:ln/>
        </p:spPr>
      </p:sp>
      <p:sp>
        <p:nvSpPr>
          <p:cNvPr id="67" name="Shape 65"/>
          <p:cNvSpPr/>
          <p:nvPr/>
        </p:nvSpPr>
        <p:spPr>
          <a:xfrm>
            <a:off x="1451610" y="3829050"/>
            <a:ext cx="114300" cy="114300"/>
          </a:xfrm>
          <a:prstGeom prst="ellipse">
            <a:avLst/>
          </a:prstGeom>
          <a:solidFill>
            <a:srgbClr val="302C26"/>
          </a:solidFill>
          <a:ln/>
        </p:spPr>
      </p:sp>
      <p:sp>
        <p:nvSpPr>
          <p:cNvPr id="68" name="Shape 66"/>
          <p:cNvSpPr/>
          <p:nvPr/>
        </p:nvSpPr>
        <p:spPr>
          <a:xfrm>
            <a:off x="1725930" y="3829050"/>
            <a:ext cx="114300" cy="114300"/>
          </a:xfrm>
          <a:prstGeom prst="ellipse">
            <a:avLst/>
          </a:prstGeom>
          <a:solidFill>
            <a:srgbClr val="302C26"/>
          </a:solidFill>
          <a:ln/>
        </p:spPr>
      </p:sp>
      <p:sp>
        <p:nvSpPr>
          <p:cNvPr id="69" name="Shape 67"/>
          <p:cNvSpPr/>
          <p:nvPr/>
        </p:nvSpPr>
        <p:spPr>
          <a:xfrm>
            <a:off x="2000250" y="3829050"/>
            <a:ext cx="114300" cy="114300"/>
          </a:xfrm>
          <a:prstGeom prst="ellipse">
            <a:avLst/>
          </a:prstGeom>
          <a:solidFill>
            <a:srgbClr val="302C26"/>
          </a:solidFill>
          <a:ln/>
        </p:spPr>
      </p:sp>
      <p:sp>
        <p:nvSpPr>
          <p:cNvPr id="70" name="Shape 68"/>
          <p:cNvSpPr/>
          <p:nvPr/>
        </p:nvSpPr>
        <p:spPr>
          <a:xfrm>
            <a:off x="2274570" y="3829050"/>
            <a:ext cx="114300" cy="114300"/>
          </a:xfrm>
          <a:prstGeom prst="ellipse">
            <a:avLst/>
          </a:prstGeom>
          <a:solidFill>
            <a:srgbClr val="302C26"/>
          </a:solidFill>
          <a:ln/>
        </p:spPr>
      </p:sp>
      <p:sp>
        <p:nvSpPr>
          <p:cNvPr id="71" name="Shape 69"/>
          <p:cNvSpPr/>
          <p:nvPr/>
        </p:nvSpPr>
        <p:spPr>
          <a:xfrm>
            <a:off x="2532888" y="3813048"/>
            <a:ext cx="146304" cy="146304"/>
          </a:xfrm>
          <a:prstGeom prst="ellipse">
            <a:avLst/>
          </a:prstGeom>
          <a:solidFill>
            <a:srgbClr val="C9A227"/>
          </a:solidFill>
          <a:ln/>
        </p:spPr>
      </p:sp>
      <p:sp>
        <p:nvSpPr>
          <p:cNvPr id="72" name="Shape 70"/>
          <p:cNvSpPr/>
          <p:nvPr/>
        </p:nvSpPr>
        <p:spPr>
          <a:xfrm>
            <a:off x="2823210" y="3829050"/>
            <a:ext cx="114300" cy="114300"/>
          </a:xfrm>
          <a:prstGeom prst="ellipse">
            <a:avLst/>
          </a:prstGeom>
          <a:solidFill>
            <a:srgbClr val="302C26"/>
          </a:solidFill>
          <a:ln/>
        </p:spPr>
      </p:sp>
      <p:sp>
        <p:nvSpPr>
          <p:cNvPr id="73" name="Shape 71"/>
          <p:cNvSpPr/>
          <p:nvPr/>
        </p:nvSpPr>
        <p:spPr>
          <a:xfrm>
            <a:off x="3097530" y="3829050"/>
            <a:ext cx="114300" cy="114300"/>
          </a:xfrm>
          <a:prstGeom prst="ellipse">
            <a:avLst/>
          </a:prstGeom>
          <a:solidFill>
            <a:srgbClr val="302C26"/>
          </a:solidFill>
          <a:ln/>
        </p:spPr>
      </p:sp>
      <p:sp>
        <p:nvSpPr>
          <p:cNvPr id="74" name="Shape 72"/>
          <p:cNvSpPr/>
          <p:nvPr/>
        </p:nvSpPr>
        <p:spPr>
          <a:xfrm>
            <a:off x="3371850" y="3829050"/>
            <a:ext cx="114300" cy="114300"/>
          </a:xfrm>
          <a:prstGeom prst="ellipse">
            <a:avLst/>
          </a:prstGeom>
          <a:solidFill>
            <a:srgbClr val="302C26"/>
          </a:solidFill>
          <a:ln/>
        </p:spPr>
      </p:sp>
      <p:sp>
        <p:nvSpPr>
          <p:cNvPr id="75" name="Shape 73"/>
          <p:cNvSpPr/>
          <p:nvPr/>
        </p:nvSpPr>
        <p:spPr>
          <a:xfrm>
            <a:off x="3646170" y="3829050"/>
            <a:ext cx="114300" cy="114300"/>
          </a:xfrm>
          <a:prstGeom prst="ellipse">
            <a:avLst/>
          </a:prstGeom>
          <a:solidFill>
            <a:srgbClr val="302C26"/>
          </a:solidFill>
          <a:ln/>
        </p:spPr>
      </p:sp>
      <p:sp>
        <p:nvSpPr>
          <p:cNvPr id="76" name="Shape 74"/>
          <p:cNvSpPr/>
          <p:nvPr/>
        </p:nvSpPr>
        <p:spPr>
          <a:xfrm>
            <a:off x="3920490" y="3829050"/>
            <a:ext cx="114300" cy="114300"/>
          </a:xfrm>
          <a:prstGeom prst="ellipse">
            <a:avLst/>
          </a:prstGeom>
          <a:solidFill>
            <a:srgbClr val="302C26"/>
          </a:solidFill>
          <a:ln/>
        </p:spPr>
      </p:sp>
      <p:sp>
        <p:nvSpPr>
          <p:cNvPr id="77" name="Shape 75"/>
          <p:cNvSpPr/>
          <p:nvPr/>
        </p:nvSpPr>
        <p:spPr>
          <a:xfrm>
            <a:off x="4178808" y="3813048"/>
            <a:ext cx="146304" cy="146304"/>
          </a:xfrm>
          <a:prstGeom prst="ellipse">
            <a:avLst/>
          </a:prstGeom>
          <a:solidFill>
            <a:srgbClr val="C9A227"/>
          </a:solidFill>
          <a:ln/>
        </p:spPr>
      </p:sp>
      <p:sp>
        <p:nvSpPr>
          <p:cNvPr id="78" name="Shape 76"/>
          <p:cNvSpPr/>
          <p:nvPr/>
        </p:nvSpPr>
        <p:spPr>
          <a:xfrm>
            <a:off x="4469130" y="3829050"/>
            <a:ext cx="114300" cy="114300"/>
          </a:xfrm>
          <a:prstGeom prst="ellipse">
            <a:avLst/>
          </a:prstGeom>
          <a:solidFill>
            <a:srgbClr val="302C26"/>
          </a:solidFill>
          <a:ln/>
        </p:spPr>
      </p:sp>
      <p:sp>
        <p:nvSpPr>
          <p:cNvPr id="79" name="Shape 77"/>
          <p:cNvSpPr/>
          <p:nvPr/>
        </p:nvSpPr>
        <p:spPr>
          <a:xfrm>
            <a:off x="4743450" y="3829050"/>
            <a:ext cx="114300" cy="114300"/>
          </a:xfrm>
          <a:prstGeom prst="ellipse">
            <a:avLst/>
          </a:prstGeom>
          <a:solidFill>
            <a:srgbClr val="302C26"/>
          </a:solidFill>
          <a:ln/>
        </p:spPr>
      </p:sp>
      <p:sp>
        <p:nvSpPr>
          <p:cNvPr id="80" name="Shape 78"/>
          <p:cNvSpPr/>
          <p:nvPr/>
        </p:nvSpPr>
        <p:spPr>
          <a:xfrm>
            <a:off x="5017770" y="3829050"/>
            <a:ext cx="114300" cy="114300"/>
          </a:xfrm>
          <a:prstGeom prst="ellipse">
            <a:avLst/>
          </a:prstGeom>
          <a:solidFill>
            <a:srgbClr val="302C26"/>
          </a:solidFill>
          <a:ln/>
        </p:spPr>
      </p:sp>
      <p:sp>
        <p:nvSpPr>
          <p:cNvPr id="81" name="Shape 79"/>
          <p:cNvSpPr/>
          <p:nvPr/>
        </p:nvSpPr>
        <p:spPr>
          <a:xfrm>
            <a:off x="5292090" y="3829050"/>
            <a:ext cx="114300" cy="114300"/>
          </a:xfrm>
          <a:prstGeom prst="ellipse">
            <a:avLst/>
          </a:prstGeom>
          <a:solidFill>
            <a:srgbClr val="302C26"/>
          </a:solidFill>
          <a:ln/>
        </p:spPr>
      </p:sp>
      <p:sp>
        <p:nvSpPr>
          <p:cNvPr id="82" name="Shape 80"/>
          <p:cNvSpPr/>
          <p:nvPr/>
        </p:nvSpPr>
        <p:spPr>
          <a:xfrm>
            <a:off x="5566410" y="3829050"/>
            <a:ext cx="114300" cy="114300"/>
          </a:xfrm>
          <a:prstGeom prst="ellipse">
            <a:avLst/>
          </a:prstGeom>
          <a:solidFill>
            <a:srgbClr val="302C26"/>
          </a:solidFill>
          <a:ln/>
        </p:spPr>
      </p:sp>
      <p:sp>
        <p:nvSpPr>
          <p:cNvPr id="83" name="Shape 81"/>
          <p:cNvSpPr/>
          <p:nvPr/>
        </p:nvSpPr>
        <p:spPr>
          <a:xfrm>
            <a:off x="5824728" y="3813048"/>
            <a:ext cx="146304" cy="146304"/>
          </a:xfrm>
          <a:prstGeom prst="ellipse">
            <a:avLst/>
          </a:prstGeom>
          <a:solidFill>
            <a:srgbClr val="C9A227"/>
          </a:solidFill>
          <a:ln/>
        </p:spPr>
      </p:sp>
      <p:sp>
        <p:nvSpPr>
          <p:cNvPr id="84" name="Shape 82"/>
          <p:cNvSpPr/>
          <p:nvPr/>
        </p:nvSpPr>
        <p:spPr>
          <a:xfrm>
            <a:off x="6115050" y="3829050"/>
            <a:ext cx="114300" cy="114300"/>
          </a:xfrm>
          <a:prstGeom prst="ellipse">
            <a:avLst/>
          </a:prstGeom>
          <a:solidFill>
            <a:srgbClr val="302C26"/>
          </a:solidFill>
          <a:ln/>
        </p:spPr>
      </p:sp>
      <p:sp>
        <p:nvSpPr>
          <p:cNvPr id="85" name="Shape 83"/>
          <p:cNvSpPr/>
          <p:nvPr/>
        </p:nvSpPr>
        <p:spPr>
          <a:xfrm>
            <a:off x="902970" y="4103370"/>
            <a:ext cx="114300" cy="114300"/>
          </a:xfrm>
          <a:prstGeom prst="ellipse">
            <a:avLst/>
          </a:prstGeom>
          <a:solidFill>
            <a:srgbClr val="302C26"/>
          </a:solidFill>
          <a:ln/>
        </p:spPr>
      </p:sp>
      <p:sp>
        <p:nvSpPr>
          <p:cNvPr id="86" name="Shape 84"/>
          <p:cNvSpPr/>
          <p:nvPr/>
        </p:nvSpPr>
        <p:spPr>
          <a:xfrm>
            <a:off x="1177290" y="4103370"/>
            <a:ext cx="114300" cy="114300"/>
          </a:xfrm>
          <a:prstGeom prst="ellipse">
            <a:avLst/>
          </a:prstGeom>
          <a:solidFill>
            <a:srgbClr val="302C26"/>
          </a:solidFill>
          <a:ln/>
        </p:spPr>
      </p:sp>
      <p:sp>
        <p:nvSpPr>
          <p:cNvPr id="87" name="Shape 85"/>
          <p:cNvSpPr/>
          <p:nvPr/>
        </p:nvSpPr>
        <p:spPr>
          <a:xfrm>
            <a:off x="1451610" y="4103370"/>
            <a:ext cx="114300" cy="114300"/>
          </a:xfrm>
          <a:prstGeom prst="ellipse">
            <a:avLst/>
          </a:prstGeom>
          <a:solidFill>
            <a:srgbClr val="302C26"/>
          </a:solidFill>
          <a:ln/>
        </p:spPr>
      </p:sp>
      <p:sp>
        <p:nvSpPr>
          <p:cNvPr id="88" name="Shape 86"/>
          <p:cNvSpPr/>
          <p:nvPr/>
        </p:nvSpPr>
        <p:spPr>
          <a:xfrm>
            <a:off x="1709928" y="4087368"/>
            <a:ext cx="146304" cy="146304"/>
          </a:xfrm>
          <a:prstGeom prst="ellipse">
            <a:avLst/>
          </a:prstGeom>
          <a:solidFill>
            <a:srgbClr val="C9A227"/>
          </a:solidFill>
          <a:ln/>
        </p:spPr>
      </p:sp>
      <p:sp>
        <p:nvSpPr>
          <p:cNvPr id="89" name="Shape 87"/>
          <p:cNvSpPr/>
          <p:nvPr/>
        </p:nvSpPr>
        <p:spPr>
          <a:xfrm>
            <a:off x="2000250" y="4103370"/>
            <a:ext cx="114300" cy="114300"/>
          </a:xfrm>
          <a:prstGeom prst="ellipse">
            <a:avLst/>
          </a:prstGeom>
          <a:solidFill>
            <a:srgbClr val="302C26"/>
          </a:solidFill>
          <a:ln/>
        </p:spPr>
      </p:sp>
      <p:sp>
        <p:nvSpPr>
          <p:cNvPr id="90" name="Shape 88"/>
          <p:cNvSpPr/>
          <p:nvPr/>
        </p:nvSpPr>
        <p:spPr>
          <a:xfrm>
            <a:off x="2274570" y="4103370"/>
            <a:ext cx="114300" cy="114300"/>
          </a:xfrm>
          <a:prstGeom prst="ellipse">
            <a:avLst/>
          </a:prstGeom>
          <a:solidFill>
            <a:srgbClr val="302C26"/>
          </a:solidFill>
          <a:ln/>
        </p:spPr>
      </p:sp>
      <p:sp>
        <p:nvSpPr>
          <p:cNvPr id="91" name="Shape 89"/>
          <p:cNvSpPr/>
          <p:nvPr/>
        </p:nvSpPr>
        <p:spPr>
          <a:xfrm>
            <a:off x="2548890" y="4103370"/>
            <a:ext cx="114300" cy="114300"/>
          </a:xfrm>
          <a:prstGeom prst="ellipse">
            <a:avLst/>
          </a:prstGeom>
          <a:solidFill>
            <a:srgbClr val="302C26"/>
          </a:solidFill>
          <a:ln/>
        </p:spPr>
      </p:sp>
      <p:sp>
        <p:nvSpPr>
          <p:cNvPr id="92" name="Shape 90"/>
          <p:cNvSpPr/>
          <p:nvPr/>
        </p:nvSpPr>
        <p:spPr>
          <a:xfrm>
            <a:off x="2807208" y="4087368"/>
            <a:ext cx="146304" cy="146304"/>
          </a:xfrm>
          <a:prstGeom prst="ellipse">
            <a:avLst/>
          </a:prstGeom>
          <a:solidFill>
            <a:srgbClr val="C9A227"/>
          </a:solidFill>
          <a:ln/>
        </p:spPr>
      </p:sp>
      <p:sp>
        <p:nvSpPr>
          <p:cNvPr id="93" name="Shape 91"/>
          <p:cNvSpPr/>
          <p:nvPr/>
        </p:nvSpPr>
        <p:spPr>
          <a:xfrm>
            <a:off x="3097530" y="4103370"/>
            <a:ext cx="114300" cy="114300"/>
          </a:xfrm>
          <a:prstGeom prst="ellipse">
            <a:avLst/>
          </a:prstGeom>
          <a:solidFill>
            <a:srgbClr val="302C26"/>
          </a:solidFill>
          <a:ln/>
        </p:spPr>
      </p:sp>
      <p:sp>
        <p:nvSpPr>
          <p:cNvPr id="94" name="Shape 92"/>
          <p:cNvSpPr/>
          <p:nvPr/>
        </p:nvSpPr>
        <p:spPr>
          <a:xfrm>
            <a:off x="3371850" y="4103370"/>
            <a:ext cx="114300" cy="114300"/>
          </a:xfrm>
          <a:prstGeom prst="ellipse">
            <a:avLst/>
          </a:prstGeom>
          <a:solidFill>
            <a:srgbClr val="302C26"/>
          </a:solidFill>
          <a:ln/>
        </p:spPr>
      </p:sp>
      <p:sp>
        <p:nvSpPr>
          <p:cNvPr id="95" name="Shape 93"/>
          <p:cNvSpPr/>
          <p:nvPr/>
        </p:nvSpPr>
        <p:spPr>
          <a:xfrm>
            <a:off x="3646170" y="4103370"/>
            <a:ext cx="114300" cy="114300"/>
          </a:xfrm>
          <a:prstGeom prst="ellipse">
            <a:avLst/>
          </a:prstGeom>
          <a:solidFill>
            <a:srgbClr val="302C26"/>
          </a:solidFill>
          <a:ln/>
        </p:spPr>
      </p:sp>
      <p:sp>
        <p:nvSpPr>
          <p:cNvPr id="96" name="Shape 94"/>
          <p:cNvSpPr/>
          <p:nvPr/>
        </p:nvSpPr>
        <p:spPr>
          <a:xfrm>
            <a:off x="3904488" y="4087368"/>
            <a:ext cx="146304" cy="146304"/>
          </a:xfrm>
          <a:prstGeom prst="ellipse">
            <a:avLst/>
          </a:prstGeom>
          <a:solidFill>
            <a:srgbClr val="C9A227"/>
          </a:solidFill>
          <a:ln/>
        </p:spPr>
      </p:sp>
      <p:sp>
        <p:nvSpPr>
          <p:cNvPr id="97" name="Shape 95"/>
          <p:cNvSpPr/>
          <p:nvPr/>
        </p:nvSpPr>
        <p:spPr>
          <a:xfrm>
            <a:off x="4194810" y="4103370"/>
            <a:ext cx="114300" cy="114300"/>
          </a:xfrm>
          <a:prstGeom prst="ellipse">
            <a:avLst/>
          </a:prstGeom>
          <a:solidFill>
            <a:srgbClr val="302C26"/>
          </a:solidFill>
          <a:ln/>
        </p:spPr>
      </p:sp>
      <p:sp>
        <p:nvSpPr>
          <p:cNvPr id="98" name="Shape 96"/>
          <p:cNvSpPr/>
          <p:nvPr/>
        </p:nvSpPr>
        <p:spPr>
          <a:xfrm>
            <a:off x="4469130" y="4103370"/>
            <a:ext cx="114300" cy="114300"/>
          </a:xfrm>
          <a:prstGeom prst="ellipse">
            <a:avLst/>
          </a:prstGeom>
          <a:solidFill>
            <a:srgbClr val="302C26"/>
          </a:solidFill>
          <a:ln/>
        </p:spPr>
      </p:sp>
      <p:sp>
        <p:nvSpPr>
          <p:cNvPr id="99" name="Shape 97"/>
          <p:cNvSpPr/>
          <p:nvPr/>
        </p:nvSpPr>
        <p:spPr>
          <a:xfrm>
            <a:off x="4743450" y="4103370"/>
            <a:ext cx="114300" cy="114300"/>
          </a:xfrm>
          <a:prstGeom prst="ellipse">
            <a:avLst/>
          </a:prstGeom>
          <a:solidFill>
            <a:srgbClr val="302C26"/>
          </a:solidFill>
          <a:ln/>
        </p:spPr>
      </p:sp>
      <p:sp>
        <p:nvSpPr>
          <p:cNvPr id="100" name="Shape 98"/>
          <p:cNvSpPr/>
          <p:nvPr/>
        </p:nvSpPr>
        <p:spPr>
          <a:xfrm>
            <a:off x="5017770" y="4103370"/>
            <a:ext cx="114300" cy="114300"/>
          </a:xfrm>
          <a:prstGeom prst="ellipse">
            <a:avLst/>
          </a:prstGeom>
          <a:solidFill>
            <a:srgbClr val="302C26"/>
          </a:solidFill>
          <a:ln/>
        </p:spPr>
      </p:sp>
      <p:sp>
        <p:nvSpPr>
          <p:cNvPr id="101" name="Shape 99"/>
          <p:cNvSpPr/>
          <p:nvPr/>
        </p:nvSpPr>
        <p:spPr>
          <a:xfrm>
            <a:off x="5276088" y="4087368"/>
            <a:ext cx="146304" cy="146304"/>
          </a:xfrm>
          <a:prstGeom prst="ellipse">
            <a:avLst/>
          </a:prstGeom>
          <a:solidFill>
            <a:srgbClr val="C9A227"/>
          </a:solidFill>
          <a:ln/>
        </p:spPr>
      </p:sp>
      <p:sp>
        <p:nvSpPr>
          <p:cNvPr id="102" name="Shape 100"/>
          <p:cNvSpPr/>
          <p:nvPr/>
        </p:nvSpPr>
        <p:spPr>
          <a:xfrm>
            <a:off x="5566410" y="4103370"/>
            <a:ext cx="114300" cy="114300"/>
          </a:xfrm>
          <a:prstGeom prst="ellipse">
            <a:avLst/>
          </a:prstGeom>
          <a:solidFill>
            <a:srgbClr val="302C26"/>
          </a:solidFill>
          <a:ln/>
        </p:spPr>
      </p:sp>
      <p:sp>
        <p:nvSpPr>
          <p:cNvPr id="103" name="Shape 101"/>
          <p:cNvSpPr/>
          <p:nvPr/>
        </p:nvSpPr>
        <p:spPr>
          <a:xfrm>
            <a:off x="5840730" y="4103370"/>
            <a:ext cx="114300" cy="114300"/>
          </a:xfrm>
          <a:prstGeom prst="ellipse">
            <a:avLst/>
          </a:prstGeom>
          <a:solidFill>
            <a:srgbClr val="302C26"/>
          </a:solidFill>
          <a:ln/>
        </p:spPr>
      </p:sp>
      <p:sp>
        <p:nvSpPr>
          <p:cNvPr id="104" name="Shape 102"/>
          <p:cNvSpPr/>
          <p:nvPr/>
        </p:nvSpPr>
        <p:spPr>
          <a:xfrm>
            <a:off x="6115050" y="4103370"/>
            <a:ext cx="114300" cy="114300"/>
          </a:xfrm>
          <a:prstGeom prst="ellipse">
            <a:avLst/>
          </a:prstGeom>
          <a:solidFill>
            <a:srgbClr val="302C26"/>
          </a:solidFill>
          <a:ln/>
        </p:spPr>
      </p:sp>
      <p:sp>
        <p:nvSpPr>
          <p:cNvPr id="105" name="Text 103"/>
          <p:cNvSpPr txBox="1"/>
          <p:nvPr/>
        </p:nvSpPr>
        <p:spPr>
          <a:xfrm>
            <a:off x="822960" y="4498848"/>
            <a:ext cx="5486400" cy="219456"/>
          </a:xfrm>
          <a:prstGeom prst="rect">
            <a:avLst/>
          </a:prstGeom>
          <a:noFill/>
          <a:ln/>
        </p:spPr>
        <p:txBody>
          <a:bodyPr wrap="square" lIns="0" tIns="0" rIns="0" bIns="0" rtlCol="0" anchor="ctr"/>
          <a:lstStyle/>
          <a:p>
            <a:pPr algn="l" indent="0" marL="0">
              <a:buNone/>
            </a:pPr>
            <a:r>
              <a:rPr lang="en-US" sz="900" spc="160" kern="0" dirty="0">
                <a:solidFill>
                  <a:srgbClr val="8A8378"/>
                </a:solidFill>
                <a:latin typeface="Courier New" pitchFamily="34" charset="0"/>
                <a:ea typeface="Courier New" pitchFamily="34" charset="-122"/>
                <a:cs typeface="Courier New" pitchFamily="34" charset="-120"/>
              </a:rPr>
              <a:t>EACH DOT IS ONE HUNDRED DOCUMENTS</a:t>
            </a:r>
            <a:endParaRPr lang="en-US" sz="900" dirty="0"/>
          </a:p>
        </p:txBody>
      </p:sp>
      <p:sp>
        <p:nvSpPr>
          <p:cNvPr id="106" name="Text 104"/>
          <p:cNvSpPr txBox="1"/>
          <p:nvPr/>
        </p:nvSpPr>
        <p:spPr>
          <a:xfrm>
            <a:off x="6903720" y="2999232"/>
            <a:ext cx="4114800" cy="960120"/>
          </a:xfrm>
          <a:prstGeom prst="rect">
            <a:avLst/>
          </a:prstGeom>
          <a:noFill/>
          <a:ln/>
        </p:spPr>
        <p:txBody>
          <a:bodyPr wrap="square" lIns="0" tIns="0" rIns="0" bIns="0" rtlCol="0" anchor="ctr"/>
          <a:lstStyle/>
          <a:p>
            <a:pPr indent="0" marL="0">
              <a:lnSpc>
                <a:spcPts val="1900"/>
              </a:lnSpc>
              <a:buNone/>
            </a:pPr>
            <a:r>
              <a:rPr lang="en-US" sz="1350" dirty="0">
                <a:solidFill>
                  <a:srgbClr val="8A8378"/>
                </a:solidFill>
                <a:latin typeface="Calibri" pitchFamily="34" charset="0"/>
                <a:ea typeface="Calibri" pitchFamily="34" charset="-122"/>
                <a:cs typeface="Calibri" pitchFamily="34" charset="-120"/>
              </a:rPr>
              <a:t>The rest were duplicates,</a:t>
            </a:r>
            <a:endParaRPr lang="en-US" sz="1350" dirty="0"/>
          </a:p>
          <a:p>
            <a:pPr indent="0" marL="0">
              <a:lnSpc>
                <a:spcPts val="1900"/>
              </a:lnSpc>
              <a:buNone/>
            </a:pPr>
            <a:r>
              <a:rPr lang="en-US" sz="1350" dirty="0">
                <a:solidFill>
                  <a:srgbClr val="8A8378"/>
                </a:solidFill>
                <a:latin typeface="Calibri" pitchFamily="34" charset="0"/>
                <a:ea typeface="Calibri" pitchFamily="34" charset="-122"/>
                <a:cs typeface="Calibri" pitchFamily="34" charset="-120"/>
              </a:rPr>
              <a:t>superseded drafts, or the same deck</a:t>
            </a:r>
            <a:endParaRPr lang="en-US" sz="1350" dirty="0"/>
          </a:p>
          <a:p>
            <a:pPr indent="0" marL="0">
              <a:lnSpc>
                <a:spcPts val="1900"/>
              </a:lnSpc>
              <a:buNone/>
            </a:pPr>
            <a:r>
              <a:rPr lang="en-US" sz="1350" dirty="0">
                <a:solidFill>
                  <a:srgbClr val="8A8378"/>
                </a:solidFill>
                <a:latin typeface="Calibri" pitchFamily="34" charset="0"/>
                <a:ea typeface="Calibri" pitchFamily="34" charset="-122"/>
                <a:cs typeface="Calibri" pitchFamily="34" charset="-120"/>
              </a:rPr>
              <a:t>sitting under four different filenames.</a:t>
            </a:r>
            <a:endParaRPr lang="en-US" sz="1350" dirty="0"/>
          </a:p>
        </p:txBody>
      </p:sp>
      <p:sp>
        <p:nvSpPr>
          <p:cNvPr id="107" name="Text 105"/>
          <p:cNvSpPr txBox="1"/>
          <p:nvPr/>
        </p:nvSpPr>
        <p:spPr>
          <a:xfrm>
            <a:off x="6903720" y="4096512"/>
            <a:ext cx="4114800" cy="640080"/>
          </a:xfrm>
          <a:prstGeom prst="rect">
            <a:avLst/>
          </a:prstGeom>
          <a:noFill/>
          <a:ln/>
        </p:spPr>
        <p:txBody>
          <a:bodyPr wrap="square" lIns="0" tIns="0" rIns="0" bIns="0" rtlCol="0" anchor="ctr"/>
          <a:lstStyle/>
          <a:p>
            <a:pPr indent="0" marL="0">
              <a:lnSpc>
                <a:spcPts val="2100"/>
              </a:lnSpc>
              <a:buNone/>
            </a:pPr>
            <a:r>
              <a:rPr lang="en-US" sz="1500" dirty="0">
                <a:solidFill>
                  <a:srgbClr val="EAE4DA"/>
                </a:solidFill>
                <a:latin typeface="Cambria" pitchFamily="34" charset="0"/>
                <a:ea typeface="Cambria" pitchFamily="34" charset="-122"/>
                <a:cs typeface="Cambria" pitchFamily="34" charset="-120"/>
              </a:rPr>
              <a:t>All of it was embedded.</a:t>
            </a:r>
            <a:endParaRPr lang="en-US" sz="1500" dirty="0"/>
          </a:p>
          <a:p>
            <a:pPr indent="0" marL="0">
              <a:lnSpc>
                <a:spcPts val="2100"/>
              </a:lnSpc>
              <a:buNone/>
            </a:pPr>
            <a:r>
              <a:rPr lang="en-US" sz="1500" dirty="0">
                <a:solidFill>
                  <a:srgbClr val="EAE4DA"/>
                </a:solidFill>
                <a:latin typeface="Cambria" pitchFamily="34" charset="0"/>
                <a:ea typeface="Cambria" pitchFamily="34" charset="-122"/>
                <a:cs typeface="Cambria" pitchFamily="34" charset="-120"/>
              </a:rPr>
              <a:t>All of it was consuming tokens and energy.</a:t>
            </a:r>
            <a:endParaRPr lang="en-US" sz="1500" dirty="0"/>
          </a:p>
        </p:txBody>
      </p:sp>
      <p:sp>
        <p:nvSpPr>
          <p:cNvPr id="108" name="Shape 106"/>
          <p:cNvSpPr/>
          <p:nvPr/>
        </p:nvSpPr>
        <p:spPr>
          <a:xfrm>
            <a:off x="822960" y="5650992"/>
            <a:ext cx="2743200" cy="0"/>
          </a:xfrm>
          <a:prstGeom prst="line">
            <a:avLst/>
          </a:prstGeom>
          <a:noFill/>
          <a:ln w="19050">
            <a:solidFill>
              <a:srgbClr val="C9A227"/>
            </a:solidFill>
            <a:prstDash val="solid"/>
          </a:ln>
        </p:spPr>
      </p:sp>
      <p:sp>
        <p:nvSpPr>
          <p:cNvPr id="109" name="Text 107"/>
          <p:cNvSpPr txBox="1"/>
          <p:nvPr/>
        </p:nvSpPr>
        <p:spPr>
          <a:xfrm>
            <a:off x="822960" y="5852160"/>
            <a:ext cx="10515600" cy="658368"/>
          </a:xfrm>
          <a:prstGeom prst="rect">
            <a:avLst/>
          </a:prstGeom>
          <a:noFill/>
          <a:ln/>
        </p:spPr>
        <p:txBody>
          <a:bodyPr wrap="square" lIns="0" tIns="0" rIns="0" bIns="0" rtlCol="0" anchor="ctr"/>
          <a:lstStyle/>
          <a:p>
            <a:pPr indent="0" marL="0">
              <a:lnSpc>
                <a:spcPts val="2200"/>
              </a:lnSpc>
              <a:buNone/>
            </a:pPr>
            <a:r>
              <a:rPr lang="en-US" sz="1600" i="1" dirty="0">
                <a:solidFill>
                  <a:srgbClr val="EAE4DA"/>
                </a:solidFill>
                <a:latin typeface="Cambria" pitchFamily="34" charset="0"/>
                <a:ea typeface="Cambria" pitchFamily="34" charset="-122"/>
                <a:cs typeface="Cambria" pitchFamily="34" charset="-120"/>
              </a:rPr>
              <a:t>Filtering before you embed is not an AI optimisation. It is a governance decision,</a:t>
            </a:r>
            <a:endParaRPr lang="en-US" sz="1600" dirty="0"/>
          </a:p>
          <a:p>
            <a:pPr indent="0" marL="0">
              <a:lnSpc>
                <a:spcPts val="2200"/>
              </a:lnSpc>
              <a:buNone/>
            </a:pPr>
            <a:r>
              <a:rPr lang="en-US" sz="1600" i="1" dirty="0">
                <a:solidFill>
                  <a:srgbClr val="EAE4DA"/>
                </a:solidFill>
                <a:latin typeface="Cambria" pitchFamily="34" charset="0"/>
                <a:ea typeface="Cambria" pitchFamily="34" charset="-122"/>
                <a:cs typeface="Cambria" pitchFamily="34" charset="-120"/>
              </a:rPr>
              <a:t>a cost decision and a sustainability decision at the same time.</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22960" y="713232"/>
            <a:ext cx="8229600" cy="219456"/>
          </a:xfrm>
          <a:prstGeom prst="rect">
            <a:avLst/>
          </a:prstGeom>
          <a:noFill/>
          <a:ln/>
        </p:spPr>
        <p:txBody>
          <a:bodyPr wrap="square" lIns="0" tIns="0" rIns="0" bIns="0" rtlCol="0" anchor="ctr"/>
          <a:lstStyle/>
          <a:p>
            <a:pPr algn="l" indent="0" marL="0">
              <a:buNone/>
            </a:pPr>
            <a:r>
              <a:rPr lang="en-US" sz="900" spc="160" kern="0" dirty="0">
                <a:solidFill>
                  <a:srgbClr val="8A8378"/>
                </a:solidFill>
                <a:latin typeface="Courier New" pitchFamily="34" charset="0"/>
                <a:ea typeface="Courier New" pitchFamily="34" charset="-122"/>
                <a:cs typeface="Courier New" pitchFamily="34" charset="-120"/>
              </a:rPr>
              <a:t>07   ·   THE ROAD TO THE SHINY CITY</a:t>
            </a:r>
            <a:endParaRPr lang="en-US" sz="900" dirty="0"/>
          </a:p>
        </p:txBody>
      </p:sp>
      <p:sp>
        <p:nvSpPr>
          <p:cNvPr id="3" name="Shape 1"/>
          <p:cNvSpPr/>
          <p:nvPr/>
        </p:nvSpPr>
        <p:spPr>
          <a:xfrm>
            <a:off x="6012180" y="2711196"/>
            <a:ext cx="155448" cy="155448"/>
          </a:xfrm>
          <a:prstGeom prst="ellipse">
            <a:avLst/>
          </a:prstGeom>
          <a:solidFill>
            <a:srgbClr val="C9A227"/>
          </a:solidFill>
          <a:ln/>
        </p:spPr>
      </p:sp>
      <p:sp>
        <p:nvSpPr>
          <p:cNvPr id="4" name="Shape 2"/>
          <p:cNvSpPr/>
          <p:nvPr/>
        </p:nvSpPr>
        <p:spPr>
          <a:xfrm>
            <a:off x="5779008" y="2478024"/>
            <a:ext cx="621792" cy="621792"/>
          </a:xfrm>
          <a:prstGeom prst="ellipse">
            <a:avLst/>
          </a:prstGeom>
          <a:ln w="6350">
            <a:solidFill>
              <a:srgbClr val="7E6716">
                <a:alpha val="55000"/>
              </a:srgbClr>
            </a:solidFill>
            <a:prstDash val="solid"/>
          </a:ln>
        </p:spPr>
      </p:sp>
      <p:sp>
        <p:nvSpPr>
          <p:cNvPr id="5" name="Text 3"/>
          <p:cNvSpPr txBox="1"/>
          <p:nvPr/>
        </p:nvSpPr>
        <p:spPr>
          <a:xfrm>
            <a:off x="4718304" y="2148840"/>
            <a:ext cx="2743200" cy="256032"/>
          </a:xfrm>
          <a:prstGeom prst="rect">
            <a:avLst/>
          </a:prstGeom>
          <a:noFill/>
          <a:ln/>
        </p:spPr>
        <p:txBody>
          <a:bodyPr wrap="square" lIns="0" tIns="0" rIns="0" bIns="0" rtlCol="0" anchor="ctr"/>
          <a:lstStyle/>
          <a:p>
            <a:pPr algn="ctr" indent="0" marL="0">
              <a:buNone/>
            </a:pPr>
            <a:r>
              <a:rPr lang="en-US" sz="900" spc="160" kern="0" dirty="0">
                <a:solidFill>
                  <a:srgbClr val="8A8378"/>
                </a:solidFill>
                <a:latin typeface="Courier New" pitchFamily="34" charset="0"/>
                <a:ea typeface="Courier New" pitchFamily="34" charset="-122"/>
                <a:cs typeface="Courier New" pitchFamily="34" charset="-120"/>
              </a:rPr>
              <a:t>THE SHINY CITY</a:t>
            </a:r>
            <a:endParaRPr lang="en-US" sz="900" dirty="0"/>
          </a:p>
        </p:txBody>
      </p:sp>
      <p:sp>
        <p:nvSpPr>
          <p:cNvPr id="6" name="Shape 4"/>
          <p:cNvSpPr/>
          <p:nvPr/>
        </p:nvSpPr>
        <p:spPr>
          <a:xfrm flipV="1">
            <a:off x="1417320" y="2788920"/>
            <a:ext cx="4672584" cy="2971800"/>
          </a:xfrm>
          <a:prstGeom prst="line">
            <a:avLst/>
          </a:prstGeom>
          <a:noFill/>
          <a:ln w="12700">
            <a:solidFill>
              <a:srgbClr val="3A3222"/>
            </a:solidFill>
            <a:prstDash val="solid"/>
          </a:ln>
        </p:spPr>
      </p:sp>
      <p:sp>
        <p:nvSpPr>
          <p:cNvPr id="7" name="Shape 5"/>
          <p:cNvSpPr/>
          <p:nvPr/>
        </p:nvSpPr>
        <p:spPr>
          <a:xfrm>
            <a:off x="6089904" y="2788920"/>
            <a:ext cx="4684471" cy="2971800"/>
          </a:xfrm>
          <a:prstGeom prst="line">
            <a:avLst/>
          </a:prstGeom>
          <a:noFill/>
          <a:ln w="12700">
            <a:solidFill>
              <a:srgbClr val="3A3222"/>
            </a:solidFill>
            <a:prstDash val="solid"/>
          </a:ln>
        </p:spPr>
      </p:sp>
      <p:sp>
        <p:nvSpPr>
          <p:cNvPr id="8" name="Text 6"/>
          <p:cNvSpPr txBox="1"/>
          <p:nvPr/>
        </p:nvSpPr>
        <p:spPr>
          <a:xfrm>
            <a:off x="1051560" y="3127248"/>
            <a:ext cx="10088575" cy="457200"/>
          </a:xfrm>
          <a:prstGeom prst="rect">
            <a:avLst/>
          </a:prstGeom>
          <a:noFill/>
          <a:ln/>
        </p:spPr>
        <p:txBody>
          <a:bodyPr wrap="square" lIns="0" tIns="0" rIns="0" bIns="0" rtlCol="0" anchor="ctr"/>
          <a:lstStyle/>
          <a:p>
            <a:pPr algn="ctr" indent="0" marL="0">
              <a:buNone/>
            </a:pPr>
            <a:r>
              <a:rPr lang="en-US" sz="1100" spc="242" kern="0" dirty="0">
                <a:solidFill>
                  <a:srgbClr val="7E6716"/>
                </a:solidFill>
                <a:latin typeface="Cambria" pitchFamily="34" charset="0"/>
                <a:ea typeface="Cambria" pitchFamily="34" charset="-122"/>
                <a:cs typeface="Cambria" pitchFamily="34" charset="-120"/>
              </a:rPr>
              <a:t>CONTEXT</a:t>
            </a:r>
            <a:endParaRPr lang="en-US" sz="1100" dirty="0"/>
          </a:p>
        </p:txBody>
      </p:sp>
      <p:sp>
        <p:nvSpPr>
          <p:cNvPr id="9" name="Text 7"/>
          <p:cNvSpPr txBox="1"/>
          <p:nvPr/>
        </p:nvSpPr>
        <p:spPr>
          <a:xfrm>
            <a:off x="1051560" y="3529584"/>
            <a:ext cx="10088575" cy="457200"/>
          </a:xfrm>
          <a:prstGeom prst="rect">
            <a:avLst/>
          </a:prstGeom>
          <a:noFill/>
          <a:ln/>
        </p:spPr>
        <p:txBody>
          <a:bodyPr wrap="square" lIns="0" tIns="0" rIns="0" bIns="0" rtlCol="0" anchor="ctr"/>
          <a:lstStyle/>
          <a:p>
            <a:pPr algn="ctr" indent="0" marL="0">
              <a:buNone/>
            </a:pPr>
            <a:r>
              <a:rPr lang="en-US" sz="1300" spc="286" kern="0" dirty="0">
                <a:solidFill>
                  <a:srgbClr val="8A7526"/>
                </a:solidFill>
                <a:latin typeface="Cambria" pitchFamily="34" charset="0"/>
                <a:ea typeface="Cambria" pitchFamily="34" charset="-122"/>
                <a:cs typeface="Cambria" pitchFamily="34" charset="-120"/>
              </a:rPr>
              <a:t>QUALITY</a:t>
            </a:r>
            <a:endParaRPr lang="en-US" sz="1300" dirty="0"/>
          </a:p>
        </p:txBody>
      </p:sp>
      <p:sp>
        <p:nvSpPr>
          <p:cNvPr id="10" name="Text 8"/>
          <p:cNvSpPr txBox="1"/>
          <p:nvPr/>
        </p:nvSpPr>
        <p:spPr>
          <a:xfrm>
            <a:off x="1051560" y="4041648"/>
            <a:ext cx="10088575" cy="457200"/>
          </a:xfrm>
          <a:prstGeom prst="rect">
            <a:avLst/>
          </a:prstGeom>
          <a:noFill/>
          <a:ln/>
        </p:spPr>
        <p:txBody>
          <a:bodyPr wrap="square" lIns="0" tIns="0" rIns="0" bIns="0" rtlCol="0" anchor="ctr"/>
          <a:lstStyle/>
          <a:p>
            <a:pPr algn="ctr" indent="0" marL="0">
              <a:buNone/>
            </a:pPr>
            <a:r>
              <a:rPr lang="en-US" sz="1600" spc="352" kern="0" dirty="0">
                <a:solidFill>
                  <a:srgbClr val="A88B26"/>
                </a:solidFill>
                <a:latin typeface="Cambria" pitchFamily="34" charset="0"/>
                <a:ea typeface="Cambria" pitchFamily="34" charset="-122"/>
                <a:cs typeface="Cambria" pitchFamily="34" charset="-120"/>
              </a:rPr>
              <a:t>LINEAGE</a:t>
            </a:r>
            <a:endParaRPr lang="en-US" sz="1600" dirty="0"/>
          </a:p>
        </p:txBody>
      </p:sp>
      <p:sp>
        <p:nvSpPr>
          <p:cNvPr id="11" name="Text 9"/>
          <p:cNvSpPr txBox="1"/>
          <p:nvPr/>
        </p:nvSpPr>
        <p:spPr>
          <a:xfrm>
            <a:off x="1051560" y="4681728"/>
            <a:ext cx="10088575" cy="457200"/>
          </a:xfrm>
          <a:prstGeom prst="rect">
            <a:avLst/>
          </a:prstGeom>
          <a:noFill/>
          <a:ln/>
        </p:spPr>
        <p:txBody>
          <a:bodyPr wrap="square" lIns="0" tIns="0" rIns="0" bIns="0" rtlCol="0" anchor="ctr"/>
          <a:lstStyle/>
          <a:p>
            <a:pPr algn="ctr" indent="0" marL="0">
              <a:buNone/>
            </a:pPr>
            <a:r>
              <a:rPr lang="en-US" sz="2000" spc="440" kern="0" dirty="0">
                <a:solidFill>
                  <a:srgbClr val="C9A227"/>
                </a:solidFill>
                <a:latin typeface="Cambria" pitchFamily="34" charset="0"/>
                <a:ea typeface="Cambria" pitchFamily="34" charset="-122"/>
                <a:cs typeface="Cambria" pitchFamily="34" charset="-120"/>
              </a:rPr>
              <a:t>OWNERSHIP</a:t>
            </a:r>
            <a:endParaRPr lang="en-US" sz="2000" dirty="0"/>
          </a:p>
        </p:txBody>
      </p:sp>
      <p:sp>
        <p:nvSpPr>
          <p:cNvPr id="12" name="Text 10"/>
          <p:cNvSpPr txBox="1"/>
          <p:nvPr/>
        </p:nvSpPr>
        <p:spPr>
          <a:xfrm>
            <a:off x="1051560" y="5468112"/>
            <a:ext cx="10088575" cy="457200"/>
          </a:xfrm>
          <a:prstGeom prst="rect">
            <a:avLst/>
          </a:prstGeom>
          <a:noFill/>
          <a:ln/>
        </p:spPr>
        <p:txBody>
          <a:bodyPr wrap="square" lIns="0" tIns="0" rIns="0" bIns="0" rtlCol="0" anchor="ctr"/>
          <a:lstStyle/>
          <a:p>
            <a:pPr algn="ctr" indent="0" marL="0">
              <a:buNone/>
            </a:pPr>
            <a:r>
              <a:rPr lang="en-US" sz="2500" spc="550" kern="0" dirty="0">
                <a:solidFill>
                  <a:srgbClr val="C9A227"/>
                </a:solidFill>
                <a:latin typeface="Cambria" pitchFamily="34" charset="0"/>
                <a:ea typeface="Cambria" pitchFamily="34" charset="-122"/>
                <a:cs typeface="Cambria" pitchFamily="34" charset="-120"/>
              </a:rPr>
              <a:t>DEFINITIONS</a:t>
            </a:r>
            <a:endParaRPr lang="en-US" sz="2500" dirty="0"/>
          </a:p>
        </p:txBody>
      </p:sp>
      <p:sp>
        <p:nvSpPr>
          <p:cNvPr id="13" name="Text 11"/>
          <p:cNvSpPr txBox="1"/>
          <p:nvPr/>
        </p:nvSpPr>
        <p:spPr>
          <a:xfrm>
            <a:off x="822960" y="1298448"/>
            <a:ext cx="9692640" cy="566928"/>
          </a:xfrm>
          <a:prstGeom prst="rect">
            <a:avLst/>
          </a:prstGeom>
          <a:noFill/>
          <a:ln/>
        </p:spPr>
        <p:txBody>
          <a:bodyPr wrap="square" lIns="0" tIns="0" rIns="0" bIns="0" rtlCol="0" anchor="ctr"/>
          <a:lstStyle/>
          <a:p>
            <a:pPr indent="0" marL="0">
              <a:buNone/>
            </a:pPr>
            <a:r>
              <a:rPr lang="en-US" sz="3200" dirty="0">
                <a:solidFill>
                  <a:srgbClr val="EAE4DA"/>
                </a:solidFill>
                <a:latin typeface="Cambria" pitchFamily="34" charset="0"/>
                <a:ea typeface="Cambria" pitchFamily="34" charset="-122"/>
                <a:cs typeface="Cambria" pitchFamily="34" charset="-120"/>
              </a:rPr>
              <a:t>But we do not get there by teleportation.</a:t>
            </a:r>
            <a:endParaRPr lang="en-US" sz="3200" dirty="0"/>
          </a:p>
        </p:txBody>
      </p:sp>
      <p:sp>
        <p:nvSpPr>
          <p:cNvPr id="14" name="Text 12"/>
          <p:cNvSpPr txBox="1"/>
          <p:nvPr/>
        </p:nvSpPr>
        <p:spPr>
          <a:xfrm>
            <a:off x="822960" y="6144768"/>
            <a:ext cx="10515600" cy="566928"/>
          </a:xfrm>
          <a:prstGeom prst="rect">
            <a:avLst/>
          </a:prstGeom>
          <a:noFill/>
          <a:ln/>
        </p:spPr>
        <p:txBody>
          <a:bodyPr wrap="square" lIns="0" tIns="0" rIns="0" bIns="0" rtlCol="0" anchor="ctr"/>
          <a:lstStyle/>
          <a:p>
            <a:pPr indent="0" marL="0">
              <a:lnSpc>
                <a:spcPts val="1800"/>
              </a:lnSpc>
              <a:buNone/>
            </a:pPr>
            <a:r>
              <a:rPr lang="en-US" sz="1250" dirty="0">
                <a:solidFill>
                  <a:srgbClr val="8A8378"/>
                </a:solidFill>
                <a:latin typeface="Calibri" pitchFamily="34" charset="0"/>
                <a:ea typeface="Calibri" pitchFamily="34" charset="-122"/>
                <a:cs typeface="Calibri" pitchFamily="34" charset="-120"/>
              </a:rPr>
              <a:t>Build the road from data nobody trusts, definitions nobody shares and processes nobody adopts,</a:t>
            </a:r>
            <a:endParaRPr lang="en-US" sz="1250" dirty="0"/>
          </a:p>
          <a:p>
            <a:pPr indent="0" marL="0">
              <a:lnSpc>
                <a:spcPts val="1800"/>
              </a:lnSpc>
              <a:buNone/>
            </a:pPr>
            <a:r>
              <a:rPr lang="en-US" sz="1250" dirty="0">
                <a:solidFill>
                  <a:srgbClr val="8A8378"/>
                </a:solidFill>
                <a:latin typeface="Calibri" pitchFamily="34" charset="0"/>
                <a:ea typeface="Calibri" pitchFamily="34" charset="-122"/>
                <a:cs typeface="Calibri" pitchFamily="34" charset="-120"/>
              </a:rPr>
              <a:t>and we have simply built another Brasília.</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22960" y="713232"/>
            <a:ext cx="8229600" cy="219456"/>
          </a:xfrm>
          <a:prstGeom prst="rect">
            <a:avLst/>
          </a:prstGeom>
          <a:noFill/>
          <a:ln/>
        </p:spPr>
        <p:txBody>
          <a:bodyPr wrap="square" lIns="0" tIns="0" rIns="0" bIns="0" rtlCol="0" anchor="ctr"/>
          <a:lstStyle/>
          <a:p>
            <a:pPr algn="l" indent="0" marL="0">
              <a:buNone/>
            </a:pPr>
            <a:r>
              <a:rPr lang="en-US" sz="900" spc="160" kern="0" dirty="0">
                <a:solidFill>
                  <a:srgbClr val="8A8378"/>
                </a:solidFill>
                <a:latin typeface="Courier New" pitchFamily="34" charset="0"/>
                <a:ea typeface="Courier New" pitchFamily="34" charset="-122"/>
                <a:cs typeface="Courier New" pitchFamily="34" charset="-120"/>
              </a:rPr>
              <a:t>08   ·   BACK AT GROUND LEVEL</a:t>
            </a:r>
            <a:endParaRPr lang="en-US" sz="900" dirty="0"/>
          </a:p>
        </p:txBody>
      </p:sp>
      <p:sp>
        <p:nvSpPr>
          <p:cNvPr id="3" name="Text 1"/>
          <p:cNvSpPr txBox="1"/>
          <p:nvPr/>
        </p:nvSpPr>
        <p:spPr>
          <a:xfrm>
            <a:off x="822960" y="1234440"/>
            <a:ext cx="10058400" cy="1005840"/>
          </a:xfrm>
          <a:prstGeom prst="rect">
            <a:avLst/>
          </a:prstGeom>
          <a:noFill/>
          <a:ln/>
        </p:spPr>
        <p:txBody>
          <a:bodyPr wrap="square" lIns="0" tIns="0" rIns="0" bIns="0" rtlCol="0" anchor="ctr"/>
          <a:lstStyle/>
          <a:p>
            <a:pPr indent="0" marL="0">
              <a:lnSpc>
                <a:spcPts val="3600"/>
              </a:lnSpc>
              <a:buNone/>
            </a:pPr>
            <a:r>
              <a:rPr lang="en-US" sz="2600" dirty="0">
                <a:solidFill>
                  <a:srgbClr val="8A8378"/>
                </a:solidFill>
                <a:latin typeface="Cambria" pitchFamily="34" charset="0"/>
                <a:ea typeface="Cambria" pitchFamily="34" charset="-122"/>
                <a:cs typeface="Cambria" pitchFamily="34" charset="-120"/>
              </a:rPr>
              <a:t>A digital twin is probably the most beautiful aerial view</a:t>
            </a:r>
            <a:endParaRPr lang="en-US" sz="2600" dirty="0"/>
          </a:p>
          <a:p>
            <a:pPr indent="0" marL="0">
              <a:lnSpc>
                <a:spcPts val="3600"/>
              </a:lnSpc>
              <a:buNone/>
            </a:pPr>
            <a:r>
              <a:rPr lang="en-US" sz="2600" dirty="0">
                <a:solidFill>
                  <a:srgbClr val="8A8378"/>
                </a:solidFill>
                <a:latin typeface="Cambria" pitchFamily="34" charset="0"/>
                <a:ea typeface="Cambria" pitchFamily="34" charset="-122"/>
                <a:cs typeface="Cambria" pitchFamily="34" charset="-120"/>
              </a:rPr>
              <a:t>our industry has ever built.</a:t>
            </a:r>
            <a:endParaRPr lang="en-US" sz="2600" dirty="0"/>
          </a:p>
        </p:txBody>
      </p:sp>
      <p:sp>
        <p:nvSpPr>
          <p:cNvPr id="4" name="Text 2"/>
          <p:cNvSpPr txBox="1"/>
          <p:nvPr/>
        </p:nvSpPr>
        <p:spPr>
          <a:xfrm>
            <a:off x="822960" y="2304288"/>
            <a:ext cx="10058400" cy="640080"/>
          </a:xfrm>
          <a:prstGeom prst="rect">
            <a:avLst/>
          </a:prstGeom>
          <a:noFill/>
          <a:ln/>
        </p:spPr>
        <p:txBody>
          <a:bodyPr wrap="square" lIns="0" tIns="0" rIns="0" bIns="0" rtlCol="0" anchor="ctr"/>
          <a:lstStyle/>
          <a:p>
            <a:pPr indent="0" marL="0">
              <a:buNone/>
            </a:pPr>
            <a:r>
              <a:rPr lang="en-US" sz="3400" b="1" dirty="0">
                <a:solidFill>
                  <a:srgbClr val="EAE4DA"/>
                </a:solidFill>
                <a:latin typeface="Cambria" pitchFamily="34" charset="0"/>
                <a:ea typeface="Cambria" pitchFamily="34" charset="-122"/>
                <a:cs typeface="Cambria" pitchFamily="34" charset="-120"/>
              </a:rPr>
              <a:t>But a twin is still a plan.</a:t>
            </a:r>
            <a:endParaRPr lang="en-US" sz="3400" dirty="0"/>
          </a:p>
        </p:txBody>
      </p:sp>
      <p:sp>
        <p:nvSpPr>
          <p:cNvPr id="5" name="Shape 3"/>
          <p:cNvSpPr/>
          <p:nvPr/>
        </p:nvSpPr>
        <p:spPr>
          <a:xfrm>
            <a:off x="3246120" y="2971800"/>
            <a:ext cx="0" cy="2468880"/>
          </a:xfrm>
          <a:prstGeom prst="line">
            <a:avLst/>
          </a:prstGeom>
          <a:noFill/>
          <a:ln w="6350">
            <a:solidFill>
              <a:srgbClr val="332F28"/>
            </a:solidFill>
            <a:prstDash val="solid"/>
          </a:ln>
        </p:spPr>
      </p:sp>
      <p:sp>
        <p:nvSpPr>
          <p:cNvPr id="6" name="Shape 4"/>
          <p:cNvSpPr/>
          <p:nvPr/>
        </p:nvSpPr>
        <p:spPr>
          <a:xfrm>
            <a:off x="1188720" y="4107485"/>
            <a:ext cx="4114800" cy="0"/>
          </a:xfrm>
          <a:prstGeom prst="line">
            <a:avLst/>
          </a:prstGeom>
          <a:noFill/>
          <a:ln w="6350">
            <a:solidFill>
              <a:srgbClr val="332F28"/>
            </a:solidFill>
            <a:prstDash val="solid"/>
          </a:ln>
        </p:spPr>
      </p:sp>
      <p:sp>
        <p:nvSpPr>
          <p:cNvPr id="7" name="Shape 5"/>
          <p:cNvSpPr/>
          <p:nvPr/>
        </p:nvSpPr>
        <p:spPr>
          <a:xfrm>
            <a:off x="2777033" y="3687775"/>
            <a:ext cx="213970" cy="308610"/>
          </a:xfrm>
          <a:prstGeom prst="rect">
            <a:avLst/>
          </a:prstGeom>
          <a:ln w="6350">
            <a:solidFill>
              <a:srgbClr val="332F28"/>
            </a:solidFill>
            <a:prstDash val="solid"/>
          </a:ln>
        </p:spPr>
      </p:sp>
      <p:sp>
        <p:nvSpPr>
          <p:cNvPr id="8" name="Shape 6"/>
          <p:cNvSpPr/>
          <p:nvPr/>
        </p:nvSpPr>
        <p:spPr>
          <a:xfrm>
            <a:off x="2777033" y="4218584"/>
            <a:ext cx="213970" cy="308610"/>
          </a:xfrm>
          <a:prstGeom prst="rect">
            <a:avLst/>
          </a:prstGeom>
          <a:ln w="6350">
            <a:solidFill>
              <a:srgbClr val="332F28"/>
            </a:solidFill>
            <a:prstDash val="solid"/>
          </a:ln>
        </p:spPr>
      </p:sp>
      <p:sp>
        <p:nvSpPr>
          <p:cNvPr id="9" name="Shape 7"/>
          <p:cNvSpPr/>
          <p:nvPr/>
        </p:nvSpPr>
        <p:spPr>
          <a:xfrm>
            <a:off x="3501238" y="3687775"/>
            <a:ext cx="213970" cy="308610"/>
          </a:xfrm>
          <a:prstGeom prst="rect">
            <a:avLst/>
          </a:prstGeom>
          <a:ln w="6350">
            <a:solidFill>
              <a:srgbClr val="332F28"/>
            </a:solidFill>
            <a:prstDash val="solid"/>
          </a:ln>
        </p:spPr>
      </p:sp>
      <p:sp>
        <p:nvSpPr>
          <p:cNvPr id="10" name="Shape 8"/>
          <p:cNvSpPr/>
          <p:nvPr/>
        </p:nvSpPr>
        <p:spPr>
          <a:xfrm>
            <a:off x="3501238" y="4218584"/>
            <a:ext cx="213970" cy="308610"/>
          </a:xfrm>
          <a:prstGeom prst="rect">
            <a:avLst/>
          </a:prstGeom>
          <a:ln w="6350">
            <a:solidFill>
              <a:srgbClr val="332F28"/>
            </a:solidFill>
            <a:prstDash val="solid"/>
          </a:ln>
        </p:spPr>
      </p:sp>
      <p:sp>
        <p:nvSpPr>
          <p:cNvPr id="11" name="Shape 9"/>
          <p:cNvSpPr/>
          <p:nvPr/>
        </p:nvSpPr>
        <p:spPr>
          <a:xfrm>
            <a:off x="2414930" y="3687775"/>
            <a:ext cx="213970" cy="308610"/>
          </a:xfrm>
          <a:prstGeom prst="rect">
            <a:avLst/>
          </a:prstGeom>
          <a:ln w="6350">
            <a:solidFill>
              <a:srgbClr val="332F28"/>
            </a:solidFill>
            <a:prstDash val="solid"/>
          </a:ln>
        </p:spPr>
      </p:sp>
      <p:sp>
        <p:nvSpPr>
          <p:cNvPr id="12" name="Shape 10"/>
          <p:cNvSpPr/>
          <p:nvPr/>
        </p:nvSpPr>
        <p:spPr>
          <a:xfrm>
            <a:off x="2414930" y="4218584"/>
            <a:ext cx="213970" cy="308610"/>
          </a:xfrm>
          <a:prstGeom prst="rect">
            <a:avLst/>
          </a:prstGeom>
          <a:ln w="6350">
            <a:solidFill>
              <a:srgbClr val="332F28"/>
            </a:solidFill>
            <a:prstDash val="solid"/>
          </a:ln>
        </p:spPr>
      </p:sp>
      <p:sp>
        <p:nvSpPr>
          <p:cNvPr id="13" name="Shape 11"/>
          <p:cNvSpPr/>
          <p:nvPr/>
        </p:nvSpPr>
        <p:spPr>
          <a:xfrm>
            <a:off x="3863340" y="3687775"/>
            <a:ext cx="213970" cy="308610"/>
          </a:xfrm>
          <a:prstGeom prst="rect">
            <a:avLst/>
          </a:prstGeom>
          <a:ln w="6350">
            <a:solidFill>
              <a:srgbClr val="332F28"/>
            </a:solidFill>
            <a:prstDash val="solid"/>
          </a:ln>
        </p:spPr>
      </p:sp>
      <p:sp>
        <p:nvSpPr>
          <p:cNvPr id="14" name="Shape 12"/>
          <p:cNvSpPr/>
          <p:nvPr/>
        </p:nvSpPr>
        <p:spPr>
          <a:xfrm>
            <a:off x="3863340" y="4218584"/>
            <a:ext cx="213970" cy="308610"/>
          </a:xfrm>
          <a:prstGeom prst="rect">
            <a:avLst/>
          </a:prstGeom>
          <a:ln w="6350">
            <a:solidFill>
              <a:srgbClr val="332F28"/>
            </a:solidFill>
            <a:prstDash val="solid"/>
          </a:ln>
        </p:spPr>
      </p:sp>
      <p:sp>
        <p:nvSpPr>
          <p:cNvPr id="15" name="Shape 13"/>
          <p:cNvSpPr/>
          <p:nvPr/>
        </p:nvSpPr>
        <p:spPr>
          <a:xfrm>
            <a:off x="2052828" y="3687775"/>
            <a:ext cx="213970" cy="308610"/>
          </a:xfrm>
          <a:prstGeom prst="rect">
            <a:avLst/>
          </a:prstGeom>
          <a:ln w="6350">
            <a:solidFill>
              <a:srgbClr val="332F28"/>
            </a:solidFill>
            <a:prstDash val="solid"/>
          </a:ln>
        </p:spPr>
      </p:sp>
      <p:sp>
        <p:nvSpPr>
          <p:cNvPr id="16" name="Shape 14"/>
          <p:cNvSpPr/>
          <p:nvPr/>
        </p:nvSpPr>
        <p:spPr>
          <a:xfrm>
            <a:off x="2052828" y="4218584"/>
            <a:ext cx="213970" cy="308610"/>
          </a:xfrm>
          <a:prstGeom prst="rect">
            <a:avLst/>
          </a:prstGeom>
          <a:ln w="6350">
            <a:solidFill>
              <a:srgbClr val="332F28"/>
            </a:solidFill>
            <a:prstDash val="solid"/>
          </a:ln>
        </p:spPr>
      </p:sp>
      <p:sp>
        <p:nvSpPr>
          <p:cNvPr id="17" name="Shape 15"/>
          <p:cNvSpPr/>
          <p:nvPr/>
        </p:nvSpPr>
        <p:spPr>
          <a:xfrm>
            <a:off x="4225442" y="3687775"/>
            <a:ext cx="213970" cy="308610"/>
          </a:xfrm>
          <a:prstGeom prst="rect">
            <a:avLst/>
          </a:prstGeom>
          <a:ln w="6350">
            <a:solidFill>
              <a:srgbClr val="332F28"/>
            </a:solidFill>
            <a:prstDash val="solid"/>
          </a:ln>
        </p:spPr>
      </p:sp>
      <p:sp>
        <p:nvSpPr>
          <p:cNvPr id="18" name="Shape 16"/>
          <p:cNvSpPr/>
          <p:nvPr/>
        </p:nvSpPr>
        <p:spPr>
          <a:xfrm>
            <a:off x="4225442" y="4218584"/>
            <a:ext cx="213970" cy="308610"/>
          </a:xfrm>
          <a:prstGeom prst="rect">
            <a:avLst/>
          </a:prstGeom>
          <a:ln w="6350">
            <a:solidFill>
              <a:srgbClr val="332F28"/>
            </a:solidFill>
            <a:prstDash val="solid"/>
          </a:ln>
        </p:spPr>
      </p:sp>
      <p:sp>
        <p:nvSpPr>
          <p:cNvPr id="19" name="Shape 17"/>
          <p:cNvSpPr/>
          <p:nvPr/>
        </p:nvSpPr>
        <p:spPr>
          <a:xfrm>
            <a:off x="1690726" y="3687775"/>
            <a:ext cx="213970" cy="308610"/>
          </a:xfrm>
          <a:prstGeom prst="rect">
            <a:avLst/>
          </a:prstGeom>
          <a:ln w="6350">
            <a:solidFill>
              <a:srgbClr val="332F28"/>
            </a:solidFill>
            <a:prstDash val="solid"/>
          </a:ln>
        </p:spPr>
      </p:sp>
      <p:sp>
        <p:nvSpPr>
          <p:cNvPr id="20" name="Shape 18"/>
          <p:cNvSpPr/>
          <p:nvPr/>
        </p:nvSpPr>
        <p:spPr>
          <a:xfrm>
            <a:off x="1690726" y="4218584"/>
            <a:ext cx="213970" cy="308610"/>
          </a:xfrm>
          <a:prstGeom prst="rect">
            <a:avLst/>
          </a:prstGeom>
          <a:ln w="6350">
            <a:solidFill>
              <a:srgbClr val="332F28"/>
            </a:solidFill>
            <a:prstDash val="solid"/>
          </a:ln>
        </p:spPr>
      </p:sp>
      <p:sp>
        <p:nvSpPr>
          <p:cNvPr id="21" name="Shape 19"/>
          <p:cNvSpPr/>
          <p:nvPr/>
        </p:nvSpPr>
        <p:spPr>
          <a:xfrm>
            <a:off x="4587545" y="3687775"/>
            <a:ext cx="213970" cy="308610"/>
          </a:xfrm>
          <a:prstGeom prst="rect">
            <a:avLst/>
          </a:prstGeom>
          <a:ln w="6350">
            <a:solidFill>
              <a:srgbClr val="332F28"/>
            </a:solidFill>
            <a:prstDash val="solid"/>
          </a:ln>
        </p:spPr>
      </p:sp>
      <p:sp>
        <p:nvSpPr>
          <p:cNvPr id="22" name="Shape 20"/>
          <p:cNvSpPr/>
          <p:nvPr/>
        </p:nvSpPr>
        <p:spPr>
          <a:xfrm>
            <a:off x="4587545" y="4218584"/>
            <a:ext cx="213970" cy="308610"/>
          </a:xfrm>
          <a:prstGeom prst="rect">
            <a:avLst/>
          </a:prstGeom>
          <a:ln w="6350">
            <a:solidFill>
              <a:srgbClr val="332F28"/>
            </a:solidFill>
            <a:prstDash val="solid"/>
          </a:ln>
        </p:spPr>
      </p:sp>
      <p:sp>
        <p:nvSpPr>
          <p:cNvPr id="23" name="Shape 21"/>
          <p:cNvSpPr/>
          <p:nvPr/>
        </p:nvSpPr>
        <p:spPr>
          <a:xfrm>
            <a:off x="1328623" y="3687775"/>
            <a:ext cx="213970" cy="308610"/>
          </a:xfrm>
          <a:prstGeom prst="rect">
            <a:avLst/>
          </a:prstGeom>
          <a:ln w="6350">
            <a:solidFill>
              <a:srgbClr val="332F28"/>
            </a:solidFill>
            <a:prstDash val="solid"/>
          </a:ln>
        </p:spPr>
      </p:sp>
      <p:sp>
        <p:nvSpPr>
          <p:cNvPr id="24" name="Shape 22"/>
          <p:cNvSpPr/>
          <p:nvPr/>
        </p:nvSpPr>
        <p:spPr>
          <a:xfrm>
            <a:off x="1328623" y="4218584"/>
            <a:ext cx="213970" cy="308610"/>
          </a:xfrm>
          <a:prstGeom prst="rect">
            <a:avLst/>
          </a:prstGeom>
          <a:ln w="6350">
            <a:solidFill>
              <a:srgbClr val="332F28"/>
            </a:solidFill>
            <a:prstDash val="solid"/>
          </a:ln>
        </p:spPr>
      </p:sp>
      <p:sp>
        <p:nvSpPr>
          <p:cNvPr id="25" name="Shape 23"/>
          <p:cNvSpPr/>
          <p:nvPr/>
        </p:nvSpPr>
        <p:spPr>
          <a:xfrm>
            <a:off x="4949647" y="3687775"/>
            <a:ext cx="213970" cy="308610"/>
          </a:xfrm>
          <a:prstGeom prst="rect">
            <a:avLst/>
          </a:prstGeom>
          <a:ln w="6350">
            <a:solidFill>
              <a:srgbClr val="332F28"/>
            </a:solidFill>
            <a:prstDash val="solid"/>
          </a:ln>
        </p:spPr>
      </p:sp>
      <p:sp>
        <p:nvSpPr>
          <p:cNvPr id="26" name="Shape 24"/>
          <p:cNvSpPr/>
          <p:nvPr/>
        </p:nvSpPr>
        <p:spPr>
          <a:xfrm>
            <a:off x="4949647" y="4218584"/>
            <a:ext cx="213970" cy="308610"/>
          </a:xfrm>
          <a:prstGeom prst="rect">
            <a:avLst/>
          </a:prstGeom>
          <a:ln w="6350">
            <a:solidFill>
              <a:srgbClr val="332F28"/>
            </a:solidFill>
            <a:prstDash val="solid"/>
          </a:ln>
        </p:spPr>
      </p:sp>
      <p:sp>
        <p:nvSpPr>
          <p:cNvPr id="27" name="Shape 25"/>
          <p:cNvSpPr/>
          <p:nvPr/>
        </p:nvSpPr>
        <p:spPr>
          <a:xfrm>
            <a:off x="2711196" y="4798771"/>
            <a:ext cx="1069848" cy="74066"/>
          </a:xfrm>
          <a:prstGeom prst="rect">
            <a:avLst/>
          </a:prstGeom>
          <a:ln w="6350">
            <a:solidFill>
              <a:srgbClr val="332F28"/>
            </a:solidFill>
            <a:prstDash val="solid"/>
          </a:ln>
        </p:spPr>
      </p:sp>
      <p:sp>
        <p:nvSpPr>
          <p:cNvPr id="28" name="Shape 26"/>
          <p:cNvSpPr/>
          <p:nvPr/>
        </p:nvSpPr>
        <p:spPr>
          <a:xfrm>
            <a:off x="2711196" y="4983937"/>
            <a:ext cx="1069848" cy="74066"/>
          </a:xfrm>
          <a:prstGeom prst="rect">
            <a:avLst/>
          </a:prstGeom>
          <a:ln w="6350">
            <a:solidFill>
              <a:srgbClr val="332F28"/>
            </a:solidFill>
            <a:prstDash val="solid"/>
          </a:ln>
        </p:spPr>
      </p:sp>
      <p:sp>
        <p:nvSpPr>
          <p:cNvPr id="29" name="Shape 27"/>
          <p:cNvSpPr/>
          <p:nvPr/>
        </p:nvSpPr>
        <p:spPr>
          <a:xfrm>
            <a:off x="2711196" y="5169103"/>
            <a:ext cx="1069848" cy="74066"/>
          </a:xfrm>
          <a:prstGeom prst="rect">
            <a:avLst/>
          </a:prstGeom>
          <a:ln w="6350">
            <a:solidFill>
              <a:srgbClr val="332F28"/>
            </a:solidFill>
            <a:prstDash val="solid"/>
          </a:ln>
        </p:spPr>
      </p:sp>
      <p:sp>
        <p:nvSpPr>
          <p:cNvPr id="30" name="Shape 28"/>
          <p:cNvSpPr/>
          <p:nvPr/>
        </p:nvSpPr>
        <p:spPr>
          <a:xfrm>
            <a:off x="2958084" y="2971800"/>
            <a:ext cx="576072" cy="419710"/>
          </a:xfrm>
          <a:prstGeom prst="rect">
            <a:avLst/>
          </a:prstGeom>
          <a:ln w="6350">
            <a:solidFill>
              <a:srgbClr val="332F28"/>
            </a:solidFill>
            <a:prstDash val="solid"/>
          </a:ln>
        </p:spPr>
      </p:sp>
      <p:sp>
        <p:nvSpPr>
          <p:cNvPr id="31" name="Text 29"/>
          <p:cNvSpPr txBox="1"/>
          <p:nvPr/>
        </p:nvSpPr>
        <p:spPr>
          <a:xfrm>
            <a:off x="2331720" y="5687568"/>
            <a:ext cx="1828800" cy="219456"/>
          </a:xfrm>
          <a:prstGeom prst="rect">
            <a:avLst/>
          </a:prstGeom>
          <a:noFill/>
          <a:ln/>
        </p:spPr>
        <p:txBody>
          <a:bodyPr wrap="square" lIns="0" tIns="0" rIns="0" bIns="0" rtlCol="0" anchor="ctr"/>
          <a:lstStyle/>
          <a:p>
            <a:pPr algn="ctr" indent="0" marL="0">
              <a:buNone/>
            </a:pPr>
            <a:r>
              <a:rPr lang="en-US" sz="900" spc="160" kern="0" dirty="0">
                <a:solidFill>
                  <a:srgbClr val="8A8378"/>
                </a:solidFill>
                <a:latin typeface="Courier New" pitchFamily="34" charset="0"/>
                <a:ea typeface="Courier New" pitchFamily="34" charset="-122"/>
                <a:cs typeface="Courier New" pitchFamily="34" charset="-120"/>
              </a:rPr>
              <a:t>THE TWIN</a:t>
            </a:r>
            <a:endParaRPr lang="en-US" sz="900" dirty="0"/>
          </a:p>
        </p:txBody>
      </p:sp>
      <p:sp>
        <p:nvSpPr>
          <p:cNvPr id="32" name="Shape 30"/>
          <p:cNvSpPr/>
          <p:nvPr/>
        </p:nvSpPr>
        <p:spPr>
          <a:xfrm>
            <a:off x="6766560" y="5486400"/>
            <a:ext cx="4480560" cy="0"/>
          </a:xfrm>
          <a:prstGeom prst="line">
            <a:avLst/>
          </a:prstGeom>
          <a:noFill/>
          <a:ln w="12700">
            <a:solidFill>
              <a:srgbClr val="332F28"/>
            </a:solidFill>
            <a:prstDash val="solid"/>
          </a:ln>
        </p:spPr>
      </p:sp>
      <p:sp>
        <p:nvSpPr>
          <p:cNvPr id="33" name="Shape 31"/>
          <p:cNvSpPr/>
          <p:nvPr/>
        </p:nvSpPr>
        <p:spPr>
          <a:xfrm>
            <a:off x="7360920" y="3730752"/>
            <a:ext cx="2468880" cy="987552"/>
          </a:xfrm>
          <a:prstGeom prst="rect">
            <a:avLst/>
          </a:prstGeom>
          <a:ln w="9525">
            <a:solidFill>
              <a:srgbClr val="7E6716"/>
            </a:solidFill>
            <a:prstDash val="solid"/>
          </a:ln>
        </p:spPr>
      </p:sp>
      <p:sp>
        <p:nvSpPr>
          <p:cNvPr id="34" name="Text 32"/>
          <p:cNvSpPr txBox="1"/>
          <p:nvPr/>
        </p:nvSpPr>
        <p:spPr>
          <a:xfrm>
            <a:off x="7360920" y="3730752"/>
            <a:ext cx="2468880" cy="987552"/>
          </a:xfrm>
          <a:prstGeom prst="rect">
            <a:avLst/>
          </a:prstGeom>
          <a:noFill/>
          <a:ln/>
        </p:spPr>
        <p:txBody>
          <a:bodyPr wrap="square" lIns="0" tIns="0" rIns="0" bIns="0" rtlCol="0" anchor="ctr"/>
          <a:lstStyle/>
          <a:p>
            <a:pPr algn="ctr" indent="0" marL="0">
              <a:lnSpc>
                <a:spcPts val="1300"/>
              </a:lnSpc>
              <a:buNone/>
            </a:pPr>
            <a:r>
              <a:rPr lang="en-US" sz="950" dirty="0">
                <a:solidFill>
                  <a:srgbClr val="EAE4DA"/>
                </a:solidFill>
                <a:latin typeface="Calibri" pitchFamily="34" charset="0"/>
                <a:ea typeface="Calibri" pitchFamily="34" charset="-122"/>
                <a:cs typeface="Calibri" pitchFamily="34" charset="-120"/>
              </a:rPr>
              <a:t>It only becomes sustainable,</a:t>
            </a:r>
            <a:endParaRPr lang="en-US" sz="950" dirty="0"/>
          </a:p>
          <a:p>
            <a:pPr algn="ctr" indent="0" marL="0">
              <a:lnSpc>
                <a:spcPts val="1300"/>
              </a:lnSpc>
              <a:buNone/>
            </a:pPr>
            <a:r>
              <a:rPr lang="en-US" sz="950" dirty="0">
                <a:solidFill>
                  <a:srgbClr val="EAE4DA"/>
                </a:solidFill>
                <a:latin typeface="Calibri" pitchFamily="34" charset="0"/>
                <a:ea typeface="Calibri" pitchFamily="34" charset="-122"/>
                <a:cs typeface="Calibri" pitchFamily="34" charset="-120"/>
              </a:rPr>
              <a:t>in both senses, when the operator on the</a:t>
            </a:r>
            <a:endParaRPr lang="en-US" sz="950" dirty="0"/>
          </a:p>
          <a:p>
            <a:pPr algn="ctr" indent="0" marL="0">
              <a:lnSpc>
                <a:spcPts val="1300"/>
              </a:lnSpc>
              <a:buNone/>
            </a:pPr>
            <a:r>
              <a:rPr lang="en-US" sz="950" dirty="0">
                <a:solidFill>
                  <a:srgbClr val="EAE4DA"/>
                </a:solidFill>
                <a:latin typeface="Calibri" pitchFamily="34" charset="0"/>
                <a:ea typeface="Calibri" pitchFamily="34" charset="-122"/>
                <a:cs typeface="Calibri" pitchFamily="34" charset="-120"/>
              </a:rPr>
              <a:t>night shift trusts what it tells them.</a:t>
            </a:r>
            <a:endParaRPr lang="en-US" sz="950" dirty="0"/>
          </a:p>
        </p:txBody>
      </p:sp>
      <p:sp>
        <p:nvSpPr>
          <p:cNvPr id="35" name="Shape 33"/>
          <p:cNvSpPr/>
          <p:nvPr/>
        </p:nvSpPr>
        <p:spPr>
          <a:xfrm>
            <a:off x="8595360" y="4718304"/>
            <a:ext cx="0" cy="292608"/>
          </a:xfrm>
          <a:prstGeom prst="line">
            <a:avLst/>
          </a:prstGeom>
          <a:noFill/>
          <a:ln w="9525">
            <a:solidFill>
              <a:srgbClr val="7E6716"/>
            </a:solidFill>
            <a:prstDash val="solid"/>
          </a:ln>
        </p:spPr>
      </p:sp>
      <p:sp>
        <p:nvSpPr>
          <p:cNvPr id="36" name="Shape 34"/>
          <p:cNvSpPr/>
          <p:nvPr/>
        </p:nvSpPr>
        <p:spPr>
          <a:xfrm>
            <a:off x="8537753" y="5102352"/>
            <a:ext cx="115214" cy="115214"/>
          </a:xfrm>
          <a:prstGeom prst="ellipse">
            <a:avLst/>
          </a:prstGeom>
          <a:solidFill>
            <a:srgbClr val="C9A227"/>
          </a:solidFill>
          <a:ln/>
        </p:spPr>
      </p:sp>
      <p:sp>
        <p:nvSpPr>
          <p:cNvPr id="37" name="Shape 35"/>
          <p:cNvSpPr/>
          <p:nvPr/>
        </p:nvSpPr>
        <p:spPr>
          <a:xfrm>
            <a:off x="8551579" y="5238305"/>
            <a:ext cx="87563" cy="248095"/>
          </a:xfrm>
          <a:prstGeom prst="rect">
            <a:avLst/>
          </a:prstGeom>
          <a:solidFill>
            <a:srgbClr val="C9A227"/>
          </a:solidFill>
          <a:ln/>
        </p:spPr>
      </p:sp>
      <p:sp>
        <p:nvSpPr>
          <p:cNvPr id="38" name="Text 36"/>
          <p:cNvSpPr txBox="1"/>
          <p:nvPr/>
        </p:nvSpPr>
        <p:spPr>
          <a:xfrm>
            <a:off x="7406640" y="5687568"/>
            <a:ext cx="2377440" cy="219456"/>
          </a:xfrm>
          <a:prstGeom prst="rect">
            <a:avLst/>
          </a:prstGeom>
          <a:noFill/>
          <a:ln/>
        </p:spPr>
        <p:txBody>
          <a:bodyPr wrap="square" lIns="0" tIns="0" rIns="0" bIns="0" rtlCol="0" anchor="ctr"/>
          <a:lstStyle/>
          <a:p>
            <a:pPr algn="ctr" indent="0" marL="0">
              <a:buNone/>
            </a:pPr>
            <a:r>
              <a:rPr lang="en-US" sz="900" spc="160" kern="0" dirty="0">
                <a:solidFill>
                  <a:srgbClr val="8A8378"/>
                </a:solidFill>
                <a:latin typeface="Courier New" pitchFamily="34" charset="0"/>
                <a:ea typeface="Courier New" pitchFamily="34" charset="-122"/>
                <a:cs typeface="Courier New" pitchFamily="34" charset="-120"/>
              </a:rPr>
              <a:t>THE NIGHT SHIFT</a:t>
            </a:r>
            <a:endParaRPr lang="en-US" sz="900" dirty="0"/>
          </a:p>
        </p:txBody>
      </p:sp>
      <p:sp>
        <p:nvSpPr>
          <p:cNvPr id="39" name="Text 37"/>
          <p:cNvSpPr txBox="1"/>
          <p:nvPr/>
        </p:nvSpPr>
        <p:spPr>
          <a:xfrm>
            <a:off x="822960" y="6080760"/>
            <a:ext cx="10515600" cy="457200"/>
          </a:xfrm>
          <a:prstGeom prst="rect">
            <a:avLst/>
          </a:prstGeom>
          <a:noFill/>
          <a:ln/>
        </p:spPr>
        <p:txBody>
          <a:bodyPr wrap="square" lIns="0" tIns="0" rIns="0" bIns="0" rtlCol="0" anchor="ctr"/>
          <a:lstStyle/>
          <a:p>
            <a:pPr indent="0" marL="0">
              <a:buNone/>
            </a:pPr>
            <a:r>
              <a:rPr lang="en-US" sz="2000" i="1" dirty="0">
                <a:solidFill>
                  <a:srgbClr val="EAE4DA"/>
                </a:solidFill>
                <a:latin typeface="Cambria" pitchFamily="34" charset="0"/>
                <a:ea typeface="Cambria" pitchFamily="34" charset="-122"/>
                <a:cs typeface="Cambria" pitchFamily="34" charset="-120"/>
              </a:rPr>
              <a:t>Governance has to be designed at human scale.</a:t>
            </a:r>
            <a:endParaRPr lang="en-US" sz="2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089904" y="1078992"/>
            <a:ext cx="0" cy="4389120"/>
          </a:xfrm>
          <a:prstGeom prst="line">
            <a:avLst/>
          </a:prstGeom>
          <a:noFill/>
          <a:ln w="9525">
            <a:solidFill>
              <a:srgbClr val="39342C">
                <a:alpha val="3000"/>
              </a:srgbClr>
            </a:solidFill>
            <a:prstDash val="solid"/>
          </a:ln>
        </p:spPr>
      </p:sp>
      <p:sp>
        <p:nvSpPr>
          <p:cNvPr id="3" name="Shape 1"/>
          <p:cNvSpPr/>
          <p:nvPr/>
        </p:nvSpPr>
        <p:spPr>
          <a:xfrm>
            <a:off x="2432304" y="3097987"/>
            <a:ext cx="7315200" cy="0"/>
          </a:xfrm>
          <a:prstGeom prst="line">
            <a:avLst/>
          </a:prstGeom>
          <a:noFill/>
          <a:ln w="9525">
            <a:solidFill>
              <a:srgbClr val="39342C">
                <a:alpha val="3000"/>
              </a:srgbClr>
            </a:solidFill>
            <a:prstDash val="solid"/>
          </a:ln>
        </p:spPr>
      </p:sp>
      <p:sp>
        <p:nvSpPr>
          <p:cNvPr id="4" name="Shape 2"/>
          <p:cNvSpPr/>
          <p:nvPr/>
        </p:nvSpPr>
        <p:spPr>
          <a:xfrm>
            <a:off x="5255971" y="2351837"/>
            <a:ext cx="380390" cy="548640"/>
          </a:xfrm>
          <a:prstGeom prst="rect">
            <a:avLst/>
          </a:prstGeom>
          <a:ln w="9525">
            <a:solidFill>
              <a:srgbClr val="39342C">
                <a:alpha val="3000"/>
              </a:srgbClr>
            </a:solidFill>
            <a:prstDash val="solid"/>
          </a:ln>
        </p:spPr>
      </p:sp>
      <p:sp>
        <p:nvSpPr>
          <p:cNvPr id="5" name="Shape 3"/>
          <p:cNvSpPr/>
          <p:nvPr/>
        </p:nvSpPr>
        <p:spPr>
          <a:xfrm>
            <a:off x="5255971" y="3295498"/>
            <a:ext cx="380390" cy="548640"/>
          </a:xfrm>
          <a:prstGeom prst="rect">
            <a:avLst/>
          </a:prstGeom>
          <a:ln w="9525">
            <a:solidFill>
              <a:srgbClr val="39342C">
                <a:alpha val="3000"/>
              </a:srgbClr>
            </a:solidFill>
            <a:prstDash val="solid"/>
          </a:ln>
        </p:spPr>
      </p:sp>
      <p:sp>
        <p:nvSpPr>
          <p:cNvPr id="6" name="Shape 4"/>
          <p:cNvSpPr/>
          <p:nvPr/>
        </p:nvSpPr>
        <p:spPr>
          <a:xfrm>
            <a:off x="6543446" y="2351837"/>
            <a:ext cx="380390" cy="548640"/>
          </a:xfrm>
          <a:prstGeom prst="rect">
            <a:avLst/>
          </a:prstGeom>
          <a:ln w="9525">
            <a:solidFill>
              <a:srgbClr val="39342C">
                <a:alpha val="3000"/>
              </a:srgbClr>
            </a:solidFill>
            <a:prstDash val="solid"/>
          </a:ln>
        </p:spPr>
      </p:sp>
      <p:sp>
        <p:nvSpPr>
          <p:cNvPr id="7" name="Shape 5"/>
          <p:cNvSpPr/>
          <p:nvPr/>
        </p:nvSpPr>
        <p:spPr>
          <a:xfrm>
            <a:off x="6543446" y="3295498"/>
            <a:ext cx="380390" cy="548640"/>
          </a:xfrm>
          <a:prstGeom prst="rect">
            <a:avLst/>
          </a:prstGeom>
          <a:ln w="9525">
            <a:solidFill>
              <a:srgbClr val="39342C">
                <a:alpha val="3000"/>
              </a:srgbClr>
            </a:solidFill>
            <a:prstDash val="solid"/>
          </a:ln>
        </p:spPr>
      </p:sp>
      <p:sp>
        <p:nvSpPr>
          <p:cNvPr id="8" name="Shape 6"/>
          <p:cNvSpPr/>
          <p:nvPr/>
        </p:nvSpPr>
        <p:spPr>
          <a:xfrm>
            <a:off x="4612234" y="2351837"/>
            <a:ext cx="380390" cy="548640"/>
          </a:xfrm>
          <a:prstGeom prst="rect">
            <a:avLst/>
          </a:prstGeom>
          <a:ln w="9525">
            <a:solidFill>
              <a:srgbClr val="39342C">
                <a:alpha val="3000"/>
              </a:srgbClr>
            </a:solidFill>
            <a:prstDash val="solid"/>
          </a:ln>
        </p:spPr>
      </p:sp>
      <p:sp>
        <p:nvSpPr>
          <p:cNvPr id="9" name="Shape 7"/>
          <p:cNvSpPr/>
          <p:nvPr/>
        </p:nvSpPr>
        <p:spPr>
          <a:xfrm>
            <a:off x="4612234" y="3295498"/>
            <a:ext cx="380390" cy="548640"/>
          </a:xfrm>
          <a:prstGeom prst="rect">
            <a:avLst/>
          </a:prstGeom>
          <a:ln w="9525">
            <a:solidFill>
              <a:srgbClr val="39342C">
                <a:alpha val="3000"/>
              </a:srgbClr>
            </a:solidFill>
            <a:prstDash val="solid"/>
          </a:ln>
        </p:spPr>
      </p:sp>
      <p:sp>
        <p:nvSpPr>
          <p:cNvPr id="10" name="Shape 8"/>
          <p:cNvSpPr/>
          <p:nvPr/>
        </p:nvSpPr>
        <p:spPr>
          <a:xfrm>
            <a:off x="7187184" y="2351837"/>
            <a:ext cx="380390" cy="548640"/>
          </a:xfrm>
          <a:prstGeom prst="rect">
            <a:avLst/>
          </a:prstGeom>
          <a:ln w="9525">
            <a:solidFill>
              <a:srgbClr val="39342C">
                <a:alpha val="3000"/>
              </a:srgbClr>
            </a:solidFill>
            <a:prstDash val="solid"/>
          </a:ln>
        </p:spPr>
      </p:sp>
      <p:sp>
        <p:nvSpPr>
          <p:cNvPr id="11" name="Shape 9"/>
          <p:cNvSpPr/>
          <p:nvPr/>
        </p:nvSpPr>
        <p:spPr>
          <a:xfrm>
            <a:off x="7187184" y="3295498"/>
            <a:ext cx="380390" cy="548640"/>
          </a:xfrm>
          <a:prstGeom prst="rect">
            <a:avLst/>
          </a:prstGeom>
          <a:ln w="9525">
            <a:solidFill>
              <a:srgbClr val="39342C">
                <a:alpha val="3000"/>
              </a:srgbClr>
            </a:solidFill>
            <a:prstDash val="solid"/>
          </a:ln>
        </p:spPr>
      </p:sp>
      <p:sp>
        <p:nvSpPr>
          <p:cNvPr id="12" name="Shape 10"/>
          <p:cNvSpPr/>
          <p:nvPr/>
        </p:nvSpPr>
        <p:spPr>
          <a:xfrm>
            <a:off x="3968496" y="2351837"/>
            <a:ext cx="380390" cy="548640"/>
          </a:xfrm>
          <a:prstGeom prst="rect">
            <a:avLst/>
          </a:prstGeom>
          <a:ln w="9525">
            <a:solidFill>
              <a:srgbClr val="39342C">
                <a:alpha val="3000"/>
              </a:srgbClr>
            </a:solidFill>
            <a:prstDash val="solid"/>
          </a:ln>
        </p:spPr>
      </p:sp>
      <p:sp>
        <p:nvSpPr>
          <p:cNvPr id="13" name="Shape 11"/>
          <p:cNvSpPr/>
          <p:nvPr/>
        </p:nvSpPr>
        <p:spPr>
          <a:xfrm>
            <a:off x="3968496" y="3295498"/>
            <a:ext cx="380390" cy="548640"/>
          </a:xfrm>
          <a:prstGeom prst="rect">
            <a:avLst/>
          </a:prstGeom>
          <a:ln w="9525">
            <a:solidFill>
              <a:srgbClr val="39342C">
                <a:alpha val="3000"/>
              </a:srgbClr>
            </a:solidFill>
            <a:prstDash val="solid"/>
          </a:ln>
        </p:spPr>
      </p:sp>
      <p:sp>
        <p:nvSpPr>
          <p:cNvPr id="14" name="Shape 12"/>
          <p:cNvSpPr/>
          <p:nvPr/>
        </p:nvSpPr>
        <p:spPr>
          <a:xfrm>
            <a:off x="7830922" y="2351837"/>
            <a:ext cx="380390" cy="548640"/>
          </a:xfrm>
          <a:prstGeom prst="rect">
            <a:avLst/>
          </a:prstGeom>
          <a:ln w="9525">
            <a:solidFill>
              <a:srgbClr val="39342C">
                <a:alpha val="3000"/>
              </a:srgbClr>
            </a:solidFill>
            <a:prstDash val="solid"/>
          </a:ln>
        </p:spPr>
      </p:sp>
      <p:sp>
        <p:nvSpPr>
          <p:cNvPr id="15" name="Shape 13"/>
          <p:cNvSpPr/>
          <p:nvPr/>
        </p:nvSpPr>
        <p:spPr>
          <a:xfrm>
            <a:off x="7830922" y="3295498"/>
            <a:ext cx="380390" cy="548640"/>
          </a:xfrm>
          <a:prstGeom prst="rect">
            <a:avLst/>
          </a:prstGeom>
          <a:ln w="9525">
            <a:solidFill>
              <a:srgbClr val="39342C">
                <a:alpha val="3000"/>
              </a:srgbClr>
            </a:solidFill>
            <a:prstDash val="solid"/>
          </a:ln>
        </p:spPr>
      </p:sp>
      <p:sp>
        <p:nvSpPr>
          <p:cNvPr id="16" name="Shape 14"/>
          <p:cNvSpPr/>
          <p:nvPr/>
        </p:nvSpPr>
        <p:spPr>
          <a:xfrm>
            <a:off x="3324758" y="2351837"/>
            <a:ext cx="380390" cy="548640"/>
          </a:xfrm>
          <a:prstGeom prst="rect">
            <a:avLst/>
          </a:prstGeom>
          <a:ln w="9525">
            <a:solidFill>
              <a:srgbClr val="39342C">
                <a:alpha val="3000"/>
              </a:srgbClr>
            </a:solidFill>
            <a:prstDash val="solid"/>
          </a:ln>
        </p:spPr>
      </p:sp>
      <p:sp>
        <p:nvSpPr>
          <p:cNvPr id="17" name="Shape 15"/>
          <p:cNvSpPr/>
          <p:nvPr/>
        </p:nvSpPr>
        <p:spPr>
          <a:xfrm>
            <a:off x="3324758" y="3295498"/>
            <a:ext cx="380390" cy="548640"/>
          </a:xfrm>
          <a:prstGeom prst="rect">
            <a:avLst/>
          </a:prstGeom>
          <a:ln w="9525">
            <a:solidFill>
              <a:srgbClr val="39342C">
                <a:alpha val="3000"/>
              </a:srgbClr>
            </a:solidFill>
            <a:prstDash val="solid"/>
          </a:ln>
        </p:spPr>
      </p:sp>
      <p:sp>
        <p:nvSpPr>
          <p:cNvPr id="18" name="Shape 16"/>
          <p:cNvSpPr/>
          <p:nvPr/>
        </p:nvSpPr>
        <p:spPr>
          <a:xfrm>
            <a:off x="8474659" y="2351837"/>
            <a:ext cx="380390" cy="548640"/>
          </a:xfrm>
          <a:prstGeom prst="rect">
            <a:avLst/>
          </a:prstGeom>
          <a:ln w="9525">
            <a:solidFill>
              <a:srgbClr val="39342C">
                <a:alpha val="3000"/>
              </a:srgbClr>
            </a:solidFill>
            <a:prstDash val="solid"/>
          </a:ln>
        </p:spPr>
      </p:sp>
      <p:sp>
        <p:nvSpPr>
          <p:cNvPr id="19" name="Shape 17"/>
          <p:cNvSpPr/>
          <p:nvPr/>
        </p:nvSpPr>
        <p:spPr>
          <a:xfrm>
            <a:off x="8474659" y="3295498"/>
            <a:ext cx="380390" cy="548640"/>
          </a:xfrm>
          <a:prstGeom prst="rect">
            <a:avLst/>
          </a:prstGeom>
          <a:ln w="9525">
            <a:solidFill>
              <a:srgbClr val="39342C">
                <a:alpha val="3000"/>
              </a:srgbClr>
            </a:solidFill>
            <a:prstDash val="solid"/>
          </a:ln>
        </p:spPr>
      </p:sp>
      <p:sp>
        <p:nvSpPr>
          <p:cNvPr id="20" name="Shape 18"/>
          <p:cNvSpPr/>
          <p:nvPr/>
        </p:nvSpPr>
        <p:spPr>
          <a:xfrm>
            <a:off x="2681021" y="2351837"/>
            <a:ext cx="380390" cy="548640"/>
          </a:xfrm>
          <a:prstGeom prst="rect">
            <a:avLst/>
          </a:prstGeom>
          <a:ln w="9525">
            <a:solidFill>
              <a:srgbClr val="39342C">
                <a:alpha val="3000"/>
              </a:srgbClr>
            </a:solidFill>
            <a:prstDash val="solid"/>
          </a:ln>
        </p:spPr>
      </p:sp>
      <p:sp>
        <p:nvSpPr>
          <p:cNvPr id="21" name="Shape 19"/>
          <p:cNvSpPr/>
          <p:nvPr/>
        </p:nvSpPr>
        <p:spPr>
          <a:xfrm>
            <a:off x="2681021" y="3295498"/>
            <a:ext cx="380390" cy="548640"/>
          </a:xfrm>
          <a:prstGeom prst="rect">
            <a:avLst/>
          </a:prstGeom>
          <a:ln w="9525">
            <a:solidFill>
              <a:srgbClr val="39342C">
                <a:alpha val="3000"/>
              </a:srgbClr>
            </a:solidFill>
            <a:prstDash val="solid"/>
          </a:ln>
        </p:spPr>
      </p:sp>
      <p:sp>
        <p:nvSpPr>
          <p:cNvPr id="22" name="Shape 20"/>
          <p:cNvSpPr/>
          <p:nvPr/>
        </p:nvSpPr>
        <p:spPr>
          <a:xfrm>
            <a:off x="9118397" y="2351837"/>
            <a:ext cx="380390" cy="548640"/>
          </a:xfrm>
          <a:prstGeom prst="rect">
            <a:avLst/>
          </a:prstGeom>
          <a:ln w="9525">
            <a:solidFill>
              <a:srgbClr val="39342C">
                <a:alpha val="3000"/>
              </a:srgbClr>
            </a:solidFill>
            <a:prstDash val="solid"/>
          </a:ln>
        </p:spPr>
      </p:sp>
      <p:sp>
        <p:nvSpPr>
          <p:cNvPr id="23" name="Shape 21"/>
          <p:cNvSpPr/>
          <p:nvPr/>
        </p:nvSpPr>
        <p:spPr>
          <a:xfrm>
            <a:off x="9118397" y="3295498"/>
            <a:ext cx="380390" cy="548640"/>
          </a:xfrm>
          <a:prstGeom prst="rect">
            <a:avLst/>
          </a:prstGeom>
          <a:ln w="9525">
            <a:solidFill>
              <a:srgbClr val="39342C">
                <a:alpha val="3000"/>
              </a:srgbClr>
            </a:solidFill>
            <a:prstDash val="solid"/>
          </a:ln>
        </p:spPr>
      </p:sp>
      <p:sp>
        <p:nvSpPr>
          <p:cNvPr id="24" name="Shape 22"/>
          <p:cNvSpPr/>
          <p:nvPr/>
        </p:nvSpPr>
        <p:spPr>
          <a:xfrm>
            <a:off x="5138928" y="4326941"/>
            <a:ext cx="1901952" cy="131674"/>
          </a:xfrm>
          <a:prstGeom prst="rect">
            <a:avLst/>
          </a:prstGeom>
          <a:ln w="9525">
            <a:solidFill>
              <a:srgbClr val="39342C">
                <a:alpha val="3000"/>
              </a:srgbClr>
            </a:solidFill>
            <a:prstDash val="solid"/>
          </a:ln>
        </p:spPr>
      </p:sp>
      <p:sp>
        <p:nvSpPr>
          <p:cNvPr id="25" name="Shape 23"/>
          <p:cNvSpPr/>
          <p:nvPr/>
        </p:nvSpPr>
        <p:spPr>
          <a:xfrm>
            <a:off x="5138928" y="4656125"/>
            <a:ext cx="1901952" cy="131674"/>
          </a:xfrm>
          <a:prstGeom prst="rect">
            <a:avLst/>
          </a:prstGeom>
          <a:ln w="9525">
            <a:solidFill>
              <a:srgbClr val="39342C">
                <a:alpha val="3000"/>
              </a:srgbClr>
            </a:solidFill>
            <a:prstDash val="solid"/>
          </a:ln>
        </p:spPr>
      </p:sp>
      <p:sp>
        <p:nvSpPr>
          <p:cNvPr id="26" name="Shape 24"/>
          <p:cNvSpPr/>
          <p:nvPr/>
        </p:nvSpPr>
        <p:spPr>
          <a:xfrm>
            <a:off x="5138928" y="4985309"/>
            <a:ext cx="1901952" cy="131674"/>
          </a:xfrm>
          <a:prstGeom prst="rect">
            <a:avLst/>
          </a:prstGeom>
          <a:ln w="9525">
            <a:solidFill>
              <a:srgbClr val="39342C">
                <a:alpha val="3000"/>
              </a:srgbClr>
            </a:solidFill>
            <a:prstDash val="solid"/>
          </a:ln>
        </p:spPr>
      </p:sp>
      <p:sp>
        <p:nvSpPr>
          <p:cNvPr id="27" name="Shape 25"/>
          <p:cNvSpPr/>
          <p:nvPr/>
        </p:nvSpPr>
        <p:spPr>
          <a:xfrm>
            <a:off x="5577840" y="1078992"/>
            <a:ext cx="1024128" cy="746150"/>
          </a:xfrm>
          <a:prstGeom prst="rect">
            <a:avLst/>
          </a:prstGeom>
          <a:ln w="9525">
            <a:solidFill>
              <a:srgbClr val="39342C">
                <a:alpha val="3000"/>
              </a:srgbClr>
            </a:solidFill>
            <a:prstDash val="solid"/>
          </a:ln>
        </p:spPr>
      </p:sp>
      <p:sp>
        <p:nvSpPr>
          <p:cNvPr id="28" name="Shape 26"/>
          <p:cNvSpPr/>
          <p:nvPr/>
        </p:nvSpPr>
        <p:spPr>
          <a:xfrm>
            <a:off x="6029554" y="5221224"/>
            <a:ext cx="120701" cy="120701"/>
          </a:xfrm>
          <a:prstGeom prst="ellipse">
            <a:avLst/>
          </a:prstGeom>
          <a:solidFill>
            <a:srgbClr val="C9A227">
              <a:alpha val="3000"/>
            </a:srgbClr>
          </a:solidFill>
          <a:ln/>
        </p:spPr>
      </p:sp>
      <p:sp>
        <p:nvSpPr>
          <p:cNvPr id="29" name="Shape 27"/>
          <p:cNvSpPr/>
          <p:nvPr/>
        </p:nvSpPr>
        <p:spPr>
          <a:xfrm>
            <a:off x="6044038" y="5363651"/>
            <a:ext cx="91733" cy="259909"/>
          </a:xfrm>
          <a:prstGeom prst="rect">
            <a:avLst/>
          </a:prstGeom>
          <a:solidFill>
            <a:srgbClr val="C9A227">
              <a:alpha val="3000"/>
            </a:srgbClr>
          </a:solidFill>
          <a:ln/>
        </p:spPr>
      </p:sp>
      <p:sp>
        <p:nvSpPr>
          <p:cNvPr id="30" name="Text 28"/>
          <p:cNvSpPr txBox="1"/>
          <p:nvPr/>
        </p:nvSpPr>
        <p:spPr>
          <a:xfrm>
            <a:off x="822960" y="713232"/>
            <a:ext cx="914400" cy="219456"/>
          </a:xfrm>
          <a:prstGeom prst="rect">
            <a:avLst/>
          </a:prstGeom>
          <a:noFill/>
          <a:ln/>
        </p:spPr>
        <p:txBody>
          <a:bodyPr wrap="square" lIns="0" tIns="0" rIns="0" bIns="0" rtlCol="0" anchor="ctr"/>
          <a:lstStyle/>
          <a:p>
            <a:pPr algn="l" indent="0" marL="0">
              <a:buNone/>
            </a:pPr>
            <a:r>
              <a:rPr lang="en-US" sz="900" spc="160" kern="0" dirty="0">
                <a:solidFill>
                  <a:srgbClr val="8A8378"/>
                </a:solidFill>
                <a:latin typeface="Courier New" pitchFamily="34" charset="0"/>
                <a:ea typeface="Courier New" pitchFamily="34" charset="-122"/>
                <a:cs typeface="Courier New" pitchFamily="34" charset="-120"/>
              </a:rPr>
              <a:t>08</a:t>
            </a:r>
            <a:endParaRPr lang="en-US" sz="900" dirty="0"/>
          </a:p>
        </p:txBody>
      </p:sp>
      <p:sp>
        <p:nvSpPr>
          <p:cNvPr id="31" name="Text 29"/>
          <p:cNvSpPr txBox="1"/>
          <p:nvPr/>
        </p:nvSpPr>
        <p:spPr>
          <a:xfrm>
            <a:off x="822960" y="2423160"/>
            <a:ext cx="10424160" cy="1737360"/>
          </a:xfrm>
          <a:prstGeom prst="rect">
            <a:avLst/>
          </a:prstGeom>
          <a:noFill/>
          <a:ln/>
        </p:spPr>
        <p:txBody>
          <a:bodyPr wrap="square" lIns="0" tIns="0" rIns="0" bIns="0" rtlCol="0" anchor="ctr"/>
          <a:lstStyle/>
          <a:p>
            <a:pPr indent="0" marL="0">
              <a:lnSpc>
                <a:spcPts val="6400"/>
              </a:lnSpc>
              <a:buNone/>
            </a:pPr>
            <a:r>
              <a:rPr lang="en-US" sz="4600" dirty="0">
                <a:solidFill>
                  <a:srgbClr val="8A8378"/>
                </a:solidFill>
                <a:latin typeface="Cambria" pitchFamily="34" charset="0"/>
                <a:ea typeface="Cambria" pitchFamily="34" charset="-122"/>
                <a:cs typeface="Cambria" pitchFamily="34" charset="-120"/>
              </a:rPr>
              <a:t>Agents do not own risk.
</a:t>
            </a:r>
            <a:pPr indent="0" marL="0">
              <a:lnSpc>
                <a:spcPts val="6400"/>
              </a:lnSpc>
              <a:buNone/>
            </a:pPr>
            <a:r>
              <a:rPr lang="en-US" sz="4600" dirty="0">
                <a:solidFill>
                  <a:srgbClr val="EAE4DA"/>
                </a:solidFill>
                <a:latin typeface="Cambria" pitchFamily="34" charset="0"/>
                <a:ea typeface="Cambria" pitchFamily="34" charset="-122"/>
                <a:cs typeface="Cambria" pitchFamily="34" charset="-120"/>
              </a:rPr>
              <a:t>Humans do. </a:t>
            </a:r>
            <a:pPr indent="0" marL="0">
              <a:lnSpc>
                <a:spcPts val="6400"/>
              </a:lnSpc>
              <a:buNone/>
            </a:pPr>
            <a:r>
              <a:rPr lang="en-US" sz="4600" dirty="0">
                <a:solidFill>
                  <a:srgbClr val="C9A227"/>
                </a:solidFill>
                <a:latin typeface="Cambria" pitchFamily="34" charset="0"/>
                <a:ea typeface="Cambria" pitchFamily="34" charset="-122"/>
                <a:cs typeface="Cambria" pitchFamily="34" charset="-120"/>
              </a:rPr>
              <a:t>Always.</a:t>
            </a:r>
            <a:endParaRPr lang="en-US" sz="4600" dirty="0"/>
          </a:p>
        </p:txBody>
      </p:sp>
      <p:sp>
        <p:nvSpPr>
          <p:cNvPr id="32" name="Shape 30"/>
          <p:cNvSpPr/>
          <p:nvPr/>
        </p:nvSpPr>
        <p:spPr>
          <a:xfrm>
            <a:off x="822960" y="4617720"/>
            <a:ext cx="2194560" cy="0"/>
          </a:xfrm>
          <a:prstGeom prst="line">
            <a:avLst/>
          </a:prstGeom>
          <a:noFill/>
          <a:ln w="19050">
            <a:solidFill>
              <a:srgbClr val="C9A227"/>
            </a:solidFill>
            <a:prstDash val="solid"/>
          </a:ln>
        </p:spPr>
      </p:sp>
      <p:sp>
        <p:nvSpPr>
          <p:cNvPr id="33" name="Text 31"/>
          <p:cNvSpPr txBox="1"/>
          <p:nvPr/>
        </p:nvSpPr>
        <p:spPr>
          <a:xfrm>
            <a:off x="822960" y="4828032"/>
            <a:ext cx="10424160" cy="640080"/>
          </a:xfrm>
          <a:prstGeom prst="rect">
            <a:avLst/>
          </a:prstGeom>
          <a:noFill/>
          <a:ln/>
        </p:spPr>
        <p:txBody>
          <a:bodyPr wrap="square" lIns="0" tIns="0" rIns="0" bIns="0" rtlCol="0" anchor="ctr"/>
          <a:lstStyle/>
          <a:p>
            <a:pPr indent="0" marL="0">
              <a:lnSpc>
                <a:spcPts val="1900"/>
              </a:lnSpc>
              <a:buNone/>
            </a:pPr>
            <a:r>
              <a:rPr lang="en-US" sz="1350" dirty="0">
                <a:solidFill>
                  <a:srgbClr val="8A8378"/>
                </a:solidFill>
                <a:latin typeface="Calibri" pitchFamily="34" charset="0"/>
                <a:ea typeface="Calibri" pitchFamily="34" charset="-122"/>
                <a:cs typeface="Calibri" pitchFamily="34" charset="-120"/>
              </a:rPr>
              <a:t>The purpose of governance is not to stop technology from moving. It is to make sure that when</a:t>
            </a:r>
            <a:endParaRPr lang="en-US" sz="1350" dirty="0"/>
          </a:p>
          <a:p>
            <a:pPr indent="0" marL="0">
              <a:lnSpc>
                <a:spcPts val="1900"/>
              </a:lnSpc>
              <a:buNone/>
            </a:pPr>
            <a:r>
              <a:rPr lang="en-US" sz="1350" dirty="0">
                <a:solidFill>
                  <a:srgbClr val="8A8378"/>
                </a:solidFill>
                <a:latin typeface="Calibri" pitchFamily="34" charset="0"/>
                <a:ea typeface="Calibri" pitchFamily="34" charset="-122"/>
                <a:cs typeface="Calibri" pitchFamily="34" charset="-120"/>
              </a:rPr>
              <a:t>technology moves faster, the organisation still knows what it is doing and why.</a:t>
            </a:r>
            <a:endParaRPr lang="en-US" sz="13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089904" y="1078992"/>
            <a:ext cx="0" cy="4389120"/>
          </a:xfrm>
          <a:prstGeom prst="line">
            <a:avLst/>
          </a:prstGeom>
          <a:noFill/>
          <a:ln w="9525">
            <a:solidFill>
              <a:srgbClr val="39342C"/>
            </a:solidFill>
            <a:prstDash val="solid"/>
          </a:ln>
        </p:spPr>
      </p:sp>
      <p:sp>
        <p:nvSpPr>
          <p:cNvPr id="3" name="Shape 1"/>
          <p:cNvSpPr/>
          <p:nvPr/>
        </p:nvSpPr>
        <p:spPr>
          <a:xfrm>
            <a:off x="2432304" y="3097987"/>
            <a:ext cx="7315200" cy="0"/>
          </a:xfrm>
          <a:prstGeom prst="line">
            <a:avLst/>
          </a:prstGeom>
          <a:noFill/>
          <a:ln w="9525">
            <a:solidFill>
              <a:srgbClr val="39342C"/>
            </a:solidFill>
            <a:prstDash val="solid"/>
          </a:ln>
        </p:spPr>
      </p:sp>
      <p:sp>
        <p:nvSpPr>
          <p:cNvPr id="4" name="Shape 2"/>
          <p:cNvSpPr/>
          <p:nvPr/>
        </p:nvSpPr>
        <p:spPr>
          <a:xfrm>
            <a:off x="5255971" y="2351837"/>
            <a:ext cx="380390" cy="548640"/>
          </a:xfrm>
          <a:prstGeom prst="rect">
            <a:avLst/>
          </a:prstGeom>
          <a:ln w="9525">
            <a:solidFill>
              <a:srgbClr val="39342C"/>
            </a:solidFill>
            <a:prstDash val="solid"/>
          </a:ln>
        </p:spPr>
      </p:sp>
      <p:sp>
        <p:nvSpPr>
          <p:cNvPr id="5" name="Shape 3"/>
          <p:cNvSpPr/>
          <p:nvPr/>
        </p:nvSpPr>
        <p:spPr>
          <a:xfrm>
            <a:off x="5255971" y="3295498"/>
            <a:ext cx="380390" cy="548640"/>
          </a:xfrm>
          <a:prstGeom prst="rect">
            <a:avLst/>
          </a:prstGeom>
          <a:ln w="9525">
            <a:solidFill>
              <a:srgbClr val="39342C"/>
            </a:solidFill>
            <a:prstDash val="solid"/>
          </a:ln>
        </p:spPr>
      </p:sp>
      <p:sp>
        <p:nvSpPr>
          <p:cNvPr id="6" name="Shape 4"/>
          <p:cNvSpPr/>
          <p:nvPr/>
        </p:nvSpPr>
        <p:spPr>
          <a:xfrm>
            <a:off x="6543446" y="2351837"/>
            <a:ext cx="380390" cy="548640"/>
          </a:xfrm>
          <a:prstGeom prst="rect">
            <a:avLst/>
          </a:prstGeom>
          <a:ln w="9525">
            <a:solidFill>
              <a:srgbClr val="39342C"/>
            </a:solidFill>
            <a:prstDash val="solid"/>
          </a:ln>
        </p:spPr>
      </p:sp>
      <p:sp>
        <p:nvSpPr>
          <p:cNvPr id="7" name="Shape 5"/>
          <p:cNvSpPr/>
          <p:nvPr/>
        </p:nvSpPr>
        <p:spPr>
          <a:xfrm>
            <a:off x="6543446" y="3295498"/>
            <a:ext cx="380390" cy="548640"/>
          </a:xfrm>
          <a:prstGeom prst="rect">
            <a:avLst/>
          </a:prstGeom>
          <a:ln w="9525">
            <a:solidFill>
              <a:srgbClr val="39342C"/>
            </a:solidFill>
            <a:prstDash val="solid"/>
          </a:ln>
        </p:spPr>
      </p:sp>
      <p:sp>
        <p:nvSpPr>
          <p:cNvPr id="8" name="Shape 6"/>
          <p:cNvSpPr/>
          <p:nvPr/>
        </p:nvSpPr>
        <p:spPr>
          <a:xfrm>
            <a:off x="4612234" y="2351837"/>
            <a:ext cx="380390" cy="548640"/>
          </a:xfrm>
          <a:prstGeom prst="rect">
            <a:avLst/>
          </a:prstGeom>
          <a:ln w="9525">
            <a:solidFill>
              <a:srgbClr val="39342C"/>
            </a:solidFill>
            <a:prstDash val="solid"/>
          </a:ln>
        </p:spPr>
      </p:sp>
      <p:sp>
        <p:nvSpPr>
          <p:cNvPr id="9" name="Shape 7"/>
          <p:cNvSpPr/>
          <p:nvPr/>
        </p:nvSpPr>
        <p:spPr>
          <a:xfrm>
            <a:off x="4612234" y="3295498"/>
            <a:ext cx="380390" cy="548640"/>
          </a:xfrm>
          <a:prstGeom prst="rect">
            <a:avLst/>
          </a:prstGeom>
          <a:ln w="9525">
            <a:solidFill>
              <a:srgbClr val="39342C"/>
            </a:solidFill>
            <a:prstDash val="solid"/>
          </a:ln>
        </p:spPr>
      </p:sp>
      <p:sp>
        <p:nvSpPr>
          <p:cNvPr id="10" name="Shape 8"/>
          <p:cNvSpPr/>
          <p:nvPr/>
        </p:nvSpPr>
        <p:spPr>
          <a:xfrm>
            <a:off x="7187184" y="2351837"/>
            <a:ext cx="380390" cy="548640"/>
          </a:xfrm>
          <a:prstGeom prst="rect">
            <a:avLst/>
          </a:prstGeom>
          <a:ln w="9525">
            <a:solidFill>
              <a:srgbClr val="39342C"/>
            </a:solidFill>
            <a:prstDash val="solid"/>
          </a:ln>
        </p:spPr>
      </p:sp>
      <p:sp>
        <p:nvSpPr>
          <p:cNvPr id="11" name="Shape 9"/>
          <p:cNvSpPr/>
          <p:nvPr/>
        </p:nvSpPr>
        <p:spPr>
          <a:xfrm>
            <a:off x="7187184" y="3295498"/>
            <a:ext cx="380390" cy="548640"/>
          </a:xfrm>
          <a:prstGeom prst="rect">
            <a:avLst/>
          </a:prstGeom>
          <a:ln w="9525">
            <a:solidFill>
              <a:srgbClr val="39342C"/>
            </a:solidFill>
            <a:prstDash val="solid"/>
          </a:ln>
        </p:spPr>
      </p:sp>
      <p:sp>
        <p:nvSpPr>
          <p:cNvPr id="12" name="Shape 10"/>
          <p:cNvSpPr/>
          <p:nvPr/>
        </p:nvSpPr>
        <p:spPr>
          <a:xfrm>
            <a:off x="3968496" y="2351837"/>
            <a:ext cx="380390" cy="548640"/>
          </a:xfrm>
          <a:prstGeom prst="rect">
            <a:avLst/>
          </a:prstGeom>
          <a:ln w="9525">
            <a:solidFill>
              <a:srgbClr val="39342C"/>
            </a:solidFill>
            <a:prstDash val="solid"/>
          </a:ln>
        </p:spPr>
      </p:sp>
      <p:sp>
        <p:nvSpPr>
          <p:cNvPr id="13" name="Shape 11"/>
          <p:cNvSpPr/>
          <p:nvPr/>
        </p:nvSpPr>
        <p:spPr>
          <a:xfrm>
            <a:off x="3968496" y="3295498"/>
            <a:ext cx="380390" cy="548640"/>
          </a:xfrm>
          <a:prstGeom prst="rect">
            <a:avLst/>
          </a:prstGeom>
          <a:ln w="9525">
            <a:solidFill>
              <a:srgbClr val="39342C"/>
            </a:solidFill>
            <a:prstDash val="solid"/>
          </a:ln>
        </p:spPr>
      </p:sp>
      <p:sp>
        <p:nvSpPr>
          <p:cNvPr id="14" name="Shape 12"/>
          <p:cNvSpPr/>
          <p:nvPr/>
        </p:nvSpPr>
        <p:spPr>
          <a:xfrm>
            <a:off x="7830922" y="2351837"/>
            <a:ext cx="380390" cy="548640"/>
          </a:xfrm>
          <a:prstGeom prst="rect">
            <a:avLst/>
          </a:prstGeom>
          <a:ln w="9525">
            <a:solidFill>
              <a:srgbClr val="39342C"/>
            </a:solidFill>
            <a:prstDash val="solid"/>
          </a:ln>
        </p:spPr>
      </p:sp>
      <p:sp>
        <p:nvSpPr>
          <p:cNvPr id="15" name="Shape 13"/>
          <p:cNvSpPr/>
          <p:nvPr/>
        </p:nvSpPr>
        <p:spPr>
          <a:xfrm>
            <a:off x="7830922" y="3295498"/>
            <a:ext cx="380390" cy="548640"/>
          </a:xfrm>
          <a:prstGeom prst="rect">
            <a:avLst/>
          </a:prstGeom>
          <a:ln w="9525">
            <a:solidFill>
              <a:srgbClr val="39342C"/>
            </a:solidFill>
            <a:prstDash val="solid"/>
          </a:ln>
        </p:spPr>
      </p:sp>
      <p:sp>
        <p:nvSpPr>
          <p:cNvPr id="16" name="Shape 14"/>
          <p:cNvSpPr/>
          <p:nvPr/>
        </p:nvSpPr>
        <p:spPr>
          <a:xfrm>
            <a:off x="3324758" y="2351837"/>
            <a:ext cx="380390" cy="548640"/>
          </a:xfrm>
          <a:prstGeom prst="rect">
            <a:avLst/>
          </a:prstGeom>
          <a:ln w="9525">
            <a:solidFill>
              <a:srgbClr val="39342C"/>
            </a:solidFill>
            <a:prstDash val="solid"/>
          </a:ln>
        </p:spPr>
      </p:sp>
      <p:sp>
        <p:nvSpPr>
          <p:cNvPr id="17" name="Shape 15"/>
          <p:cNvSpPr/>
          <p:nvPr/>
        </p:nvSpPr>
        <p:spPr>
          <a:xfrm>
            <a:off x="3324758" y="3295498"/>
            <a:ext cx="380390" cy="548640"/>
          </a:xfrm>
          <a:prstGeom prst="rect">
            <a:avLst/>
          </a:prstGeom>
          <a:ln w="9525">
            <a:solidFill>
              <a:srgbClr val="39342C"/>
            </a:solidFill>
            <a:prstDash val="solid"/>
          </a:ln>
        </p:spPr>
      </p:sp>
      <p:sp>
        <p:nvSpPr>
          <p:cNvPr id="18" name="Shape 16"/>
          <p:cNvSpPr/>
          <p:nvPr/>
        </p:nvSpPr>
        <p:spPr>
          <a:xfrm>
            <a:off x="8474659" y="2351837"/>
            <a:ext cx="380390" cy="548640"/>
          </a:xfrm>
          <a:prstGeom prst="rect">
            <a:avLst/>
          </a:prstGeom>
          <a:ln w="9525">
            <a:solidFill>
              <a:srgbClr val="39342C"/>
            </a:solidFill>
            <a:prstDash val="solid"/>
          </a:ln>
        </p:spPr>
      </p:sp>
      <p:sp>
        <p:nvSpPr>
          <p:cNvPr id="19" name="Shape 17"/>
          <p:cNvSpPr/>
          <p:nvPr/>
        </p:nvSpPr>
        <p:spPr>
          <a:xfrm>
            <a:off x="8474659" y="3295498"/>
            <a:ext cx="380390" cy="548640"/>
          </a:xfrm>
          <a:prstGeom prst="rect">
            <a:avLst/>
          </a:prstGeom>
          <a:ln w="9525">
            <a:solidFill>
              <a:srgbClr val="39342C"/>
            </a:solidFill>
            <a:prstDash val="solid"/>
          </a:ln>
        </p:spPr>
      </p:sp>
      <p:sp>
        <p:nvSpPr>
          <p:cNvPr id="20" name="Shape 18"/>
          <p:cNvSpPr/>
          <p:nvPr/>
        </p:nvSpPr>
        <p:spPr>
          <a:xfrm>
            <a:off x="2681021" y="2351837"/>
            <a:ext cx="380390" cy="548640"/>
          </a:xfrm>
          <a:prstGeom prst="rect">
            <a:avLst/>
          </a:prstGeom>
          <a:ln w="9525">
            <a:solidFill>
              <a:srgbClr val="39342C"/>
            </a:solidFill>
            <a:prstDash val="solid"/>
          </a:ln>
        </p:spPr>
      </p:sp>
      <p:sp>
        <p:nvSpPr>
          <p:cNvPr id="21" name="Shape 19"/>
          <p:cNvSpPr/>
          <p:nvPr/>
        </p:nvSpPr>
        <p:spPr>
          <a:xfrm>
            <a:off x="2681021" y="3295498"/>
            <a:ext cx="380390" cy="548640"/>
          </a:xfrm>
          <a:prstGeom prst="rect">
            <a:avLst/>
          </a:prstGeom>
          <a:ln w="9525">
            <a:solidFill>
              <a:srgbClr val="39342C"/>
            </a:solidFill>
            <a:prstDash val="solid"/>
          </a:ln>
        </p:spPr>
      </p:sp>
      <p:sp>
        <p:nvSpPr>
          <p:cNvPr id="22" name="Shape 20"/>
          <p:cNvSpPr/>
          <p:nvPr/>
        </p:nvSpPr>
        <p:spPr>
          <a:xfrm>
            <a:off x="9118397" y="2351837"/>
            <a:ext cx="380390" cy="548640"/>
          </a:xfrm>
          <a:prstGeom prst="rect">
            <a:avLst/>
          </a:prstGeom>
          <a:ln w="9525">
            <a:solidFill>
              <a:srgbClr val="39342C"/>
            </a:solidFill>
            <a:prstDash val="solid"/>
          </a:ln>
        </p:spPr>
      </p:sp>
      <p:sp>
        <p:nvSpPr>
          <p:cNvPr id="23" name="Shape 21"/>
          <p:cNvSpPr/>
          <p:nvPr/>
        </p:nvSpPr>
        <p:spPr>
          <a:xfrm>
            <a:off x="9118397" y="3295498"/>
            <a:ext cx="380390" cy="548640"/>
          </a:xfrm>
          <a:prstGeom prst="rect">
            <a:avLst/>
          </a:prstGeom>
          <a:ln w="9525">
            <a:solidFill>
              <a:srgbClr val="39342C"/>
            </a:solidFill>
            <a:prstDash val="solid"/>
          </a:ln>
        </p:spPr>
      </p:sp>
      <p:sp>
        <p:nvSpPr>
          <p:cNvPr id="24" name="Shape 22"/>
          <p:cNvSpPr/>
          <p:nvPr/>
        </p:nvSpPr>
        <p:spPr>
          <a:xfrm>
            <a:off x="5138928" y="4326941"/>
            <a:ext cx="1901952" cy="131674"/>
          </a:xfrm>
          <a:prstGeom prst="rect">
            <a:avLst/>
          </a:prstGeom>
          <a:ln w="9525">
            <a:solidFill>
              <a:srgbClr val="39342C"/>
            </a:solidFill>
            <a:prstDash val="solid"/>
          </a:ln>
        </p:spPr>
      </p:sp>
      <p:sp>
        <p:nvSpPr>
          <p:cNvPr id="25" name="Shape 23"/>
          <p:cNvSpPr/>
          <p:nvPr/>
        </p:nvSpPr>
        <p:spPr>
          <a:xfrm>
            <a:off x="5138928" y="4656125"/>
            <a:ext cx="1901952" cy="131674"/>
          </a:xfrm>
          <a:prstGeom prst="rect">
            <a:avLst/>
          </a:prstGeom>
          <a:ln w="9525">
            <a:solidFill>
              <a:srgbClr val="39342C"/>
            </a:solidFill>
            <a:prstDash val="solid"/>
          </a:ln>
        </p:spPr>
      </p:sp>
      <p:sp>
        <p:nvSpPr>
          <p:cNvPr id="26" name="Shape 24"/>
          <p:cNvSpPr/>
          <p:nvPr/>
        </p:nvSpPr>
        <p:spPr>
          <a:xfrm>
            <a:off x="5138928" y="4985309"/>
            <a:ext cx="1901952" cy="131674"/>
          </a:xfrm>
          <a:prstGeom prst="rect">
            <a:avLst/>
          </a:prstGeom>
          <a:ln w="9525">
            <a:solidFill>
              <a:srgbClr val="39342C"/>
            </a:solidFill>
            <a:prstDash val="solid"/>
          </a:ln>
        </p:spPr>
      </p:sp>
      <p:sp>
        <p:nvSpPr>
          <p:cNvPr id="27" name="Shape 25"/>
          <p:cNvSpPr/>
          <p:nvPr/>
        </p:nvSpPr>
        <p:spPr>
          <a:xfrm>
            <a:off x="5577840" y="1078992"/>
            <a:ext cx="1024128" cy="746150"/>
          </a:xfrm>
          <a:prstGeom prst="rect">
            <a:avLst/>
          </a:prstGeom>
          <a:ln w="9525">
            <a:solidFill>
              <a:srgbClr val="39342C"/>
            </a:solidFill>
            <a:prstDash val="solid"/>
          </a:ln>
        </p:spPr>
      </p:sp>
      <p:sp>
        <p:nvSpPr>
          <p:cNvPr id="28" name="Shape 26"/>
          <p:cNvSpPr/>
          <p:nvPr/>
        </p:nvSpPr>
        <p:spPr>
          <a:xfrm>
            <a:off x="6029554" y="5221224"/>
            <a:ext cx="120701" cy="120701"/>
          </a:xfrm>
          <a:prstGeom prst="ellipse">
            <a:avLst/>
          </a:prstGeom>
          <a:solidFill>
            <a:srgbClr val="C9A227"/>
          </a:solidFill>
          <a:ln/>
        </p:spPr>
      </p:sp>
      <p:sp>
        <p:nvSpPr>
          <p:cNvPr id="29" name="Shape 27"/>
          <p:cNvSpPr/>
          <p:nvPr/>
        </p:nvSpPr>
        <p:spPr>
          <a:xfrm>
            <a:off x="6044038" y="5363651"/>
            <a:ext cx="91733" cy="259909"/>
          </a:xfrm>
          <a:prstGeom prst="rect">
            <a:avLst/>
          </a:prstGeom>
          <a:solidFill>
            <a:srgbClr val="C9A227"/>
          </a:solidFill>
          <a:ln/>
        </p:spPr>
      </p:sp>
      <p:sp>
        <p:nvSpPr>
          <p:cNvPr id="30" name="Text 28"/>
          <p:cNvSpPr txBox="1"/>
          <p:nvPr/>
        </p:nvSpPr>
        <p:spPr>
          <a:xfrm>
            <a:off x="822960" y="713232"/>
            <a:ext cx="8229600" cy="219456"/>
          </a:xfrm>
          <a:prstGeom prst="rect">
            <a:avLst/>
          </a:prstGeom>
          <a:noFill/>
          <a:ln/>
        </p:spPr>
        <p:txBody>
          <a:bodyPr wrap="square" lIns="0" tIns="0" rIns="0" bIns="0" rtlCol="0" anchor="ctr"/>
          <a:lstStyle/>
          <a:p>
            <a:pPr algn="l" indent="0" marL="0">
              <a:buNone/>
            </a:pPr>
            <a:r>
              <a:rPr lang="en-US" sz="900" spc="160" kern="0" dirty="0">
                <a:solidFill>
                  <a:srgbClr val="8A8378"/>
                </a:solidFill>
                <a:latin typeface="Courier New" pitchFamily="34" charset="0"/>
                <a:ea typeface="Courier New" pitchFamily="34" charset="-122"/>
                <a:cs typeface="Courier New" pitchFamily="34" charset="-120"/>
              </a:rPr>
              <a:t>09   ·   BACK TO BRASÍLIA</a:t>
            </a:r>
            <a:endParaRPr lang="en-US" sz="900" dirty="0"/>
          </a:p>
        </p:txBody>
      </p:sp>
      <p:sp>
        <p:nvSpPr>
          <p:cNvPr id="31" name="Text 29"/>
          <p:cNvSpPr txBox="1"/>
          <p:nvPr/>
        </p:nvSpPr>
        <p:spPr>
          <a:xfrm>
            <a:off x="822960" y="1097280"/>
            <a:ext cx="6400800" cy="512064"/>
          </a:xfrm>
          <a:prstGeom prst="rect">
            <a:avLst/>
          </a:prstGeom>
          <a:noFill/>
          <a:ln/>
        </p:spPr>
        <p:txBody>
          <a:bodyPr wrap="square" lIns="0" tIns="0" rIns="0" bIns="0" rtlCol="0" anchor="ctr"/>
          <a:lstStyle/>
          <a:p>
            <a:pPr indent="0" marL="0">
              <a:buNone/>
            </a:pPr>
            <a:r>
              <a:rPr lang="en-US" sz="2600" dirty="0">
                <a:solidFill>
                  <a:srgbClr val="8A8378"/>
                </a:solidFill>
                <a:latin typeface="Cambria" pitchFamily="34" charset="0"/>
                <a:ea typeface="Cambria" pitchFamily="34" charset="-122"/>
                <a:cs typeface="Cambria" pitchFamily="34" charset="-120"/>
              </a:rPr>
              <a:t>Still beautiful from the air.</a:t>
            </a:r>
            <a:endParaRPr lang="en-US" sz="2600" dirty="0"/>
          </a:p>
        </p:txBody>
      </p:sp>
      <p:sp>
        <p:nvSpPr>
          <p:cNvPr id="32" name="Text 30"/>
          <p:cNvSpPr txBox="1"/>
          <p:nvPr/>
        </p:nvSpPr>
        <p:spPr>
          <a:xfrm>
            <a:off x="3895344" y="5833872"/>
            <a:ext cx="4389120" cy="219456"/>
          </a:xfrm>
          <a:prstGeom prst="rect">
            <a:avLst/>
          </a:prstGeom>
          <a:noFill/>
          <a:ln/>
        </p:spPr>
        <p:txBody>
          <a:bodyPr wrap="square" lIns="0" tIns="0" rIns="0" bIns="0" rtlCol="0" anchor="ctr"/>
          <a:lstStyle/>
          <a:p>
            <a:pPr algn="ctr" indent="0" marL="0">
              <a:buNone/>
            </a:pPr>
            <a:r>
              <a:rPr lang="en-US" sz="900" spc="160" kern="0" dirty="0">
                <a:solidFill>
                  <a:srgbClr val="8A8378"/>
                </a:solidFill>
                <a:latin typeface="Courier New" pitchFamily="34" charset="0"/>
                <a:ea typeface="Courier New" pitchFamily="34" charset="-122"/>
                <a:cs typeface="Courier New" pitchFamily="34" charset="-120"/>
              </a:rPr>
              <a:t>STILL VERY DIFFERENT AT STREET LEVEL</a:t>
            </a:r>
            <a:endParaRPr lang="en-US" sz="900" dirty="0"/>
          </a:p>
        </p:txBody>
      </p:sp>
      <p:sp>
        <p:nvSpPr>
          <p:cNvPr id="33" name="Text 31"/>
          <p:cNvSpPr txBox="1"/>
          <p:nvPr/>
        </p:nvSpPr>
        <p:spPr>
          <a:xfrm>
            <a:off x="822960" y="6236208"/>
            <a:ext cx="10515600" cy="457200"/>
          </a:xfrm>
          <a:prstGeom prst="rect">
            <a:avLst/>
          </a:prstGeom>
          <a:noFill/>
          <a:ln/>
        </p:spPr>
        <p:txBody>
          <a:bodyPr wrap="square" lIns="0" tIns="0" rIns="0" bIns="0" rtlCol="0" anchor="ctr"/>
          <a:lstStyle/>
          <a:p>
            <a:pPr indent="0" marL="0">
              <a:buNone/>
            </a:pPr>
            <a:r>
              <a:rPr lang="en-US" sz="1900" i="1" dirty="0">
                <a:solidFill>
                  <a:srgbClr val="EAE4DA"/>
                </a:solidFill>
                <a:latin typeface="Cambria" pitchFamily="34" charset="0"/>
                <a:ea typeface="Cambria" pitchFamily="34" charset="-122"/>
                <a:cs typeface="Cambria" pitchFamily="34" charset="-120"/>
              </a:rPr>
              <a:t>The drawing was superb. The problem was the distance.</a:t>
            </a:r>
            <a:endParaRPr lang="en-US" sz="1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22960" y="713232"/>
            <a:ext cx="8229600" cy="219456"/>
          </a:xfrm>
          <a:prstGeom prst="rect">
            <a:avLst/>
          </a:prstGeom>
          <a:noFill/>
          <a:ln/>
        </p:spPr>
        <p:txBody>
          <a:bodyPr wrap="square" lIns="0" tIns="0" rIns="0" bIns="0" rtlCol="0" anchor="ctr"/>
          <a:lstStyle/>
          <a:p>
            <a:pPr algn="l" indent="0" marL="0">
              <a:buNone/>
            </a:pPr>
            <a:r>
              <a:rPr lang="en-US" sz="900" spc="160" kern="0" dirty="0">
                <a:solidFill>
                  <a:srgbClr val="8A8378"/>
                </a:solidFill>
                <a:latin typeface="Courier New" pitchFamily="34" charset="0"/>
                <a:ea typeface="Courier New" pitchFamily="34" charset="-122"/>
                <a:cs typeface="Courier New" pitchFamily="34" charset="-120"/>
              </a:rPr>
              <a:t>10   ·   THE QUESTION</a:t>
            </a:r>
            <a:endParaRPr lang="en-US" sz="900" dirty="0"/>
          </a:p>
        </p:txBody>
      </p:sp>
      <p:sp>
        <p:nvSpPr>
          <p:cNvPr id="3" name="Text 1"/>
          <p:cNvSpPr txBox="1"/>
          <p:nvPr/>
        </p:nvSpPr>
        <p:spPr>
          <a:xfrm>
            <a:off x="822960" y="1755648"/>
            <a:ext cx="10515600" cy="713232"/>
          </a:xfrm>
          <a:prstGeom prst="rect">
            <a:avLst/>
          </a:prstGeom>
          <a:noFill/>
          <a:ln/>
        </p:spPr>
        <p:txBody>
          <a:bodyPr wrap="square" lIns="0" tIns="0" rIns="0" bIns="0" rtlCol="0" anchor="ctr"/>
          <a:lstStyle/>
          <a:p>
            <a:pPr indent="0" marL="0">
              <a:buNone/>
            </a:pPr>
            <a:r>
              <a:rPr lang="en-US" sz="3400" dirty="0">
                <a:solidFill>
                  <a:srgbClr val="EAE4DA"/>
                </a:solidFill>
                <a:latin typeface="Cambria" pitchFamily="34" charset="0"/>
                <a:ea typeface="Cambria" pitchFamily="34" charset="-122"/>
                <a:cs typeface="Cambria" pitchFamily="34" charset="-120"/>
              </a:rPr>
              <a:t>What is one word in your organisation</a:t>
            </a:r>
            <a:endParaRPr lang="en-US" sz="3400" dirty="0"/>
          </a:p>
        </p:txBody>
      </p:sp>
      <p:sp>
        <p:nvSpPr>
          <p:cNvPr id="4" name="Text 2"/>
          <p:cNvSpPr txBox="1"/>
          <p:nvPr/>
        </p:nvSpPr>
        <p:spPr>
          <a:xfrm>
            <a:off x="822960" y="2432304"/>
            <a:ext cx="10515600" cy="713232"/>
          </a:xfrm>
          <a:prstGeom prst="rect">
            <a:avLst/>
          </a:prstGeom>
          <a:noFill/>
          <a:ln/>
        </p:spPr>
        <p:txBody>
          <a:bodyPr wrap="square" lIns="0" tIns="0" rIns="0" bIns="0" rtlCol="0" anchor="ctr"/>
          <a:lstStyle/>
          <a:p>
            <a:pPr indent="0" marL="0">
              <a:buNone/>
            </a:pPr>
            <a:r>
              <a:rPr lang="en-US" sz="3400" dirty="0">
                <a:solidFill>
                  <a:srgbClr val="EAE4DA"/>
                </a:solidFill>
                <a:latin typeface="Cambria" pitchFamily="34" charset="0"/>
                <a:ea typeface="Cambria" pitchFamily="34" charset="-122"/>
                <a:cs typeface="Cambria" pitchFamily="34" charset="-120"/>
              </a:rPr>
              <a:t>that means something different depending</a:t>
            </a:r>
            <a:endParaRPr lang="en-US" sz="3400" dirty="0"/>
          </a:p>
        </p:txBody>
      </p:sp>
      <p:sp>
        <p:nvSpPr>
          <p:cNvPr id="5" name="Text 3"/>
          <p:cNvSpPr txBox="1"/>
          <p:nvPr/>
        </p:nvSpPr>
        <p:spPr>
          <a:xfrm>
            <a:off x="822960" y="3108960"/>
            <a:ext cx="10515600" cy="749808"/>
          </a:xfrm>
          <a:prstGeom prst="rect">
            <a:avLst/>
          </a:prstGeom>
          <a:noFill/>
          <a:ln/>
        </p:spPr>
        <p:txBody>
          <a:bodyPr wrap="square" lIns="0" tIns="0" rIns="0" bIns="0" rtlCol="0" anchor="ctr"/>
          <a:lstStyle/>
          <a:p>
            <a:pPr indent="0" marL="0">
              <a:buNone/>
            </a:pPr>
            <a:r>
              <a:rPr lang="en-US" sz="3400" b="1" dirty="0">
                <a:solidFill>
                  <a:srgbClr val="C9A227"/>
                </a:solidFill>
                <a:latin typeface="Cambria" pitchFamily="34" charset="0"/>
                <a:ea typeface="Cambria" pitchFamily="34" charset="-122"/>
                <a:cs typeface="Cambria" pitchFamily="34" charset="-120"/>
              </a:rPr>
              <a:t>on which floor you are standing on?</a:t>
            </a:r>
            <a:endParaRPr lang="en-US" sz="3400" dirty="0"/>
          </a:p>
        </p:txBody>
      </p:sp>
      <p:sp>
        <p:nvSpPr>
          <p:cNvPr id="6" name="Shape 4"/>
          <p:cNvSpPr/>
          <p:nvPr/>
        </p:nvSpPr>
        <p:spPr>
          <a:xfrm>
            <a:off x="822960" y="4224528"/>
            <a:ext cx="2194560" cy="0"/>
          </a:xfrm>
          <a:prstGeom prst="line">
            <a:avLst/>
          </a:prstGeom>
          <a:noFill/>
          <a:ln w="19050">
            <a:solidFill>
              <a:srgbClr val="C9A227"/>
            </a:solidFill>
            <a:prstDash val="solid"/>
          </a:ln>
        </p:spPr>
      </p:sp>
      <p:sp>
        <p:nvSpPr>
          <p:cNvPr id="7" name="Text 5"/>
          <p:cNvSpPr txBox="1"/>
          <p:nvPr/>
        </p:nvSpPr>
        <p:spPr>
          <a:xfrm>
            <a:off x="822960" y="4434840"/>
            <a:ext cx="5486400" cy="457200"/>
          </a:xfrm>
          <a:prstGeom prst="rect">
            <a:avLst/>
          </a:prstGeom>
          <a:noFill/>
          <a:ln/>
        </p:spPr>
        <p:txBody>
          <a:bodyPr wrap="square" lIns="0" tIns="0" rIns="0" bIns="0" rtlCol="0" anchor="ctr"/>
          <a:lstStyle/>
          <a:p>
            <a:pPr indent="0" marL="0">
              <a:buNone/>
            </a:pPr>
            <a:r>
              <a:rPr lang="en-US" sz="2200" i="1" dirty="0">
                <a:solidFill>
                  <a:srgbClr val="EAE4DA"/>
                </a:solidFill>
                <a:latin typeface="Cambria" pitchFamily="34" charset="0"/>
                <a:ea typeface="Cambria" pitchFamily="34" charset="-122"/>
                <a:cs typeface="Cambria" pitchFamily="34" charset="-120"/>
              </a:rPr>
              <a:t>Ask it at lunch.</a:t>
            </a:r>
            <a:endParaRPr lang="en-US" sz="2200" dirty="0"/>
          </a:p>
        </p:txBody>
      </p:sp>
      <p:sp>
        <p:nvSpPr>
          <p:cNvPr id="8" name="Text 6"/>
          <p:cNvSpPr txBox="1"/>
          <p:nvPr/>
        </p:nvSpPr>
        <p:spPr>
          <a:xfrm>
            <a:off x="822960" y="4983480"/>
            <a:ext cx="7223760" cy="640080"/>
          </a:xfrm>
          <a:prstGeom prst="rect">
            <a:avLst/>
          </a:prstGeom>
          <a:noFill/>
          <a:ln/>
        </p:spPr>
        <p:txBody>
          <a:bodyPr wrap="square" lIns="0" tIns="0" rIns="0" bIns="0" rtlCol="0" anchor="ctr"/>
          <a:lstStyle/>
          <a:p>
            <a:pPr indent="0" marL="0">
              <a:lnSpc>
                <a:spcPts val="1900"/>
              </a:lnSpc>
              <a:buNone/>
            </a:pPr>
            <a:r>
              <a:rPr lang="en-US" sz="1350" dirty="0">
                <a:solidFill>
                  <a:srgbClr val="8A8378"/>
                </a:solidFill>
                <a:latin typeface="Calibri" pitchFamily="34" charset="0"/>
                <a:ea typeface="Calibri" pitchFamily="34" charset="-122"/>
                <a:cs typeface="Calibri" pitchFamily="34" charset="-120"/>
              </a:rPr>
              <a:t>You may discover that the answer tells you more about your governance</a:t>
            </a:r>
            <a:endParaRPr lang="en-US" sz="1350" dirty="0"/>
          </a:p>
          <a:p>
            <a:pPr indent="0" marL="0">
              <a:lnSpc>
                <a:spcPts val="1900"/>
              </a:lnSpc>
              <a:buNone/>
            </a:pPr>
            <a:r>
              <a:rPr lang="en-US" sz="1350" dirty="0">
                <a:solidFill>
                  <a:srgbClr val="8A8378"/>
                </a:solidFill>
                <a:latin typeface="Calibri" pitchFamily="34" charset="0"/>
                <a:ea typeface="Calibri" pitchFamily="34" charset="-122"/>
                <a:cs typeface="Calibri" pitchFamily="34" charset="-120"/>
              </a:rPr>
              <a:t>than another hundred-page framework ever could.</a:t>
            </a:r>
            <a:endParaRPr lang="en-US" sz="1350" dirty="0"/>
          </a:p>
        </p:txBody>
      </p:sp>
      <p:pic>
        <p:nvPicPr>
          <p:cNvPr id="9" name="Image 0" descr="/home/claude/assets/qr.png">    </p:cNvPr>
          <p:cNvPicPr>
            <a:picLocks noChangeAspect="1"/>
          </p:cNvPicPr>
          <p:nvPr/>
        </p:nvPicPr>
        <p:blipFill>
          <a:blip r:embed="rId2"/>
          <a:stretch>
            <a:fillRect/>
          </a:stretch>
        </p:blipFill>
        <p:spPr>
          <a:xfrm>
            <a:off x="9418320" y="4224528"/>
            <a:ext cx="1783080" cy="1783080"/>
          </a:xfrm>
          <a:prstGeom prst="rect">
            <a:avLst/>
          </a:prstGeom>
        </p:spPr>
      </p:pic>
      <p:sp>
        <p:nvSpPr>
          <p:cNvPr id="10" name="Text 7"/>
          <p:cNvSpPr txBox="1"/>
          <p:nvPr/>
        </p:nvSpPr>
        <p:spPr>
          <a:xfrm>
            <a:off x="8887968" y="6144768"/>
            <a:ext cx="2834640" cy="219456"/>
          </a:xfrm>
          <a:prstGeom prst="rect">
            <a:avLst/>
          </a:prstGeom>
          <a:noFill/>
          <a:ln/>
        </p:spPr>
        <p:txBody>
          <a:bodyPr wrap="square" lIns="0" tIns="0" rIns="0" bIns="0" rtlCol="0" anchor="ctr"/>
          <a:lstStyle/>
          <a:p>
            <a:pPr algn="ctr" indent="0" marL="0">
              <a:buNone/>
            </a:pPr>
            <a:r>
              <a:rPr lang="en-US" sz="900" spc="160" kern="0" dirty="0">
                <a:solidFill>
                  <a:srgbClr val="8A8378"/>
                </a:solidFill>
                <a:latin typeface="Courier New" pitchFamily="34" charset="0"/>
                <a:ea typeface="Courier New" pitchFamily="34" charset="-122"/>
                <a:cs typeface="Courier New" pitchFamily="34" charset="-120"/>
              </a:rPr>
              <a:t>SCAN TO ADD YOUR WORD</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22960" y="2697480"/>
            <a:ext cx="7315200" cy="822960"/>
          </a:xfrm>
          <a:prstGeom prst="rect">
            <a:avLst/>
          </a:prstGeom>
          <a:noFill/>
          <a:ln/>
        </p:spPr>
        <p:txBody>
          <a:bodyPr wrap="square" lIns="0" tIns="0" rIns="0" bIns="0" rtlCol="0" anchor="ctr"/>
          <a:lstStyle/>
          <a:p>
            <a:pPr indent="0" marL="0">
              <a:buNone/>
            </a:pPr>
            <a:r>
              <a:rPr lang="en-US" sz="4200" dirty="0">
                <a:solidFill>
                  <a:srgbClr val="EAE4DA"/>
                </a:solidFill>
                <a:latin typeface="Cambria" pitchFamily="34" charset="0"/>
                <a:ea typeface="Cambria" pitchFamily="34" charset="-122"/>
                <a:cs typeface="Cambria" pitchFamily="34" charset="-120"/>
              </a:rPr>
              <a:t>Thank you.</a:t>
            </a:r>
            <a:endParaRPr lang="en-US" sz="4200" dirty="0"/>
          </a:p>
        </p:txBody>
      </p:sp>
      <p:sp>
        <p:nvSpPr>
          <p:cNvPr id="3" name="Shape 1"/>
          <p:cNvSpPr/>
          <p:nvPr/>
        </p:nvSpPr>
        <p:spPr>
          <a:xfrm>
            <a:off x="822960" y="3913632"/>
            <a:ext cx="2926080" cy="0"/>
          </a:xfrm>
          <a:prstGeom prst="line">
            <a:avLst/>
          </a:prstGeom>
          <a:noFill/>
          <a:ln w="19050">
            <a:solidFill>
              <a:srgbClr val="C9A227"/>
            </a:solidFill>
            <a:prstDash val="solid"/>
          </a:ln>
        </p:spPr>
      </p:sp>
      <p:sp>
        <p:nvSpPr>
          <p:cNvPr id="4" name="Text 2"/>
          <p:cNvSpPr txBox="1"/>
          <p:nvPr/>
        </p:nvSpPr>
        <p:spPr>
          <a:xfrm>
            <a:off x="822960" y="4096512"/>
            <a:ext cx="6400800" cy="329184"/>
          </a:xfrm>
          <a:prstGeom prst="rect">
            <a:avLst/>
          </a:prstGeom>
          <a:noFill/>
          <a:ln/>
        </p:spPr>
        <p:txBody>
          <a:bodyPr wrap="square" lIns="0" tIns="0" rIns="0" bIns="0" rtlCol="0" anchor="ctr"/>
          <a:lstStyle/>
          <a:p>
            <a:pPr indent="0" marL="0">
              <a:buNone/>
            </a:pPr>
            <a:r>
              <a:rPr lang="en-US" sz="1500" b="1" spc="120" kern="0" dirty="0">
                <a:solidFill>
                  <a:srgbClr val="EAE4DA"/>
                </a:solidFill>
                <a:latin typeface="Calibri" pitchFamily="34" charset="0"/>
                <a:ea typeface="Calibri" pitchFamily="34" charset="-122"/>
                <a:cs typeface="Calibri" pitchFamily="34" charset="-120"/>
              </a:rPr>
              <a:t>EDUARDO SOPALDA</a:t>
            </a:r>
            <a:endParaRPr lang="en-US" sz="1500" dirty="0"/>
          </a:p>
        </p:txBody>
      </p:sp>
      <p:sp>
        <p:nvSpPr>
          <p:cNvPr id="5" name="Text 3"/>
          <p:cNvSpPr txBox="1"/>
          <p:nvPr/>
        </p:nvSpPr>
        <p:spPr>
          <a:xfrm>
            <a:off x="822960" y="4443984"/>
            <a:ext cx="6400800" cy="292608"/>
          </a:xfrm>
          <a:prstGeom prst="rect">
            <a:avLst/>
          </a:prstGeom>
          <a:noFill/>
          <a:ln/>
        </p:spPr>
        <p:txBody>
          <a:bodyPr wrap="square" lIns="0" tIns="0" rIns="0" bIns="0" rtlCol="0" anchor="ctr"/>
          <a:lstStyle/>
          <a:p>
            <a:pPr indent="0" marL="0">
              <a:buNone/>
            </a:pPr>
            <a:r>
              <a:rPr lang="en-US" sz="1250" dirty="0">
                <a:solidFill>
                  <a:srgbClr val="8A8378"/>
                </a:solidFill>
                <a:latin typeface="Calibri" pitchFamily="34" charset="0"/>
                <a:ea typeface="Calibri" pitchFamily="34" charset="-122"/>
                <a:cs typeface="Calibri" pitchFamily="34" charset="-120"/>
              </a:rPr>
              <a:t>Global D&amp;T  ·  Data &amp; AI Governance Expert  ·  dsm-firmenich</a:t>
            </a:r>
            <a:endParaRPr lang="en-US" sz="1250" dirty="0"/>
          </a:p>
        </p:txBody>
      </p:sp>
      <p:sp>
        <p:nvSpPr>
          <p:cNvPr id="6" name="Text 4"/>
          <p:cNvSpPr txBox="1"/>
          <p:nvPr/>
        </p:nvSpPr>
        <p:spPr>
          <a:xfrm>
            <a:off x="822960" y="4754880"/>
            <a:ext cx="6400800" cy="292608"/>
          </a:xfrm>
          <a:prstGeom prst="rect">
            <a:avLst/>
          </a:prstGeom>
          <a:noFill/>
          <a:ln/>
        </p:spPr>
        <p:txBody>
          <a:bodyPr wrap="square" lIns="0" tIns="0" rIns="0" bIns="0" rtlCol="0" anchor="ctr"/>
          <a:lstStyle/>
          <a:p>
            <a:pPr indent="0" marL="0">
              <a:buNone/>
            </a:pPr>
            <a:r>
              <a:rPr lang="en-US" sz="1100" spc="120" kern="0" dirty="0">
                <a:solidFill>
                  <a:srgbClr val="C9A227"/>
                </a:solidFill>
                <a:latin typeface="Courier New" pitchFamily="34" charset="0"/>
                <a:ea typeface="Courier New" pitchFamily="34" charset="-122"/>
                <a:cs typeface="Courier New" pitchFamily="34" charset="-120"/>
              </a:rPr>
              <a:t>eduardosopalda.com</a:t>
            </a:r>
            <a:endParaRPr lang="en-US" sz="1100" dirty="0"/>
          </a:p>
        </p:txBody>
      </p:sp>
      <p:sp>
        <p:nvSpPr>
          <p:cNvPr id="7" name="Shape 5"/>
          <p:cNvSpPr/>
          <p:nvPr/>
        </p:nvSpPr>
        <p:spPr>
          <a:xfrm>
            <a:off x="9357055" y="2167128"/>
            <a:ext cx="0" cy="2523744"/>
          </a:xfrm>
          <a:prstGeom prst="line">
            <a:avLst/>
          </a:prstGeom>
          <a:noFill/>
          <a:ln w="6350">
            <a:solidFill>
              <a:srgbClr val="1E1B17"/>
            </a:solidFill>
            <a:prstDash val="solid"/>
          </a:ln>
        </p:spPr>
      </p:sp>
      <p:sp>
        <p:nvSpPr>
          <p:cNvPr id="8" name="Shape 6"/>
          <p:cNvSpPr/>
          <p:nvPr/>
        </p:nvSpPr>
        <p:spPr>
          <a:xfrm>
            <a:off x="7253935" y="3328050"/>
            <a:ext cx="4206240" cy="0"/>
          </a:xfrm>
          <a:prstGeom prst="line">
            <a:avLst/>
          </a:prstGeom>
          <a:noFill/>
          <a:ln w="6350">
            <a:solidFill>
              <a:srgbClr val="1E1B17"/>
            </a:solidFill>
            <a:prstDash val="solid"/>
          </a:ln>
        </p:spPr>
      </p:sp>
      <p:sp>
        <p:nvSpPr>
          <p:cNvPr id="9" name="Shape 7"/>
          <p:cNvSpPr/>
          <p:nvPr/>
        </p:nvSpPr>
        <p:spPr>
          <a:xfrm>
            <a:off x="8877544" y="2899014"/>
            <a:ext cx="218724" cy="315468"/>
          </a:xfrm>
          <a:prstGeom prst="rect">
            <a:avLst/>
          </a:prstGeom>
          <a:ln w="6350">
            <a:solidFill>
              <a:srgbClr val="1E1B17"/>
            </a:solidFill>
            <a:prstDash val="solid"/>
          </a:ln>
        </p:spPr>
      </p:sp>
      <p:sp>
        <p:nvSpPr>
          <p:cNvPr id="10" name="Shape 8"/>
          <p:cNvSpPr/>
          <p:nvPr/>
        </p:nvSpPr>
        <p:spPr>
          <a:xfrm>
            <a:off x="8877544" y="3441619"/>
            <a:ext cx="218724" cy="315468"/>
          </a:xfrm>
          <a:prstGeom prst="rect">
            <a:avLst/>
          </a:prstGeom>
          <a:ln w="6350">
            <a:solidFill>
              <a:srgbClr val="1E1B17"/>
            </a:solidFill>
            <a:prstDash val="solid"/>
          </a:ln>
        </p:spPr>
      </p:sp>
      <p:sp>
        <p:nvSpPr>
          <p:cNvPr id="11" name="Shape 9"/>
          <p:cNvSpPr/>
          <p:nvPr/>
        </p:nvSpPr>
        <p:spPr>
          <a:xfrm>
            <a:off x="9617842" y="2899014"/>
            <a:ext cx="218724" cy="315468"/>
          </a:xfrm>
          <a:prstGeom prst="rect">
            <a:avLst/>
          </a:prstGeom>
          <a:ln w="6350">
            <a:solidFill>
              <a:srgbClr val="1E1B17"/>
            </a:solidFill>
            <a:prstDash val="solid"/>
          </a:ln>
        </p:spPr>
      </p:sp>
      <p:sp>
        <p:nvSpPr>
          <p:cNvPr id="12" name="Shape 10"/>
          <p:cNvSpPr/>
          <p:nvPr/>
        </p:nvSpPr>
        <p:spPr>
          <a:xfrm>
            <a:off x="9617842" y="3441619"/>
            <a:ext cx="218724" cy="315468"/>
          </a:xfrm>
          <a:prstGeom prst="rect">
            <a:avLst/>
          </a:prstGeom>
          <a:ln w="6350">
            <a:solidFill>
              <a:srgbClr val="1E1B17"/>
            </a:solidFill>
            <a:prstDash val="solid"/>
          </a:ln>
        </p:spPr>
      </p:sp>
      <p:sp>
        <p:nvSpPr>
          <p:cNvPr id="13" name="Shape 11"/>
          <p:cNvSpPr/>
          <p:nvPr/>
        </p:nvSpPr>
        <p:spPr>
          <a:xfrm>
            <a:off x="8507395" y="2899014"/>
            <a:ext cx="218724" cy="315468"/>
          </a:xfrm>
          <a:prstGeom prst="rect">
            <a:avLst/>
          </a:prstGeom>
          <a:ln w="6350">
            <a:solidFill>
              <a:srgbClr val="1E1B17"/>
            </a:solidFill>
            <a:prstDash val="solid"/>
          </a:ln>
        </p:spPr>
      </p:sp>
      <p:sp>
        <p:nvSpPr>
          <p:cNvPr id="14" name="Shape 12"/>
          <p:cNvSpPr/>
          <p:nvPr/>
        </p:nvSpPr>
        <p:spPr>
          <a:xfrm>
            <a:off x="8507395" y="3441619"/>
            <a:ext cx="218724" cy="315468"/>
          </a:xfrm>
          <a:prstGeom prst="rect">
            <a:avLst/>
          </a:prstGeom>
          <a:ln w="6350">
            <a:solidFill>
              <a:srgbClr val="1E1B17"/>
            </a:solidFill>
            <a:prstDash val="solid"/>
          </a:ln>
        </p:spPr>
      </p:sp>
      <p:sp>
        <p:nvSpPr>
          <p:cNvPr id="15" name="Shape 13"/>
          <p:cNvSpPr/>
          <p:nvPr/>
        </p:nvSpPr>
        <p:spPr>
          <a:xfrm>
            <a:off x="9987991" y="2899014"/>
            <a:ext cx="218724" cy="315468"/>
          </a:xfrm>
          <a:prstGeom prst="rect">
            <a:avLst/>
          </a:prstGeom>
          <a:ln w="6350">
            <a:solidFill>
              <a:srgbClr val="1E1B17"/>
            </a:solidFill>
            <a:prstDash val="solid"/>
          </a:ln>
        </p:spPr>
      </p:sp>
      <p:sp>
        <p:nvSpPr>
          <p:cNvPr id="16" name="Shape 14"/>
          <p:cNvSpPr/>
          <p:nvPr/>
        </p:nvSpPr>
        <p:spPr>
          <a:xfrm>
            <a:off x="9987991" y="3441619"/>
            <a:ext cx="218724" cy="315468"/>
          </a:xfrm>
          <a:prstGeom prst="rect">
            <a:avLst/>
          </a:prstGeom>
          <a:ln w="6350">
            <a:solidFill>
              <a:srgbClr val="1E1B17"/>
            </a:solidFill>
            <a:prstDash val="solid"/>
          </a:ln>
        </p:spPr>
      </p:sp>
      <p:sp>
        <p:nvSpPr>
          <p:cNvPr id="17" name="Shape 15"/>
          <p:cNvSpPr/>
          <p:nvPr/>
        </p:nvSpPr>
        <p:spPr>
          <a:xfrm>
            <a:off x="8137246" y="2899014"/>
            <a:ext cx="218724" cy="315468"/>
          </a:xfrm>
          <a:prstGeom prst="rect">
            <a:avLst/>
          </a:prstGeom>
          <a:ln w="6350">
            <a:solidFill>
              <a:srgbClr val="1E1B17"/>
            </a:solidFill>
            <a:prstDash val="solid"/>
          </a:ln>
        </p:spPr>
      </p:sp>
      <p:sp>
        <p:nvSpPr>
          <p:cNvPr id="18" name="Shape 16"/>
          <p:cNvSpPr/>
          <p:nvPr/>
        </p:nvSpPr>
        <p:spPr>
          <a:xfrm>
            <a:off x="8137246" y="3441619"/>
            <a:ext cx="218724" cy="315468"/>
          </a:xfrm>
          <a:prstGeom prst="rect">
            <a:avLst/>
          </a:prstGeom>
          <a:ln w="6350">
            <a:solidFill>
              <a:srgbClr val="1E1B17"/>
            </a:solidFill>
            <a:prstDash val="solid"/>
          </a:ln>
        </p:spPr>
      </p:sp>
      <p:sp>
        <p:nvSpPr>
          <p:cNvPr id="19" name="Shape 17"/>
          <p:cNvSpPr/>
          <p:nvPr/>
        </p:nvSpPr>
        <p:spPr>
          <a:xfrm>
            <a:off x="10358140" y="2899014"/>
            <a:ext cx="218724" cy="315468"/>
          </a:xfrm>
          <a:prstGeom prst="rect">
            <a:avLst/>
          </a:prstGeom>
          <a:ln w="6350">
            <a:solidFill>
              <a:srgbClr val="1E1B17"/>
            </a:solidFill>
            <a:prstDash val="solid"/>
          </a:ln>
        </p:spPr>
      </p:sp>
      <p:sp>
        <p:nvSpPr>
          <p:cNvPr id="20" name="Shape 18"/>
          <p:cNvSpPr/>
          <p:nvPr/>
        </p:nvSpPr>
        <p:spPr>
          <a:xfrm>
            <a:off x="10358140" y="3441619"/>
            <a:ext cx="218724" cy="315468"/>
          </a:xfrm>
          <a:prstGeom prst="rect">
            <a:avLst/>
          </a:prstGeom>
          <a:ln w="6350">
            <a:solidFill>
              <a:srgbClr val="1E1B17"/>
            </a:solidFill>
            <a:prstDash val="solid"/>
          </a:ln>
        </p:spPr>
      </p:sp>
      <p:sp>
        <p:nvSpPr>
          <p:cNvPr id="21" name="Shape 19"/>
          <p:cNvSpPr/>
          <p:nvPr/>
        </p:nvSpPr>
        <p:spPr>
          <a:xfrm>
            <a:off x="7767096" y="2899014"/>
            <a:ext cx="218724" cy="315468"/>
          </a:xfrm>
          <a:prstGeom prst="rect">
            <a:avLst/>
          </a:prstGeom>
          <a:ln w="6350">
            <a:solidFill>
              <a:srgbClr val="1E1B17"/>
            </a:solidFill>
            <a:prstDash val="solid"/>
          </a:ln>
        </p:spPr>
      </p:sp>
      <p:sp>
        <p:nvSpPr>
          <p:cNvPr id="22" name="Shape 20"/>
          <p:cNvSpPr/>
          <p:nvPr/>
        </p:nvSpPr>
        <p:spPr>
          <a:xfrm>
            <a:off x="7767096" y="3441619"/>
            <a:ext cx="218724" cy="315468"/>
          </a:xfrm>
          <a:prstGeom prst="rect">
            <a:avLst/>
          </a:prstGeom>
          <a:ln w="6350">
            <a:solidFill>
              <a:srgbClr val="1E1B17"/>
            </a:solidFill>
            <a:prstDash val="solid"/>
          </a:ln>
        </p:spPr>
      </p:sp>
      <p:sp>
        <p:nvSpPr>
          <p:cNvPr id="23" name="Shape 21"/>
          <p:cNvSpPr/>
          <p:nvPr/>
        </p:nvSpPr>
        <p:spPr>
          <a:xfrm>
            <a:off x="10728289" y="2899014"/>
            <a:ext cx="218724" cy="315468"/>
          </a:xfrm>
          <a:prstGeom prst="rect">
            <a:avLst/>
          </a:prstGeom>
          <a:ln w="6350">
            <a:solidFill>
              <a:srgbClr val="1E1B17"/>
            </a:solidFill>
            <a:prstDash val="solid"/>
          </a:ln>
        </p:spPr>
      </p:sp>
      <p:sp>
        <p:nvSpPr>
          <p:cNvPr id="24" name="Shape 22"/>
          <p:cNvSpPr/>
          <p:nvPr/>
        </p:nvSpPr>
        <p:spPr>
          <a:xfrm>
            <a:off x="10728289" y="3441619"/>
            <a:ext cx="218724" cy="315468"/>
          </a:xfrm>
          <a:prstGeom prst="rect">
            <a:avLst/>
          </a:prstGeom>
          <a:ln w="6350">
            <a:solidFill>
              <a:srgbClr val="1E1B17"/>
            </a:solidFill>
            <a:prstDash val="solid"/>
          </a:ln>
        </p:spPr>
      </p:sp>
      <p:sp>
        <p:nvSpPr>
          <p:cNvPr id="25" name="Shape 23"/>
          <p:cNvSpPr/>
          <p:nvPr/>
        </p:nvSpPr>
        <p:spPr>
          <a:xfrm>
            <a:off x="7396947" y="2899014"/>
            <a:ext cx="218724" cy="315468"/>
          </a:xfrm>
          <a:prstGeom prst="rect">
            <a:avLst/>
          </a:prstGeom>
          <a:ln w="6350">
            <a:solidFill>
              <a:srgbClr val="1E1B17"/>
            </a:solidFill>
            <a:prstDash val="solid"/>
          </a:ln>
        </p:spPr>
      </p:sp>
      <p:sp>
        <p:nvSpPr>
          <p:cNvPr id="26" name="Shape 24"/>
          <p:cNvSpPr/>
          <p:nvPr/>
        </p:nvSpPr>
        <p:spPr>
          <a:xfrm>
            <a:off x="7396947" y="3441619"/>
            <a:ext cx="218724" cy="315468"/>
          </a:xfrm>
          <a:prstGeom prst="rect">
            <a:avLst/>
          </a:prstGeom>
          <a:ln w="6350">
            <a:solidFill>
              <a:srgbClr val="1E1B17"/>
            </a:solidFill>
            <a:prstDash val="solid"/>
          </a:ln>
        </p:spPr>
      </p:sp>
      <p:sp>
        <p:nvSpPr>
          <p:cNvPr id="27" name="Shape 25"/>
          <p:cNvSpPr/>
          <p:nvPr/>
        </p:nvSpPr>
        <p:spPr>
          <a:xfrm>
            <a:off x="11098439" y="2899014"/>
            <a:ext cx="218724" cy="315468"/>
          </a:xfrm>
          <a:prstGeom prst="rect">
            <a:avLst/>
          </a:prstGeom>
          <a:ln w="6350">
            <a:solidFill>
              <a:srgbClr val="1E1B17"/>
            </a:solidFill>
            <a:prstDash val="solid"/>
          </a:ln>
        </p:spPr>
      </p:sp>
      <p:sp>
        <p:nvSpPr>
          <p:cNvPr id="28" name="Shape 26"/>
          <p:cNvSpPr/>
          <p:nvPr/>
        </p:nvSpPr>
        <p:spPr>
          <a:xfrm>
            <a:off x="11098439" y="3441619"/>
            <a:ext cx="218724" cy="315468"/>
          </a:xfrm>
          <a:prstGeom prst="rect">
            <a:avLst/>
          </a:prstGeom>
          <a:ln w="6350">
            <a:solidFill>
              <a:srgbClr val="1E1B17"/>
            </a:solidFill>
            <a:prstDash val="solid"/>
          </a:ln>
        </p:spPr>
      </p:sp>
      <p:sp>
        <p:nvSpPr>
          <p:cNvPr id="29" name="Shape 27"/>
          <p:cNvSpPr/>
          <p:nvPr/>
        </p:nvSpPr>
        <p:spPr>
          <a:xfrm>
            <a:off x="8810244" y="4034699"/>
            <a:ext cx="1093622" cy="75712"/>
          </a:xfrm>
          <a:prstGeom prst="rect">
            <a:avLst/>
          </a:prstGeom>
          <a:ln w="6350">
            <a:solidFill>
              <a:srgbClr val="1E1B17"/>
            </a:solidFill>
            <a:prstDash val="solid"/>
          </a:ln>
        </p:spPr>
      </p:sp>
      <p:sp>
        <p:nvSpPr>
          <p:cNvPr id="30" name="Shape 28"/>
          <p:cNvSpPr/>
          <p:nvPr/>
        </p:nvSpPr>
        <p:spPr>
          <a:xfrm>
            <a:off x="8810244" y="4223979"/>
            <a:ext cx="1093622" cy="75712"/>
          </a:xfrm>
          <a:prstGeom prst="rect">
            <a:avLst/>
          </a:prstGeom>
          <a:ln w="6350">
            <a:solidFill>
              <a:srgbClr val="1E1B17"/>
            </a:solidFill>
            <a:prstDash val="solid"/>
          </a:ln>
        </p:spPr>
      </p:sp>
      <p:sp>
        <p:nvSpPr>
          <p:cNvPr id="31" name="Shape 29"/>
          <p:cNvSpPr/>
          <p:nvPr/>
        </p:nvSpPr>
        <p:spPr>
          <a:xfrm>
            <a:off x="8810244" y="4413260"/>
            <a:ext cx="1093622" cy="75712"/>
          </a:xfrm>
          <a:prstGeom prst="rect">
            <a:avLst/>
          </a:prstGeom>
          <a:ln w="6350">
            <a:solidFill>
              <a:srgbClr val="1E1B17"/>
            </a:solidFill>
            <a:prstDash val="solid"/>
          </a:ln>
        </p:spPr>
      </p:sp>
      <p:sp>
        <p:nvSpPr>
          <p:cNvPr id="32" name="Shape 30"/>
          <p:cNvSpPr/>
          <p:nvPr/>
        </p:nvSpPr>
        <p:spPr>
          <a:xfrm>
            <a:off x="9062618" y="2167128"/>
            <a:ext cx="588874" cy="429036"/>
          </a:xfrm>
          <a:prstGeom prst="rect">
            <a:avLst/>
          </a:prstGeom>
          <a:ln w="6350">
            <a:solidFill>
              <a:srgbClr val="1E1B17"/>
            </a:solidFill>
            <a:prstDash val="solid"/>
          </a:ln>
        </p:spPr>
      </p:sp>
      <p:sp>
        <p:nvSpPr>
          <p:cNvPr id="33" name="Shape 31"/>
          <p:cNvSpPr/>
          <p:nvPr/>
        </p:nvSpPr>
        <p:spPr>
          <a:xfrm>
            <a:off x="9315907" y="4800600"/>
            <a:ext cx="82296" cy="82296"/>
          </a:xfrm>
          <a:prstGeom prst="ellipse">
            <a:avLst/>
          </a:prstGeom>
          <a:solidFill>
            <a:srgbClr val="7E6716"/>
          </a:solidFill>
          <a:ln/>
        </p:spPr>
      </p:sp>
      <p:sp>
        <p:nvSpPr>
          <p:cNvPr id="34" name="Shape 32"/>
          <p:cNvSpPr/>
          <p:nvPr/>
        </p:nvSpPr>
        <p:spPr>
          <a:xfrm>
            <a:off x="9325783" y="4897709"/>
            <a:ext cx="62545" cy="177211"/>
          </a:xfrm>
          <a:prstGeom prst="rect">
            <a:avLst/>
          </a:prstGeom>
          <a:solidFill>
            <a:srgbClr val="7E6716"/>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From Brasilia to the Plant Floor</dc:title>
  <dc:subject>AUTOMA Chem 2026, Berlin</dc:subject>
  <dc:creator>Eduardo Sopalda</dc:creator>
  <cp:lastModifiedBy>Eduardo Sopalda</cp:lastModifiedBy>
  <cp:revision>1</cp:revision>
  <dcterms:created xsi:type="dcterms:W3CDTF">2026-09-21T12:09:01Z</dcterms:created>
  <dcterms:modified xsi:type="dcterms:W3CDTF">2026-09-21T12:09:01Z</dcterms:modified>
</cp:coreProperties>
</file>